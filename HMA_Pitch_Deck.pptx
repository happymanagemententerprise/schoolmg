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E715E"/>
                </a:solidFill>
                <a:latin typeface="Segoe UI"/>
              </a:rPr>
              <a:t>School Management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1091153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HMA School</a:t>
            </a:r>
          </a:p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34840"/>
            <a:ext cx="1463040" cy="41148"/>
          </a:xfrm>
          <a:prstGeom prst="rect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617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C9CED7"/>
                </a:solidFill>
                <a:latin typeface="Segoe UI"/>
              </a:rPr>
              <a:t>Run your whole school from one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349240"/>
            <a:ext cx="3429000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ED7"/>
                </a:solidFill>
                <a:latin typeface="Segoe UI"/>
              </a:rPr>
              <a:t>Admissions →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5349240"/>
            <a:ext cx="3575304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ED7"/>
                </a:solidFill>
                <a:latin typeface="Segoe UI"/>
              </a:rPr>
              <a:t>Six connected portals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3" y="5349240"/>
            <a:ext cx="3721608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ED7"/>
                </a:solidFill>
                <a:latin typeface="Segoe UI"/>
              </a:rPr>
              <a:t>Works online &amp; offline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51792" y="5349240"/>
            <a:ext cx="2404872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ED7"/>
                </a:solidFill>
                <a:latin typeface="Segoe UI"/>
              </a:rPr>
              <a:t>Cloud-secured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19C"/>
                </a:solidFill>
                <a:latin typeface="Segoe UI"/>
              </a:rPr>
              <a:t>HMA School Management System —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E715E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Running a school shouldn't</a:t>
            </a:r>
          </a:p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run you ragged.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14600"/>
            <a:ext cx="5272887" cy="192024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E715E"/>
                </a:solidFill>
                <a:latin typeface="Segoe UI"/>
              </a:rPr>
              <a:t>Fragmented records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C9CED7"/>
                </a:solidFill>
                <a:latin typeface="Segoe UI"/>
              </a:rPr>
              <a:t>Registers, spreadsheets and WhatsApp groups that never match.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727" y="2514600"/>
            <a:ext cx="5272887" cy="192024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E715E"/>
                </a:solidFill>
                <a:latin typeface="Segoe UI"/>
              </a:rPr>
              <a:t>Slow report cards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C9CED7"/>
                </a:solidFill>
                <a:latin typeface="Segoe UI"/>
              </a:rPr>
              <a:t>Compiled by hand — error-prone and always late.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63440"/>
            <a:ext cx="5272887" cy="192024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E715E"/>
                </a:solidFill>
                <a:latin typeface="Segoe UI"/>
              </a:rPr>
              <a:t>Guesswork promotions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C9CED7"/>
                </a:solidFill>
                <a:latin typeface="Segoe UI"/>
              </a:rPr>
              <a:t>Decisions made on gut feel, not your own stated rule.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4663440"/>
            <a:ext cx="5272887" cy="192024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E715E"/>
                </a:solidFill>
                <a:latin typeface="Segoe UI"/>
              </a:rPr>
              <a:t>Parents in the dark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C9CED7"/>
                </a:solidFill>
                <a:latin typeface="Segoe UI"/>
              </a:rPr>
              <a:t>Endless phone calls and eroding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19C"/>
                </a:solidFill>
                <a:latin typeface="Segoe UI"/>
              </a:rPr>
              <a:t>HMA School Management System — Pitch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E715E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One connected platform.</a:t>
            </a:r>
          </a:p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Six roles. Zero double-entry.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2852928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743200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Enter a mark once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It flows to reports, rankings and parent view.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3511296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401568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Every role gets a dashboard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Built for their job — admin to parent.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4169663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4059935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Works online, keeps working offline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Graceful if the database is unreachable.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4828032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4718304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Cloud-secured, leadership in control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Approvals, publishing and audit.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19C"/>
                </a:solidFill>
                <a:latin typeface="Segoe UI"/>
              </a:rPr>
              <a:t>HMA School Management System — Pitch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E715E"/>
                </a:solidFill>
                <a:latin typeface="Segoe UI"/>
              </a:rPr>
              <a:t>Why it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Headline features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2624328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514600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Every role, one system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Admin, teachers, HOD, students and parents.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3282696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172968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Report cards that write themselves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CA + exams → averages, grades, positions.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3941063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831335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A real promotion engine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Your exact rule, applied automatically.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4599432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4489704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Parents in the loop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Results, attendance, timetable and mentor contact.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257800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5148072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Secure and reliable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Cloud-hosted, row-level security, offline-ready.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19C"/>
                </a:solidFill>
                <a:latin typeface="Segoe UI"/>
              </a:rPr>
              <a:t>HMA School Management System — Pitch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E715E"/>
                </a:solidFill>
                <a:latin typeface="Segoe UI"/>
              </a:rPr>
              <a:t>Administrative &amp; Financial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Save staff hours. Protect your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14600"/>
            <a:ext cx="3423818" cy="164592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26EDB"/>
                </a:solidFill>
                <a:latin typeface="Segoe UI"/>
              </a:rPr>
              <a:t>Session &amp; term control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C9CED7"/>
                </a:solidFill>
                <a:latin typeface="Segoe UI"/>
              </a:rPr>
              <a:t>Open, close, reopen; archived safely.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3938" y="2514600"/>
            <a:ext cx="3423818" cy="164592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26EDB"/>
                </a:solidFill>
                <a:latin typeface="Segoe UI"/>
              </a:rPr>
              <a:t>Results release gate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C9CED7"/>
                </a:solidFill>
                <a:latin typeface="Segoe UI"/>
              </a:rPr>
              <a:t>Nothing publishes until every score is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796" y="2514600"/>
            <a:ext cx="3423818" cy="164592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26EDB"/>
                </a:solidFill>
                <a:latin typeface="Segoe UI"/>
              </a:rPr>
              <a:t>Approval workflow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C9CED7"/>
                </a:solidFill>
                <a:latin typeface="Segoe UI"/>
              </a:rPr>
              <a:t>Sensitive actions need admin sign-off + password.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89120"/>
            <a:ext cx="3423818" cy="164592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8A879"/>
                </a:solidFill>
                <a:latin typeface="Segoe UI"/>
              </a:rPr>
              <a:t>Account control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C9CED7"/>
                </a:solidFill>
                <a:latin typeface="Segoe UI"/>
              </a:rPr>
              <a:t>Admissions, transfers, repeats; archived accounts blocked.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3938" y="4389120"/>
            <a:ext cx="3423818" cy="164592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8A879"/>
                </a:solidFill>
                <a:latin typeface="Segoe UI"/>
              </a:rPr>
              <a:t>Attendance oversight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C9CED7"/>
                </a:solidFill>
                <a:latin typeface="Segoe UI"/>
              </a:rPr>
              <a:t>Daily registers + monthly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796" y="4389120"/>
            <a:ext cx="3423818" cy="164592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8A879"/>
                </a:solidFill>
                <a:latin typeface="Segoe UI"/>
              </a:rPr>
              <a:t>Leadership visibility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C9CED7"/>
                </a:solidFill>
                <a:latin typeface="Segoe UI"/>
              </a:rPr>
              <a:t>Coverage tracking, analytics, leaderboard.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19C"/>
                </a:solidFill>
                <a:latin typeface="Segoe UI"/>
              </a:rPr>
              <a:t>HMA School Management System — Pitch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E715E"/>
                </a:solidFill>
                <a:latin typeface="Segoe UI"/>
              </a:rPr>
              <a:t>Academic &amp; Report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From first CA entry to end-of-session promotion.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2670048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560320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Continuous Assessment (40) + Exams (60) → instant totals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3328415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218687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Class register, class reports, mid-term reports with Excel export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3986784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877056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Automatic class and year positions + schoolwide leaderboard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4645152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4535424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Term remarks with approval — only approved remarks reach the report card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303520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5193792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Printable report cards and Student Achievement Passports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19C"/>
                </a:solidFill>
                <a:latin typeface="Segoe UI"/>
              </a:rPr>
              <a:t>HMA School Management System — Pitch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E715E"/>
                </a:solidFill>
                <a:latin typeface="Segoe UI"/>
              </a:rPr>
              <a:t>User Portals ·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Tools that match the job.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3423818" cy="201168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E715E"/>
                </a:solidFill>
                <a:latin typeface="Segoe UI"/>
              </a:rPr>
              <a:t>Administrator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C9CED7"/>
                </a:solidFill>
                <a:latin typeface="Segoe UI"/>
              </a:rPr>
              <a:t>People, classes, subjects, timetable, analytics, progression &amp; setup.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3938" y="2651760"/>
            <a:ext cx="3423818" cy="201168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526EDB"/>
                </a:solidFill>
                <a:latin typeface="Segoe UI"/>
              </a:rPr>
              <a:t>Teachers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C9CED7"/>
                </a:solidFill>
                <a:latin typeface="Segoe UI"/>
              </a:rPr>
              <a:t>Score entry, registers, attendance, feedback, lessons, auto-graded quizzes, discussions, mentees.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796" y="2651760"/>
            <a:ext cx="3423818" cy="201168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48A879"/>
                </a:solidFill>
                <a:latin typeface="Segoe UI"/>
              </a:rPr>
              <a:t>HOD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C9CED7"/>
                </a:solidFill>
                <a:latin typeface="Segoe UI"/>
              </a:rPr>
              <a:t>Department dashboard, reports and teacher-subject assignment.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919C"/>
                </a:solidFill>
                <a:latin typeface="Segoe UI"/>
              </a:rPr>
              <a:t>Less admin for teachers means more teaching.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19C"/>
                </a:solidFill>
                <a:latin typeface="Segoe UI"/>
              </a:rPr>
              <a:t>HMA School Management System — Pitch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E715E"/>
                </a:solidFill>
                <a:latin typeface="Segoe UI"/>
              </a:rPr>
              <a:t>User Portals ·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Engagement that builds trust.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5272887" cy="182880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E715E"/>
                </a:solidFill>
                <a:latin typeface="Segoe UI"/>
              </a:rPr>
              <a:t>Students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C9CED7"/>
                </a:solidFill>
                <a:latin typeface="Segoe UI"/>
              </a:rPr>
              <a:t>Results, pathway choices, lessons, quizzes, discussions, attendance, assignments, timetable and progress badges.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727" y="2651760"/>
            <a:ext cx="5272887" cy="182880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4C84E"/>
                </a:solidFill>
                <a:latin typeface="Segoe UI"/>
              </a:rPr>
              <a:t>Parents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C9CED7"/>
                </a:solidFill>
                <a:latin typeface="Segoe UI"/>
              </a:rPr>
              <a:t>Each child's published results, attendance (weekly &amp; monthly), assignments, timetable and mentor contact.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919C"/>
                </a:solidFill>
                <a:latin typeface="Segoe UI"/>
              </a:rPr>
              <a:t>Controlled by design — families only ever see </a:t>
            </a:r>
            <a:r>
              <a:rPr sz="1300" b="1">
                <a:solidFill>
                  <a:srgbClr val="FFFFFF"/>
                </a:solidFill>
                <a:latin typeface="Segoe UI"/>
              </a:rPr>
              <a:t>published</a:t>
            </a:r>
            <a:r>
              <a:rPr sz="1300" b="0">
                <a:solidFill>
                  <a:srgbClr val="8A919C"/>
                </a:solidFill>
                <a:latin typeface="Segoe UI"/>
              </a:rPr>
              <a:t>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19C"/>
                </a:solidFill>
                <a:latin typeface="Segoe UI"/>
              </a:rPr>
              <a:t>HMA School Management System — Pitch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E715E"/>
                </a:solidFill>
                <a:latin typeface="Segoe UI"/>
              </a:rPr>
              <a:t>Technical 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Modern, secure, easy to 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5272887" cy="141732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E715E"/>
                </a:solidFill>
                <a:latin typeface="Segoe UI"/>
              </a:rPr>
              <a:t>Works offline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C9CED7"/>
                </a:solidFill>
                <a:latin typeface="Segoe UI"/>
              </a:rPr>
              <a:t>Bundled demo school and local mirror; degrades gracefully.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727" y="2651760"/>
            <a:ext cx="5272887" cy="141732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526EDB"/>
                </a:solidFill>
                <a:latin typeface="Segoe UI"/>
              </a:rPr>
              <a:t>Enterprise-grade security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C9CED7"/>
                </a:solidFill>
                <a:latin typeface="Segoe UI"/>
              </a:rPr>
              <a:t>Supabase Auth + Row-Level Security; no password hashes in the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97680"/>
            <a:ext cx="5272887" cy="141732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48A879"/>
                </a:solidFill>
                <a:latin typeface="Segoe UI"/>
              </a:rPr>
              <a:t>Ease of use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C9CED7"/>
                </a:solidFill>
                <a:latin typeface="Segoe UI"/>
              </a:rPr>
              <a:t>One-click role logins, responsive, role-tailored navigation.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4297680"/>
            <a:ext cx="5272887" cy="1417320"/>
          </a:xfrm>
          <a:prstGeom prst="roundRect">
            <a:avLst>
              <a:gd name="adj" fmla="val 55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4C84E"/>
                </a:solidFill>
                <a:latin typeface="Segoe UI"/>
              </a:rPr>
              <a:t>Fast, maintainable stack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C9CED7"/>
                </a:solidFill>
                <a:latin typeface="Segoe UI"/>
              </a:rPr>
              <a:t>Vite + React + Supabase (PostgreSQL); print-friendly.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919C"/>
                </a:solidFill>
                <a:latin typeface="Segoe UI"/>
              </a:rPr>
              <a:t>Server-side verification for every sensitive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19C"/>
                </a:solidFill>
                <a:latin typeface="Segoe UI"/>
              </a:rPr>
              <a:t>HMA School Management System — Pitch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E715E"/>
                </a:solidFill>
                <a:latin typeface="Segoe UI"/>
              </a:rPr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A complete, working system — not a mock-up.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834640"/>
            <a:ext cx="1999427" cy="1554480"/>
          </a:xfrm>
          <a:prstGeom prst="roundRect">
            <a:avLst>
              <a:gd name="adj" fmla="val 70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6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ED7"/>
                </a:solidFill>
                <a:latin typeface="Segoe UI"/>
              </a:rPr>
              <a:t>user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68107" y="2834640"/>
            <a:ext cx="1999427" cy="1554480"/>
          </a:xfrm>
          <a:prstGeom prst="roundRect">
            <a:avLst>
              <a:gd name="adj" fmla="val 70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54+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ED7"/>
                </a:solidFill>
                <a:latin typeface="Segoe UI"/>
              </a:rPr>
              <a:t>purpose-built screens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96134" y="2834640"/>
            <a:ext cx="1999427" cy="1554480"/>
          </a:xfrm>
          <a:prstGeom prst="roundRect">
            <a:avLst>
              <a:gd name="adj" fmla="val 70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3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ED7"/>
                </a:solidFill>
                <a:latin typeface="Segoe UI"/>
              </a:rPr>
              <a:t>automated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24161" y="2834640"/>
            <a:ext cx="1999427" cy="1554480"/>
          </a:xfrm>
          <a:prstGeom prst="roundRect">
            <a:avLst>
              <a:gd name="adj" fmla="val 70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1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ED7"/>
                </a:solidFill>
                <a:latin typeface="Segoe UI"/>
              </a:rPr>
              <a:t>promotion rule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2188" y="2834640"/>
            <a:ext cx="1999427" cy="1554480"/>
          </a:xfrm>
          <a:prstGeom prst="roundRect">
            <a:avLst>
              <a:gd name="adj" fmla="val 7000"/>
            </a:avLst>
          </a:prstGeom>
          <a:solidFill>
            <a:srgbClr val="2B3242"/>
          </a:solidFill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0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ED7"/>
                </a:solidFill>
                <a:latin typeface="Segoe UI"/>
              </a:rPr>
              <a:t>double-entry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919C"/>
                </a:solidFill>
                <a:latin typeface="Segoe UI"/>
              </a:rPr>
              <a:t>Enter once, use everywhere.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19C"/>
                </a:solidFill>
                <a:latin typeface="Segoe UI"/>
              </a:rPr>
              <a:t>HMA School Management System — Pitch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E715E"/>
                </a:solidFill>
                <a:latin typeface="Segoe UI"/>
              </a:rPr>
              <a:t>The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What your school gains.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2624328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514600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Time back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Hours saved every term on reports and admin.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3282696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172968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Accuracy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One source of truth — no mismatched records.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3941063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831335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Control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Approve, publish and close with confidence.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4599432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4489704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Trust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Parents engaged and informed.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257800"/>
            <a:ext cx="420624" cy="420624"/>
          </a:xfrm>
          <a:prstGeom prst="ellipse">
            <a:avLst/>
          </a:prstGeom>
          <a:solidFill>
            <a:srgbClr val="EE7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5148072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Insight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19C"/>
                </a:solidFill>
                <a:latin typeface="Segoe UI"/>
              </a:rPr>
              <a:t>Spot gaps early; celebrate wins with rankings and recognition.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19C"/>
                </a:solidFill>
                <a:latin typeface="Segoe UI"/>
              </a:rPr>
              <a:t>HMA School Management System — Pitch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E715E"/>
                </a:solidFill>
                <a:latin typeface="Segoe UI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1091153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Segoe UI"/>
              </a:rPr>
              <a:t>See it live with</a:t>
            </a:r>
          </a:p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Segoe UI"/>
              </a:rPr>
              <a:t>your own school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5349240"/>
            <a:ext cx="3136391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ED7"/>
                </a:solidFill>
                <a:latin typeface="Segoe UI"/>
              </a:rPr>
              <a:t>Book a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5072" y="5349240"/>
            <a:ext cx="4306824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ED7"/>
                </a:solidFill>
                <a:latin typeface="Segoe UI"/>
              </a:rPr>
              <a:t>Pilot one class for a term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0496" y="5349240"/>
            <a:ext cx="4306824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4A5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ED7"/>
                </a:solidFill>
                <a:latin typeface="Segoe UI"/>
              </a:rPr>
              <a:t>Full rollout with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19C"/>
                </a:solidFill>
                <a:latin typeface="Segoe UI"/>
              </a:rPr>
              <a:t>HMA School Management System — Pitch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HMA School Management System</dc:title>
  <dc:subject/>
  <dc:creator>HMA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