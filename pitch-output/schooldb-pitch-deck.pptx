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8"/>
  </p:notesMasterIdLst>
  <p:sldIdLst>
    <p:sldId id="256" r:id="rId2"/>
    <p:sldId id="257" r:id="rId3"/>
    <p:sldId id="258" r:id="rId4"/>
    <p:sldId id="259" r:id="rId5"/>
    <p:sldId id="260" r:id="rId6"/>
    <p:sldId id="261" r:id="rId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5" d="100"/>
          <a:sy n="65" d="100"/>
        </p:scale>
        <p:origin x="700"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user-provided </a:t>
            </a:r>
            <a:r>
              <a:rPr lang="en-US"/>
              <a:t>HMA</a:t>
            </a:r>
            <a:r>
              <a:t> project analysis in this conversation. The attached sales-discovery deck is an unfilled template and contains no account-specific findings or quantified impact. No outcome or savings metrics were supplied, so the slide makes no quantified impact claims.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user-provided </a:t>
            </a:r>
            <a:r>
              <a:rPr lang="en-US"/>
              <a:t>HMA</a:t>
            </a:r>
            <a:r>
              <a:t> project analysis in this conversation. The attached sales-discovery deck is an unfilled template and contains no account-specific findings or quantified impact. Role descriptions summarize the existing admin, teacher, student and parent capabilities. The project has no HOD role.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user-provided </a:t>
            </a:r>
            <a:r>
              <a:rPr lang="en-US"/>
              <a:t>HMA</a:t>
            </a:r>
            <a:r>
              <a:t> project analysis in this conversation. The attached sales-discovery deck is an unfilled template and contains no account-specific findings or quantified impact. The 40-point continuous assessment and 60-point exam maxima come from the supplied project analysis.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user-provided </a:t>
            </a:r>
            <a:r>
              <a:rPr lang="en-US"/>
              <a:t>HMA</a:t>
            </a:r>
            <a:r>
              <a:t> project analysis in this conversation. The attached sales-discovery deck is an unfilled template and contains no account-specific findings or quantified impact. The supplied project analysis says both Mathematics and English session averages must be at least 50, plus at least three other subject averages at least 50.</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user-provided </a:t>
            </a:r>
            <a:r>
              <a:rPr lang="en-US"/>
              <a:t>HMA</a:t>
            </a:r>
            <a:r>
              <a:t> project analysis in this conversation. The attached sales-discovery deck is an unfilled template and contains no account-specific findings or quantified impact. Parent visibility is limited to children linked through the parent–student relationship.</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user-provided </a:t>
            </a:r>
            <a:r>
              <a:rPr lang="en-US"/>
              <a:t>HMA</a:t>
            </a:r>
            <a:r>
              <a:t> project analysis in this conversation. The attached sales-discovery deck is an unfilled template and contains no account-specific findings or quantified impact. This slide proposes an initial rollout sequence; pilot length, class selection and success measures should be agreed with the school.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10A9DB8C-4E0F-46CA-A99D-070E09D2189F}"/>
              </a:ext>
            </a:extLst>
          </p:cNvPr>
          <p:cNvSpPr>
            <a:spLocks noGrp="1"/>
          </p:cNvSpPr>
          <p:nvPr>
            <p:ph type="title"/>
          </p:nvPr>
        </p:nvSpPr>
        <p:spPr>
          <a:xfrm>
            <a:off x="1219200" y="2590800"/>
            <a:ext cx="9753600" cy="990600"/>
          </a:xfrm>
          <a:prstGeom prst="rect">
            <a:avLst/>
          </a:prstGeom>
          <a:noFill/>
          <a:ln>
            <a:noFill/>
            <a:prstDash val="solid"/>
          </a:ln>
        </p:spPr>
        <p:txBody>
          <a:bodyPr wrap="square" lIns="0" tIns="0" rIns="0" bIns="0" anchor="ctr">
            <a:normAutofit/>
          </a:bodyPr>
          <a:lstStyle>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2" name="Subtitle">
            <a:extLst>
              <a:ext uri="{FF2B5EF4-FFF2-40B4-BE49-F238E27FC236}">
                <a16:creationId xmlns:a16="http://schemas.microsoft.com/office/drawing/2014/main" id="{05B9F4EA-BC12-4BCC-AD83-6D020BC419BE}"/>
              </a:ext>
            </a:extLst>
          </p:cNvPr>
          <p:cNvSpPr>
            <a:spLocks noGrp="1"/>
          </p:cNvSpPr>
          <p:nvPr>
            <p:ph type="subTitle" idx="1"/>
          </p:nvPr>
        </p:nvSpPr>
        <p:spPr>
          <a:xfrm>
            <a:off x="1828800" y="3771900"/>
            <a:ext cx="8534400" cy="762000"/>
          </a:xfrm>
          <a:prstGeom prst="rect">
            <a:avLst/>
          </a:prstGeom>
          <a:noFill/>
          <a:ln>
            <a:noFill/>
            <a:prstDash val="solid"/>
          </a:ln>
        </p:spPr>
        <p:txBody>
          <a:bodyPr wrap="square" lIns="0" tIns="0" rIns="0" bIns="0" anchor="ctr">
            <a:normAutofit/>
          </a:bodyPr>
          <a:lstStyle>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Section Header">
    <p:spTree>
      <p:nvGrpSpPr>
        <p:cNvPr id="1" name=""/>
        <p:cNvGrpSpPr/>
        <p:nvPr/>
      </p:nvGrpSpPr>
      <p:grpSpPr>
        <a:xfrm>
          <a:off x="0" y="0"/>
          <a:ext cx="0" cy="0"/>
          <a:chOff x="0" y="0"/>
          <a:chExt cx="0" cy="0"/>
        </a:xfrm>
      </p:grpSpPr>
      <p:sp>
        <p:nvSpPr>
          <p:cNvPr id="2" name="Section title">
            <a:extLst>
              <a:ext uri="{FF2B5EF4-FFF2-40B4-BE49-F238E27FC236}">
                <a16:creationId xmlns:a16="http://schemas.microsoft.com/office/drawing/2014/main" id="{DAC7AA53-9F04-452A-A5E0-4B08AC9E15B2}"/>
              </a:ext>
            </a:extLst>
          </p:cNvPr>
          <p:cNvSpPr>
            <a:spLocks noGrp="1"/>
          </p:cNvSpPr>
          <p:nvPr>
            <p:ph type="title"/>
          </p:nvPr>
        </p:nvSpPr>
        <p:spPr>
          <a:xfrm>
            <a:off x="1219200" y="2857500"/>
            <a:ext cx="9753600" cy="1143000"/>
          </a:xfrm>
          <a:prstGeom prst="rect">
            <a:avLst/>
          </a:prstGeom>
          <a:noFill/>
          <a:ln>
            <a:noFill/>
            <a:prstDash val="solid"/>
          </a:ln>
        </p:spPr>
        <p:txBody>
          <a:bodyPr wrap="square" lIns="0" tIns="0" rIns="0" bIns="0" anchor="ctr">
            <a:normAutofit/>
          </a:bodyPr>
          <a:lstStyle>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Title and Body">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688F219A-3DEC-4232-A21E-083A70632915}"/>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2" name="Body">
            <a:extLst>
              <a:ext uri="{FF2B5EF4-FFF2-40B4-BE49-F238E27FC236}">
                <a16:creationId xmlns:a16="http://schemas.microsoft.com/office/drawing/2014/main" id="{9D699FC6-64D2-447A-8C31-2B903EE0F2C5}"/>
              </a:ext>
            </a:extLst>
          </p:cNvPr>
          <p:cNvSpPr>
            <a:spLocks noGrp="1"/>
          </p:cNvSpPr>
          <p:nvPr>
            <p:ph type="body" idx="1"/>
          </p:nvPr>
        </p:nvSpPr>
        <p:spPr>
          <a:xfrm>
            <a:off x="685800" y="1905000"/>
            <a:ext cx="108204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Title and Two Column">
    <p:spTree>
      <p:nvGrpSpPr>
        <p:cNvPr id="1" name=""/>
        <p:cNvGrpSpPr/>
        <p:nvPr/>
      </p:nvGrpSpPr>
      <p:grpSpPr>
        <a:xfrm>
          <a:off x="0" y="0"/>
          <a:ext cx="0" cy="0"/>
          <a:chOff x="0" y="0"/>
          <a:chExt cx="0" cy="0"/>
        </a:xfrm>
      </p:grpSpPr>
      <p:sp>
        <p:nvSpPr>
          <p:cNvPr id="4" name="Title">
            <a:extLst>
              <a:ext uri="{FF2B5EF4-FFF2-40B4-BE49-F238E27FC236}">
                <a16:creationId xmlns:a16="http://schemas.microsoft.com/office/drawing/2014/main" id="{9204038A-C6CC-4195-A09F-8DFD7936F12D}"/>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2" name="Left column">
            <a:extLst>
              <a:ext uri="{FF2B5EF4-FFF2-40B4-BE49-F238E27FC236}">
                <a16:creationId xmlns:a16="http://schemas.microsoft.com/office/drawing/2014/main" id="{783B2FB0-9DED-4F10-BB0B-692276DC5174}"/>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
        <p:nvSpPr>
          <p:cNvPr id="3" name="Right column">
            <a:extLst>
              <a:ext uri="{FF2B5EF4-FFF2-40B4-BE49-F238E27FC236}">
                <a16:creationId xmlns:a16="http://schemas.microsoft.com/office/drawing/2014/main" id="{A0CD5C06-25D9-4F05-A8A5-9207072766CB}"/>
              </a:ext>
            </a:extLst>
          </p:cNvPr>
          <p:cNvSpPr>
            <a:spLocks noGrp="1"/>
          </p:cNvSpPr>
          <p:nvPr>
            <p:ph type="body" idx="2"/>
          </p:nvPr>
        </p:nvSpPr>
        <p:spPr>
          <a:xfrm>
            <a:off x="64770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Title and One Column">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DB4DFA9A-6FEC-4A46-95A0-D8C0E09BBB5B}"/>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2" name="Left column">
            <a:extLst>
              <a:ext uri="{FF2B5EF4-FFF2-40B4-BE49-F238E27FC236}">
                <a16:creationId xmlns:a16="http://schemas.microsoft.com/office/drawing/2014/main" id="{EF1B05C3-988A-4468-839F-AF4A0EE6B967}"/>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EEF5F7"/>
        </a:solidFill>
        <a:effectLst/>
      </p:bgPr>
    </p:bg>
    <p:spTree>
      <p:nvGrpSpPr>
        <p:cNvPr id="1" name=""/>
        <p:cNvGrpSpPr/>
        <p:nvPr/>
      </p:nvGrpSpPr>
      <p:grpSpPr>
        <a:xfrm>
          <a:off x="0" y="0"/>
          <a:ext cx="0" cy="0"/>
          <a:chOff x="0" y="0"/>
          <a:chExt cx="0" cy="0"/>
        </a:xfrm>
      </p:grpSpPr>
      <p:sp>
        <p:nvSpPr>
          <p:cNvPr id="26" name="brand-dot">
            <a:extLst>
              <a:ext uri="{FF2B5EF4-FFF2-40B4-BE49-F238E27FC236}">
                <a16:creationId xmlns:a16="http://schemas.microsoft.com/office/drawing/2014/main" id="{7329C2C3-2CF1-45C1-AA70-3F61716F4DBC}"/>
              </a:ext>
            </a:extLst>
          </p:cNvPr>
          <p:cNvSpPr>
            <a:spLocks noGrp="1"/>
          </p:cNvSpPr>
          <p:nvPr/>
        </p:nvSpPr>
        <p:spPr>
          <a:xfrm>
            <a:off x="466725" y="428625"/>
            <a:ext cx="104775" cy="104775"/>
          </a:xfrm>
          <a:prstGeom prst="ellipse">
            <a:avLst/>
          </a:prstGeom>
          <a:solidFill>
            <a:srgbClr val="287C88"/>
          </a:solidFill>
          <a:ln w="0">
            <a:noFill/>
            <a:prstDash val="solid"/>
          </a:ln>
        </p:spPr>
      </p:sp>
      <p:sp>
        <p:nvSpPr>
          <p:cNvPr id="2" name="brand">
            <a:extLst>
              <a:ext uri="{FF2B5EF4-FFF2-40B4-BE49-F238E27FC236}">
                <a16:creationId xmlns:a16="http://schemas.microsoft.com/office/drawing/2014/main" id="{A2BC4746-BEA6-44F4-8C5B-7036013A0CCE}"/>
              </a:ext>
            </a:extLst>
          </p:cNvPr>
          <p:cNvSpPr>
            <a:spLocks noGrp="1"/>
          </p:cNvSpPr>
          <p:nvPr/>
        </p:nvSpPr>
        <p:spPr>
          <a:xfrm>
            <a:off x="733425" y="352425"/>
            <a:ext cx="1381125" cy="285750"/>
          </a:xfrm>
          <a:prstGeom prst="rect">
            <a:avLst/>
          </a:prstGeom>
          <a:noFill/>
          <a:ln w="0">
            <a:noFill/>
            <a:prstDash val="solid"/>
          </a:ln>
        </p:spPr>
        <p:txBody>
          <a:bodyPr wrap="square" lIns="0" tIns="0" rIns="0" bIns="0" anchor="t">
            <a:noAutofit/>
          </a:bodyPr>
          <a:lstStyle>
            <a:defPPr algn="l">
              <a:defRPr sz="1125" b="1">
                <a:solidFill>
                  <a:srgbClr val="5B6B72"/>
                </a:solidFill>
                <a:latin typeface="Aptos"/>
                <a:ea typeface="Aptos"/>
                <a:cs typeface="Aptos"/>
              </a:defRPr>
            </a:defPPr>
          </a:lstStyle>
          <a:p>
            <a:pPr algn="l">
              <a:defRPr sz="1125" b="1">
                <a:solidFill>
                  <a:srgbClr val="5B6B72"/>
                </a:solidFill>
                <a:latin typeface="Aptos"/>
                <a:ea typeface="Aptos"/>
                <a:cs typeface="Aptos"/>
              </a:defRPr>
            </a:pPr>
            <a:r>
              <a:rPr lang="en-US" sz="1125" b="1" dirty="0">
                <a:solidFill>
                  <a:srgbClr val="5B6B72"/>
                </a:solidFill>
                <a:latin typeface="Aptos"/>
                <a:ea typeface="Aptos"/>
                <a:cs typeface="Aptos"/>
              </a:rPr>
              <a:t>HMA</a:t>
            </a:r>
            <a:endParaRPr sz="1125" b="1" dirty="0">
              <a:solidFill>
                <a:srgbClr val="5B6B72"/>
              </a:solidFill>
              <a:latin typeface="Aptos"/>
              <a:ea typeface="Aptos"/>
              <a:cs typeface="Aptos"/>
            </a:endParaRPr>
          </a:p>
        </p:txBody>
      </p:sp>
      <p:sp>
        <p:nvSpPr>
          <p:cNvPr id="3" name="category">
            <a:extLst>
              <a:ext uri="{FF2B5EF4-FFF2-40B4-BE49-F238E27FC236}">
                <a16:creationId xmlns:a16="http://schemas.microsoft.com/office/drawing/2014/main" id="{17166059-52B3-4D2B-82E3-6F27C49ED407}"/>
              </a:ext>
            </a:extLst>
          </p:cNvPr>
          <p:cNvSpPr>
            <a:spLocks noGrp="1"/>
          </p:cNvSpPr>
          <p:nvPr/>
        </p:nvSpPr>
        <p:spPr>
          <a:xfrm>
            <a:off x="2133600" y="352425"/>
            <a:ext cx="3429000" cy="285750"/>
          </a:xfrm>
          <a:prstGeom prst="rect">
            <a:avLst/>
          </a:prstGeom>
          <a:noFill/>
          <a:ln w="0">
            <a:noFill/>
            <a:prstDash val="solid"/>
          </a:ln>
        </p:spPr>
        <p:txBody>
          <a:bodyPr wrap="square" lIns="0" tIns="0" rIns="0" bIns="0" anchor="t">
            <a:noAutofit/>
          </a:bodyPr>
          <a:lstStyle>
            <a:defPPr algn="l">
              <a:defRPr sz="1050" b="0">
                <a:solidFill>
                  <a:srgbClr val="5B6B72"/>
                </a:solidFill>
                <a:latin typeface="Aptos"/>
                <a:ea typeface="Aptos"/>
                <a:cs typeface="Aptos"/>
              </a:defRPr>
            </a:defPPr>
          </a:lstStyle>
          <a:p>
            <a:pPr algn="l">
              <a:defRPr sz="1050" b="0">
                <a:solidFill>
                  <a:srgbClr val="5B6B72"/>
                </a:solidFill>
                <a:latin typeface="Aptos"/>
                <a:ea typeface="Aptos"/>
                <a:cs typeface="Aptos"/>
              </a:defRPr>
            </a:pPr>
            <a:r>
              <a:rPr sz="1050" b="0">
                <a:solidFill>
                  <a:srgbClr val="5B6B72"/>
                </a:solidFill>
                <a:latin typeface="Aptos"/>
                <a:ea typeface="Aptos"/>
                <a:cs typeface="Aptos"/>
              </a:rPr>
              <a:t>SECONDARY SCHOOL MANAGEMENT</a:t>
            </a:r>
          </a:p>
        </p:txBody>
      </p:sp>
      <p:sp>
        <p:nvSpPr>
          <p:cNvPr id="4" name="title">
            <a:extLst>
              <a:ext uri="{FF2B5EF4-FFF2-40B4-BE49-F238E27FC236}">
                <a16:creationId xmlns:a16="http://schemas.microsoft.com/office/drawing/2014/main" id="{8C5C7BD7-4C5A-46F9-9922-ED904313EC66}"/>
              </a:ext>
            </a:extLst>
          </p:cNvPr>
          <p:cNvSpPr>
            <a:spLocks noGrp="1"/>
          </p:cNvSpPr>
          <p:nvPr/>
        </p:nvSpPr>
        <p:spPr>
          <a:xfrm>
            <a:off x="609600" y="990600"/>
            <a:ext cx="8382000" cy="1200150"/>
          </a:xfrm>
          <a:prstGeom prst="rect">
            <a:avLst/>
          </a:prstGeom>
          <a:noFill/>
          <a:ln w="0">
            <a:noFill/>
            <a:prstDash val="solid"/>
          </a:ln>
        </p:spPr>
        <p:txBody>
          <a:bodyPr wrap="square" lIns="0" tIns="0" rIns="0" bIns="0" anchor="t">
            <a:noAutofit/>
          </a:bodyPr>
          <a:lstStyle>
            <a:defPPr algn="l">
              <a:defRPr sz="3750" b="1">
                <a:solidFill>
                  <a:srgbClr val="122027"/>
                </a:solidFill>
                <a:latin typeface="Aptos Display"/>
                <a:ea typeface="Aptos Display"/>
                <a:cs typeface="Aptos Display"/>
              </a:defRPr>
            </a:defPPr>
          </a:lstStyle>
          <a:p>
            <a:pPr algn="l">
              <a:defRPr sz="3750" b="1">
                <a:solidFill>
                  <a:srgbClr val="122027"/>
                </a:solidFill>
                <a:latin typeface="Aptos Display"/>
                <a:ea typeface="Aptos Display"/>
                <a:cs typeface="Aptos Display"/>
              </a:defRPr>
            </a:pPr>
            <a:r>
              <a:rPr sz="3750" b="1">
                <a:solidFill>
                  <a:srgbClr val="122027"/>
                </a:solidFill>
                <a:latin typeface="Aptos Display"/>
                <a:ea typeface="Aptos Display"/>
                <a:cs typeface="Aptos Display"/>
              </a:rPr>
              <a:t>One connected system</a:t>
            </a:r>
          </a:p>
          <a:p>
            <a:pPr algn="l">
              <a:defRPr sz="3750" b="1">
                <a:solidFill>
                  <a:srgbClr val="122027"/>
                </a:solidFill>
                <a:latin typeface="Aptos Display"/>
                <a:ea typeface="Aptos Display"/>
                <a:cs typeface="Aptos Display"/>
              </a:defRPr>
            </a:pPr>
            <a:r>
              <a:rPr sz="3750" b="1">
                <a:solidFill>
                  <a:srgbClr val="122027"/>
                </a:solidFill>
                <a:latin typeface="Aptos Display"/>
                <a:ea typeface="Aptos Display"/>
                <a:cs typeface="Aptos Display"/>
              </a:rPr>
              <a:t>for the school year</a:t>
            </a:r>
          </a:p>
        </p:txBody>
      </p:sp>
      <p:sp>
        <p:nvSpPr>
          <p:cNvPr id="5" name="value-proposition">
            <a:extLst>
              <a:ext uri="{FF2B5EF4-FFF2-40B4-BE49-F238E27FC236}">
                <a16:creationId xmlns:a16="http://schemas.microsoft.com/office/drawing/2014/main" id="{97009630-49BD-4070-ABE3-E77FDC1125E9}"/>
              </a:ext>
            </a:extLst>
          </p:cNvPr>
          <p:cNvSpPr>
            <a:spLocks noGrp="1"/>
          </p:cNvSpPr>
          <p:nvPr/>
        </p:nvSpPr>
        <p:spPr>
          <a:xfrm>
            <a:off x="628650" y="2257425"/>
            <a:ext cx="7762875" cy="704850"/>
          </a:xfrm>
          <a:prstGeom prst="rect">
            <a:avLst/>
          </a:prstGeom>
          <a:noFill/>
          <a:ln w="0">
            <a:noFill/>
            <a:prstDash val="solid"/>
          </a:ln>
        </p:spPr>
        <p:txBody>
          <a:bodyPr wrap="square" lIns="0" tIns="0" rIns="0" bIns="0" anchor="t">
            <a:noAutofit/>
          </a:bodyPr>
          <a:lstStyle>
            <a:defPPr algn="l">
              <a:defRPr sz="1800" b="0">
                <a:solidFill>
                  <a:srgbClr val="5B6B72"/>
                </a:solidFill>
                <a:latin typeface="Aptos"/>
                <a:ea typeface="Aptos"/>
                <a:cs typeface="Aptos"/>
              </a:defRPr>
            </a:defPPr>
          </a:lstStyle>
          <a:p>
            <a:pPr>
              <a:defRPr sz="1800" b="0">
                <a:solidFill>
                  <a:srgbClr val="5B6B72"/>
                </a:solidFill>
                <a:latin typeface="Aptos"/>
                <a:ea typeface="Aptos"/>
                <a:cs typeface="Aptos"/>
              </a:defRPr>
            </a:pPr>
            <a:r>
              <a:rPr lang="en-US" dirty="0">
                <a:solidFill>
                  <a:srgbClr val="5B6B72"/>
                </a:solidFill>
                <a:latin typeface="Aptos"/>
                <a:ea typeface="Aptos"/>
                <a:cs typeface="Aptos"/>
              </a:rPr>
              <a:t>Happy Management Application </a:t>
            </a:r>
            <a:r>
              <a:rPr lang="en-US" b="1" dirty="0">
                <a:solidFill>
                  <a:srgbClr val="5B6B72"/>
                </a:solidFill>
                <a:latin typeface="Aptos"/>
                <a:ea typeface="Aptos"/>
                <a:cs typeface="Aptos"/>
              </a:rPr>
              <a:t>HMA</a:t>
            </a:r>
            <a:r>
              <a:rPr sz="1800" b="0" dirty="0">
                <a:solidFill>
                  <a:srgbClr val="5B6B72"/>
                </a:solidFill>
                <a:latin typeface="Aptos"/>
                <a:ea typeface="Aptos"/>
                <a:cs typeface="Aptos"/>
              </a:rPr>
              <a:t> brings academic records, classroom learning and family access into one workflow for Nigerian secondary schools.</a:t>
            </a:r>
          </a:p>
        </p:txBody>
      </p:sp>
      <p:sp>
        <p:nvSpPr>
          <p:cNvPr id="6" name="school-calendar-context">
            <a:extLst>
              <a:ext uri="{FF2B5EF4-FFF2-40B4-BE49-F238E27FC236}">
                <a16:creationId xmlns:a16="http://schemas.microsoft.com/office/drawing/2014/main" id="{66F13F4A-2154-42EC-82AC-9113D7EA6327}"/>
              </a:ext>
            </a:extLst>
          </p:cNvPr>
          <p:cNvSpPr>
            <a:spLocks noGrp="1"/>
          </p:cNvSpPr>
          <p:nvPr/>
        </p:nvSpPr>
        <p:spPr>
          <a:xfrm>
            <a:off x="9144000" y="2419350"/>
            <a:ext cx="2419350" cy="590550"/>
          </a:xfrm>
          <a:prstGeom prst="rect">
            <a:avLst/>
          </a:prstGeom>
          <a:noFill/>
          <a:ln w="0">
            <a:noFill/>
            <a:prstDash val="solid"/>
          </a:ln>
        </p:spPr>
        <p:txBody>
          <a:bodyPr wrap="square" lIns="0" tIns="0" rIns="0" bIns="0" anchor="t">
            <a:noAutofit/>
          </a:bodyPr>
          <a:lstStyle>
            <a:defPPr algn="l">
              <a:defRPr sz="1200" b="1">
                <a:solidFill>
                  <a:srgbClr val="287C88"/>
                </a:solidFill>
                <a:latin typeface="Aptos"/>
                <a:ea typeface="Aptos"/>
                <a:cs typeface="Aptos"/>
              </a:defRPr>
            </a:defPPr>
          </a:lstStyle>
          <a:p>
            <a:pPr algn="l">
              <a:defRPr sz="1200" b="1">
                <a:solidFill>
                  <a:srgbClr val="287C88"/>
                </a:solidFill>
                <a:latin typeface="Aptos"/>
                <a:ea typeface="Aptos"/>
                <a:cs typeface="Aptos"/>
              </a:defRPr>
            </a:pPr>
            <a:r>
              <a:rPr sz="1200" b="1">
                <a:solidFill>
                  <a:srgbClr val="287C88"/>
                </a:solidFill>
                <a:latin typeface="Aptos"/>
                <a:ea typeface="Aptos"/>
                <a:cs typeface="Aptos"/>
              </a:rPr>
              <a:t>BUILT AROUND</a:t>
            </a:r>
          </a:p>
          <a:p>
            <a:pPr algn="l">
              <a:defRPr sz="1200" b="1">
                <a:solidFill>
                  <a:srgbClr val="287C88"/>
                </a:solidFill>
                <a:latin typeface="Aptos"/>
                <a:ea typeface="Aptos"/>
                <a:cs typeface="Aptos"/>
              </a:defRPr>
            </a:pPr>
            <a:r>
              <a:rPr sz="1200" b="1">
                <a:solidFill>
                  <a:srgbClr val="287C88"/>
                </a:solidFill>
                <a:latin typeface="Aptos"/>
                <a:ea typeface="Aptos"/>
                <a:cs typeface="Aptos"/>
              </a:rPr>
              <a:t>NIGERIA’S 3-TERM YEAR</a:t>
            </a:r>
          </a:p>
        </p:txBody>
      </p:sp>
      <p:sp>
        <p:nvSpPr>
          <p:cNvPr id="7" name="academic-workflow-line">
            <a:extLst>
              <a:ext uri="{FF2B5EF4-FFF2-40B4-BE49-F238E27FC236}">
                <a16:creationId xmlns:a16="http://schemas.microsoft.com/office/drawing/2014/main" id="{C7434602-0B9F-4EDF-AF9B-19E94DEFC352}"/>
              </a:ext>
            </a:extLst>
          </p:cNvPr>
          <p:cNvSpPr>
            <a:spLocks noGrp="1"/>
          </p:cNvSpPr>
          <p:nvPr/>
        </p:nvSpPr>
        <p:spPr>
          <a:xfrm>
            <a:off x="781050" y="3733800"/>
            <a:ext cx="8496300" cy="0"/>
          </a:xfrm>
          <a:prstGeom prst="line">
            <a:avLst/>
          </a:prstGeom>
          <a:noFill/>
          <a:ln w="19050">
            <a:solidFill>
              <a:srgbClr val="BCD5DA"/>
            </a:solidFill>
            <a:prstDash val="solid"/>
          </a:ln>
        </p:spPr>
      </p:sp>
      <p:sp>
        <p:nvSpPr>
          <p:cNvPr id="8" name="workflow-step-1">
            <a:extLst>
              <a:ext uri="{FF2B5EF4-FFF2-40B4-BE49-F238E27FC236}">
                <a16:creationId xmlns:a16="http://schemas.microsoft.com/office/drawing/2014/main" id="{AE4A2FE6-97E2-4327-9E31-CD1EBB41E100}"/>
              </a:ext>
            </a:extLst>
          </p:cNvPr>
          <p:cNvSpPr>
            <a:spLocks noGrp="1"/>
          </p:cNvSpPr>
          <p:nvPr/>
        </p:nvSpPr>
        <p:spPr>
          <a:xfrm>
            <a:off x="704850" y="3648075"/>
            <a:ext cx="171450" cy="171450"/>
          </a:xfrm>
          <a:prstGeom prst="ellipse">
            <a:avLst/>
          </a:prstGeom>
          <a:solidFill>
            <a:srgbClr val="287C88"/>
          </a:solidFill>
          <a:ln w="28575">
            <a:solidFill>
              <a:srgbClr val="EEF5F7"/>
            </a:solidFill>
            <a:prstDash val="solid"/>
          </a:ln>
        </p:spPr>
      </p:sp>
      <p:sp>
        <p:nvSpPr>
          <p:cNvPr id="9" name="step-1-number">
            <a:extLst>
              <a:ext uri="{FF2B5EF4-FFF2-40B4-BE49-F238E27FC236}">
                <a16:creationId xmlns:a16="http://schemas.microsoft.com/office/drawing/2014/main" id="{6EECC1A3-17AD-4CCD-821A-75D221132A21}"/>
              </a:ext>
            </a:extLst>
          </p:cNvPr>
          <p:cNvSpPr>
            <a:spLocks noGrp="1"/>
          </p:cNvSpPr>
          <p:nvPr/>
        </p:nvSpPr>
        <p:spPr>
          <a:xfrm>
            <a:off x="704850" y="3343275"/>
            <a:ext cx="571500" cy="228600"/>
          </a:xfrm>
          <a:prstGeom prst="rect">
            <a:avLst/>
          </a:prstGeom>
          <a:noFill/>
          <a:ln w="0">
            <a:noFill/>
            <a:prstDash val="solid"/>
          </a:ln>
        </p:spPr>
        <p:txBody>
          <a:bodyPr wrap="square" lIns="0" tIns="0" rIns="0" bIns="0" anchor="t">
            <a:noAutofit/>
          </a:bodyPr>
          <a:lstStyle>
            <a:defPPr algn="l">
              <a:defRPr sz="1125" b="1">
                <a:solidFill>
                  <a:srgbClr val="287C88"/>
                </a:solidFill>
                <a:latin typeface="Aptos"/>
                <a:ea typeface="Aptos"/>
                <a:cs typeface="Aptos"/>
              </a:defRPr>
            </a:defPPr>
          </a:lstStyle>
          <a:p>
            <a:pPr algn="l">
              <a:defRPr sz="1125" b="1">
                <a:solidFill>
                  <a:srgbClr val="287C88"/>
                </a:solidFill>
                <a:latin typeface="Aptos"/>
                <a:ea typeface="Aptos"/>
                <a:cs typeface="Aptos"/>
              </a:defRPr>
            </a:pPr>
            <a:r>
              <a:rPr sz="1125" b="1">
                <a:solidFill>
                  <a:srgbClr val="287C88"/>
                </a:solidFill>
                <a:latin typeface="Aptos"/>
                <a:ea typeface="Aptos"/>
                <a:cs typeface="Aptos"/>
              </a:rPr>
              <a:t>01</a:t>
            </a:r>
          </a:p>
        </p:txBody>
      </p:sp>
      <p:sp>
        <p:nvSpPr>
          <p:cNvPr id="10" name="step-1-title">
            <a:extLst>
              <a:ext uri="{FF2B5EF4-FFF2-40B4-BE49-F238E27FC236}">
                <a16:creationId xmlns:a16="http://schemas.microsoft.com/office/drawing/2014/main" id="{3FC4AB61-044A-44C7-909E-7B40FADAC00B}"/>
              </a:ext>
            </a:extLst>
          </p:cNvPr>
          <p:cNvSpPr>
            <a:spLocks noGrp="1"/>
          </p:cNvSpPr>
          <p:nvPr/>
        </p:nvSpPr>
        <p:spPr>
          <a:xfrm>
            <a:off x="704850" y="4057650"/>
            <a:ext cx="2381250" cy="342900"/>
          </a:xfrm>
          <a:prstGeom prst="rect">
            <a:avLst/>
          </a:prstGeom>
          <a:noFill/>
          <a:ln w="0">
            <a:noFill/>
            <a:prstDash val="solid"/>
          </a:ln>
        </p:spPr>
        <p:txBody>
          <a:bodyPr wrap="square" lIns="0" tIns="0" rIns="0" bIns="0" anchor="t">
            <a:noAutofit/>
          </a:bodyPr>
          <a:lstStyle>
            <a:defPPr algn="l">
              <a:defRPr sz="1950" b="1">
                <a:solidFill>
                  <a:srgbClr val="122027"/>
                </a:solidFill>
                <a:latin typeface="Aptos Display"/>
                <a:ea typeface="Aptos Display"/>
                <a:cs typeface="Aptos Display"/>
              </a:defRPr>
            </a:defPPr>
          </a:lstStyle>
          <a:p>
            <a:pPr algn="l">
              <a:defRPr sz="1950" b="1">
                <a:solidFill>
                  <a:srgbClr val="122027"/>
                </a:solidFill>
                <a:latin typeface="Aptos Display"/>
                <a:ea typeface="Aptos Display"/>
                <a:cs typeface="Aptos Display"/>
              </a:defRPr>
            </a:pPr>
            <a:r>
              <a:rPr sz="1950" b="1">
                <a:solidFill>
                  <a:srgbClr val="122027"/>
                </a:solidFill>
                <a:latin typeface="Aptos Display"/>
                <a:ea typeface="Aptos Display"/>
                <a:cs typeface="Aptos Display"/>
              </a:rPr>
              <a:t>Record</a:t>
            </a:r>
          </a:p>
        </p:txBody>
      </p:sp>
      <p:sp>
        <p:nvSpPr>
          <p:cNvPr id="11" name="step-1-body">
            <a:extLst>
              <a:ext uri="{FF2B5EF4-FFF2-40B4-BE49-F238E27FC236}">
                <a16:creationId xmlns:a16="http://schemas.microsoft.com/office/drawing/2014/main" id="{0DB57E2C-F6CA-4DA9-8916-2B100CF74109}"/>
              </a:ext>
            </a:extLst>
          </p:cNvPr>
          <p:cNvSpPr>
            <a:spLocks noGrp="1"/>
          </p:cNvSpPr>
          <p:nvPr/>
        </p:nvSpPr>
        <p:spPr>
          <a:xfrm>
            <a:off x="704850" y="4467225"/>
            <a:ext cx="2381250" cy="742950"/>
          </a:xfrm>
          <a:prstGeom prst="rect">
            <a:avLst/>
          </a:prstGeom>
          <a:noFill/>
          <a:ln w="0">
            <a:noFill/>
            <a:prstDash val="solid"/>
          </a:ln>
        </p:spPr>
        <p:txBody>
          <a:bodyPr wrap="square" lIns="0" tIns="0" rIns="0" bIns="0" anchor="t">
            <a:noAutofit/>
          </a:bodyPr>
          <a:lstStyle>
            <a:defPPr algn="l">
              <a:defRPr sz="1575" b="0">
                <a:solidFill>
                  <a:srgbClr val="5B6B72"/>
                </a:solidFill>
                <a:latin typeface="Aptos"/>
                <a:ea typeface="Aptos"/>
                <a:cs typeface="Aptos"/>
              </a:defRPr>
            </a:defPPr>
          </a:lstStyle>
          <a:p>
            <a:pPr algn="l">
              <a:defRPr sz="1575" b="0">
                <a:solidFill>
                  <a:srgbClr val="5B6B72"/>
                </a:solidFill>
                <a:latin typeface="Aptos"/>
                <a:ea typeface="Aptos"/>
                <a:cs typeface="Aptos"/>
              </a:defRPr>
            </a:pPr>
            <a:r>
              <a:rPr sz="1575" b="0">
                <a:solidFill>
                  <a:srgbClr val="5B6B72"/>
                </a:solidFill>
                <a:latin typeface="Aptos"/>
                <a:ea typeface="Aptos"/>
                <a:cs typeface="Aptos"/>
              </a:rPr>
              <a:t>Daily attendance</a:t>
            </a:r>
          </a:p>
          <a:p>
            <a:pPr algn="l">
              <a:defRPr sz="1575" b="0">
                <a:solidFill>
                  <a:srgbClr val="5B6B72"/>
                </a:solidFill>
                <a:latin typeface="Aptos"/>
                <a:ea typeface="Aptos"/>
                <a:cs typeface="Aptos"/>
              </a:defRPr>
            </a:pPr>
            <a:r>
              <a:rPr sz="1575" b="0">
                <a:solidFill>
                  <a:srgbClr val="5B6B72"/>
                </a:solidFill>
                <a:latin typeface="Aptos"/>
                <a:ea typeface="Aptos"/>
                <a:cs typeface="Aptos"/>
              </a:rPr>
              <a:t>CA and exam grades</a:t>
            </a:r>
          </a:p>
        </p:txBody>
      </p:sp>
      <p:sp>
        <p:nvSpPr>
          <p:cNvPr id="12" name="workflow-step-2">
            <a:extLst>
              <a:ext uri="{FF2B5EF4-FFF2-40B4-BE49-F238E27FC236}">
                <a16:creationId xmlns:a16="http://schemas.microsoft.com/office/drawing/2014/main" id="{DE3C3435-B38B-463E-911A-949255049A32}"/>
              </a:ext>
            </a:extLst>
          </p:cNvPr>
          <p:cNvSpPr>
            <a:spLocks noGrp="1"/>
          </p:cNvSpPr>
          <p:nvPr/>
        </p:nvSpPr>
        <p:spPr>
          <a:xfrm>
            <a:off x="3505200" y="3648075"/>
            <a:ext cx="171450" cy="171450"/>
          </a:xfrm>
          <a:prstGeom prst="ellipse">
            <a:avLst/>
          </a:prstGeom>
          <a:solidFill>
            <a:srgbClr val="287C88"/>
          </a:solidFill>
          <a:ln w="28575">
            <a:solidFill>
              <a:srgbClr val="EEF5F7"/>
            </a:solidFill>
            <a:prstDash val="solid"/>
          </a:ln>
        </p:spPr>
      </p:sp>
      <p:sp>
        <p:nvSpPr>
          <p:cNvPr id="13" name="step-2-number">
            <a:extLst>
              <a:ext uri="{FF2B5EF4-FFF2-40B4-BE49-F238E27FC236}">
                <a16:creationId xmlns:a16="http://schemas.microsoft.com/office/drawing/2014/main" id="{6740776C-4BA6-413B-BD03-A1AE8B53C223}"/>
              </a:ext>
            </a:extLst>
          </p:cNvPr>
          <p:cNvSpPr>
            <a:spLocks noGrp="1"/>
          </p:cNvSpPr>
          <p:nvPr/>
        </p:nvSpPr>
        <p:spPr>
          <a:xfrm>
            <a:off x="3505200" y="3343275"/>
            <a:ext cx="571500" cy="228600"/>
          </a:xfrm>
          <a:prstGeom prst="rect">
            <a:avLst/>
          </a:prstGeom>
          <a:noFill/>
          <a:ln w="0">
            <a:noFill/>
            <a:prstDash val="solid"/>
          </a:ln>
        </p:spPr>
        <p:txBody>
          <a:bodyPr wrap="square" lIns="0" tIns="0" rIns="0" bIns="0" anchor="t">
            <a:noAutofit/>
          </a:bodyPr>
          <a:lstStyle>
            <a:defPPr algn="l">
              <a:defRPr sz="1125" b="1">
                <a:solidFill>
                  <a:srgbClr val="287C88"/>
                </a:solidFill>
                <a:latin typeface="Aptos"/>
                <a:ea typeface="Aptos"/>
                <a:cs typeface="Aptos"/>
              </a:defRPr>
            </a:defPPr>
          </a:lstStyle>
          <a:p>
            <a:pPr algn="l">
              <a:defRPr sz="1125" b="1">
                <a:solidFill>
                  <a:srgbClr val="287C88"/>
                </a:solidFill>
                <a:latin typeface="Aptos"/>
                <a:ea typeface="Aptos"/>
                <a:cs typeface="Aptos"/>
              </a:defRPr>
            </a:pPr>
            <a:r>
              <a:rPr sz="1125" b="1">
                <a:solidFill>
                  <a:srgbClr val="287C88"/>
                </a:solidFill>
                <a:latin typeface="Aptos"/>
                <a:ea typeface="Aptos"/>
                <a:cs typeface="Aptos"/>
              </a:rPr>
              <a:t>02</a:t>
            </a:r>
          </a:p>
        </p:txBody>
      </p:sp>
      <p:sp>
        <p:nvSpPr>
          <p:cNvPr id="14" name="step-2-title">
            <a:extLst>
              <a:ext uri="{FF2B5EF4-FFF2-40B4-BE49-F238E27FC236}">
                <a16:creationId xmlns:a16="http://schemas.microsoft.com/office/drawing/2014/main" id="{86DE5368-02DF-4BE6-ADDA-39875DFB0F43}"/>
              </a:ext>
            </a:extLst>
          </p:cNvPr>
          <p:cNvSpPr>
            <a:spLocks noGrp="1"/>
          </p:cNvSpPr>
          <p:nvPr/>
        </p:nvSpPr>
        <p:spPr>
          <a:xfrm>
            <a:off x="3505200" y="4057650"/>
            <a:ext cx="2381250" cy="342900"/>
          </a:xfrm>
          <a:prstGeom prst="rect">
            <a:avLst/>
          </a:prstGeom>
          <a:noFill/>
          <a:ln w="0">
            <a:noFill/>
            <a:prstDash val="solid"/>
          </a:ln>
        </p:spPr>
        <p:txBody>
          <a:bodyPr wrap="square" lIns="0" tIns="0" rIns="0" bIns="0" anchor="t">
            <a:noAutofit/>
          </a:bodyPr>
          <a:lstStyle>
            <a:defPPr algn="l">
              <a:defRPr sz="1950" b="1">
                <a:solidFill>
                  <a:srgbClr val="122027"/>
                </a:solidFill>
                <a:latin typeface="Aptos Display"/>
                <a:ea typeface="Aptos Display"/>
                <a:cs typeface="Aptos Display"/>
              </a:defRPr>
            </a:defPPr>
          </a:lstStyle>
          <a:p>
            <a:pPr algn="l">
              <a:defRPr sz="1950" b="1">
                <a:solidFill>
                  <a:srgbClr val="122027"/>
                </a:solidFill>
                <a:latin typeface="Aptos Display"/>
                <a:ea typeface="Aptos Display"/>
                <a:cs typeface="Aptos Display"/>
              </a:defRPr>
            </a:pPr>
            <a:r>
              <a:rPr sz="1950" b="1">
                <a:solidFill>
                  <a:srgbClr val="122027"/>
                </a:solidFill>
                <a:latin typeface="Aptos Display"/>
                <a:ea typeface="Aptos Display"/>
                <a:cs typeface="Aptos Display"/>
              </a:rPr>
              <a:t>Teach</a:t>
            </a:r>
          </a:p>
        </p:txBody>
      </p:sp>
      <p:sp>
        <p:nvSpPr>
          <p:cNvPr id="15" name="step-2-body">
            <a:extLst>
              <a:ext uri="{FF2B5EF4-FFF2-40B4-BE49-F238E27FC236}">
                <a16:creationId xmlns:a16="http://schemas.microsoft.com/office/drawing/2014/main" id="{EEEED9DB-ED57-4BFD-9ADC-CE555559BB13}"/>
              </a:ext>
            </a:extLst>
          </p:cNvPr>
          <p:cNvSpPr>
            <a:spLocks noGrp="1"/>
          </p:cNvSpPr>
          <p:nvPr/>
        </p:nvSpPr>
        <p:spPr>
          <a:xfrm>
            <a:off x="3505200" y="4467225"/>
            <a:ext cx="2381250" cy="742950"/>
          </a:xfrm>
          <a:prstGeom prst="rect">
            <a:avLst/>
          </a:prstGeom>
          <a:noFill/>
          <a:ln w="0">
            <a:noFill/>
            <a:prstDash val="solid"/>
          </a:ln>
        </p:spPr>
        <p:txBody>
          <a:bodyPr wrap="square" lIns="0" tIns="0" rIns="0" bIns="0" anchor="t">
            <a:noAutofit/>
          </a:bodyPr>
          <a:lstStyle>
            <a:defPPr algn="l">
              <a:defRPr sz="1575" b="0">
                <a:solidFill>
                  <a:srgbClr val="5B6B72"/>
                </a:solidFill>
                <a:latin typeface="Aptos"/>
                <a:ea typeface="Aptos"/>
                <a:cs typeface="Aptos"/>
              </a:defRPr>
            </a:defPPr>
          </a:lstStyle>
          <a:p>
            <a:pPr algn="l">
              <a:defRPr sz="1575" b="0">
                <a:solidFill>
                  <a:srgbClr val="5B6B72"/>
                </a:solidFill>
                <a:latin typeface="Aptos"/>
                <a:ea typeface="Aptos"/>
                <a:cs typeface="Aptos"/>
              </a:defRPr>
            </a:pPr>
            <a:r>
              <a:rPr sz="1575" b="0">
                <a:solidFill>
                  <a:srgbClr val="5B6B72"/>
                </a:solidFill>
                <a:latin typeface="Aptos"/>
                <a:ea typeface="Aptos"/>
                <a:cs typeface="Aptos"/>
              </a:rPr>
              <a:t>Assignments, lessons,</a:t>
            </a:r>
          </a:p>
          <a:p>
            <a:pPr algn="l">
              <a:defRPr sz="1575" b="0">
                <a:solidFill>
                  <a:srgbClr val="5B6B72"/>
                </a:solidFill>
                <a:latin typeface="Aptos"/>
                <a:ea typeface="Aptos"/>
                <a:cs typeface="Aptos"/>
              </a:defRPr>
            </a:pPr>
            <a:r>
              <a:rPr sz="1575" b="0">
                <a:solidFill>
                  <a:srgbClr val="5B6B72"/>
                </a:solidFill>
                <a:latin typeface="Aptos"/>
                <a:ea typeface="Aptos"/>
                <a:cs typeface="Aptos"/>
              </a:rPr>
              <a:t>quizzes and discussions</a:t>
            </a:r>
          </a:p>
        </p:txBody>
      </p:sp>
      <p:sp>
        <p:nvSpPr>
          <p:cNvPr id="16" name="workflow-step-3">
            <a:extLst>
              <a:ext uri="{FF2B5EF4-FFF2-40B4-BE49-F238E27FC236}">
                <a16:creationId xmlns:a16="http://schemas.microsoft.com/office/drawing/2014/main" id="{4CAF2F6A-2689-4BD9-92DD-B6B150886CA9}"/>
              </a:ext>
            </a:extLst>
          </p:cNvPr>
          <p:cNvSpPr>
            <a:spLocks noGrp="1"/>
          </p:cNvSpPr>
          <p:nvPr/>
        </p:nvSpPr>
        <p:spPr>
          <a:xfrm>
            <a:off x="6305550" y="3648075"/>
            <a:ext cx="171450" cy="171450"/>
          </a:xfrm>
          <a:prstGeom prst="ellipse">
            <a:avLst/>
          </a:prstGeom>
          <a:solidFill>
            <a:srgbClr val="287C88"/>
          </a:solidFill>
          <a:ln w="28575">
            <a:solidFill>
              <a:srgbClr val="EEF5F7"/>
            </a:solidFill>
            <a:prstDash val="solid"/>
          </a:ln>
        </p:spPr>
      </p:sp>
      <p:sp>
        <p:nvSpPr>
          <p:cNvPr id="17" name="step-3-number">
            <a:extLst>
              <a:ext uri="{FF2B5EF4-FFF2-40B4-BE49-F238E27FC236}">
                <a16:creationId xmlns:a16="http://schemas.microsoft.com/office/drawing/2014/main" id="{E8409FE8-41E8-4EAF-8C01-AD409328273F}"/>
              </a:ext>
            </a:extLst>
          </p:cNvPr>
          <p:cNvSpPr>
            <a:spLocks noGrp="1"/>
          </p:cNvSpPr>
          <p:nvPr/>
        </p:nvSpPr>
        <p:spPr>
          <a:xfrm>
            <a:off x="6305550" y="3343275"/>
            <a:ext cx="571500" cy="228600"/>
          </a:xfrm>
          <a:prstGeom prst="rect">
            <a:avLst/>
          </a:prstGeom>
          <a:noFill/>
          <a:ln w="0">
            <a:noFill/>
            <a:prstDash val="solid"/>
          </a:ln>
        </p:spPr>
        <p:txBody>
          <a:bodyPr wrap="square" lIns="0" tIns="0" rIns="0" bIns="0" anchor="t">
            <a:noAutofit/>
          </a:bodyPr>
          <a:lstStyle>
            <a:defPPr algn="l">
              <a:defRPr sz="1125" b="1">
                <a:solidFill>
                  <a:srgbClr val="287C88"/>
                </a:solidFill>
                <a:latin typeface="Aptos"/>
                <a:ea typeface="Aptos"/>
                <a:cs typeface="Aptos"/>
              </a:defRPr>
            </a:defPPr>
          </a:lstStyle>
          <a:p>
            <a:pPr algn="l">
              <a:defRPr sz="1125" b="1">
                <a:solidFill>
                  <a:srgbClr val="287C88"/>
                </a:solidFill>
                <a:latin typeface="Aptos"/>
                <a:ea typeface="Aptos"/>
                <a:cs typeface="Aptos"/>
              </a:defRPr>
            </a:pPr>
            <a:r>
              <a:rPr sz="1125" b="1">
                <a:solidFill>
                  <a:srgbClr val="287C88"/>
                </a:solidFill>
                <a:latin typeface="Aptos"/>
                <a:ea typeface="Aptos"/>
                <a:cs typeface="Aptos"/>
              </a:rPr>
              <a:t>03</a:t>
            </a:r>
          </a:p>
        </p:txBody>
      </p:sp>
      <p:sp>
        <p:nvSpPr>
          <p:cNvPr id="18" name="step-3-title">
            <a:extLst>
              <a:ext uri="{FF2B5EF4-FFF2-40B4-BE49-F238E27FC236}">
                <a16:creationId xmlns:a16="http://schemas.microsoft.com/office/drawing/2014/main" id="{0C2FA9CD-D23A-4E99-9FE5-57F5EC1F414F}"/>
              </a:ext>
            </a:extLst>
          </p:cNvPr>
          <p:cNvSpPr>
            <a:spLocks noGrp="1"/>
          </p:cNvSpPr>
          <p:nvPr/>
        </p:nvSpPr>
        <p:spPr>
          <a:xfrm>
            <a:off x="6305550" y="4057650"/>
            <a:ext cx="2381250" cy="342900"/>
          </a:xfrm>
          <a:prstGeom prst="rect">
            <a:avLst/>
          </a:prstGeom>
          <a:noFill/>
          <a:ln w="0">
            <a:noFill/>
            <a:prstDash val="solid"/>
          </a:ln>
        </p:spPr>
        <p:txBody>
          <a:bodyPr wrap="square" lIns="0" tIns="0" rIns="0" bIns="0" anchor="t">
            <a:noAutofit/>
          </a:bodyPr>
          <a:lstStyle>
            <a:defPPr algn="l">
              <a:defRPr sz="1950" b="1">
                <a:solidFill>
                  <a:srgbClr val="122027"/>
                </a:solidFill>
                <a:latin typeface="Aptos Display"/>
                <a:ea typeface="Aptos Display"/>
                <a:cs typeface="Aptos Display"/>
              </a:defRPr>
            </a:defPPr>
          </a:lstStyle>
          <a:p>
            <a:pPr algn="l">
              <a:defRPr sz="1950" b="1">
                <a:solidFill>
                  <a:srgbClr val="122027"/>
                </a:solidFill>
                <a:latin typeface="Aptos Display"/>
                <a:ea typeface="Aptos Display"/>
                <a:cs typeface="Aptos Display"/>
              </a:defRPr>
            </a:pPr>
            <a:r>
              <a:rPr sz="1950" b="1">
                <a:solidFill>
                  <a:srgbClr val="122027"/>
                </a:solidFill>
                <a:latin typeface="Aptos Display"/>
                <a:ea typeface="Aptos Display"/>
                <a:cs typeface="Aptos Display"/>
              </a:rPr>
              <a:t>Review</a:t>
            </a:r>
          </a:p>
        </p:txBody>
      </p:sp>
      <p:sp>
        <p:nvSpPr>
          <p:cNvPr id="19" name="step-3-body">
            <a:extLst>
              <a:ext uri="{FF2B5EF4-FFF2-40B4-BE49-F238E27FC236}">
                <a16:creationId xmlns:a16="http://schemas.microsoft.com/office/drawing/2014/main" id="{D69C3FD2-8E6B-4F71-B304-DFB802DBD382}"/>
              </a:ext>
            </a:extLst>
          </p:cNvPr>
          <p:cNvSpPr>
            <a:spLocks noGrp="1"/>
          </p:cNvSpPr>
          <p:nvPr/>
        </p:nvSpPr>
        <p:spPr>
          <a:xfrm>
            <a:off x="6305550" y="4467225"/>
            <a:ext cx="2381250" cy="742950"/>
          </a:xfrm>
          <a:prstGeom prst="rect">
            <a:avLst/>
          </a:prstGeom>
          <a:noFill/>
          <a:ln w="0">
            <a:noFill/>
            <a:prstDash val="solid"/>
          </a:ln>
        </p:spPr>
        <p:txBody>
          <a:bodyPr wrap="square" lIns="0" tIns="0" rIns="0" bIns="0" anchor="t">
            <a:noAutofit/>
          </a:bodyPr>
          <a:lstStyle>
            <a:defPPr algn="l">
              <a:defRPr sz="1575" b="0">
                <a:solidFill>
                  <a:srgbClr val="5B6B72"/>
                </a:solidFill>
                <a:latin typeface="Aptos"/>
                <a:ea typeface="Aptos"/>
                <a:cs typeface="Aptos"/>
              </a:defRPr>
            </a:defPPr>
          </a:lstStyle>
          <a:p>
            <a:pPr algn="l">
              <a:defRPr sz="1575" b="0">
                <a:solidFill>
                  <a:srgbClr val="5B6B72"/>
                </a:solidFill>
                <a:latin typeface="Aptos"/>
                <a:ea typeface="Aptos"/>
                <a:cs typeface="Aptos"/>
              </a:defRPr>
            </a:pPr>
            <a:r>
              <a:rPr sz="1575" b="0">
                <a:solidFill>
                  <a:srgbClr val="5B6B72"/>
                </a:solidFill>
                <a:latin typeface="Aptos"/>
                <a:ea typeface="Aptos"/>
                <a:cs typeface="Aptos"/>
              </a:rPr>
              <a:t>Term reports, analytics</a:t>
            </a:r>
          </a:p>
          <a:p>
            <a:pPr algn="l">
              <a:defRPr sz="1575" b="0">
                <a:solidFill>
                  <a:srgbClr val="5B6B72"/>
                </a:solidFill>
                <a:latin typeface="Aptos"/>
                <a:ea typeface="Aptos"/>
                <a:cs typeface="Aptos"/>
              </a:defRPr>
            </a:pPr>
            <a:r>
              <a:rPr sz="1575" b="0">
                <a:solidFill>
                  <a:srgbClr val="5B6B72"/>
                </a:solidFill>
                <a:latin typeface="Aptos"/>
                <a:ea typeface="Aptos"/>
                <a:cs typeface="Aptos"/>
              </a:rPr>
              <a:t>and teacher remarks</a:t>
            </a:r>
          </a:p>
        </p:txBody>
      </p:sp>
      <p:sp>
        <p:nvSpPr>
          <p:cNvPr id="20" name="workflow-step-4">
            <a:extLst>
              <a:ext uri="{FF2B5EF4-FFF2-40B4-BE49-F238E27FC236}">
                <a16:creationId xmlns:a16="http://schemas.microsoft.com/office/drawing/2014/main" id="{A844B94C-73CD-4644-8CDA-22862F62FA09}"/>
              </a:ext>
            </a:extLst>
          </p:cNvPr>
          <p:cNvSpPr>
            <a:spLocks noGrp="1"/>
          </p:cNvSpPr>
          <p:nvPr/>
        </p:nvSpPr>
        <p:spPr>
          <a:xfrm>
            <a:off x="9105900" y="3648075"/>
            <a:ext cx="171450" cy="171450"/>
          </a:xfrm>
          <a:prstGeom prst="ellipse">
            <a:avLst/>
          </a:prstGeom>
          <a:solidFill>
            <a:srgbClr val="287C88"/>
          </a:solidFill>
          <a:ln w="28575">
            <a:solidFill>
              <a:srgbClr val="EEF5F7"/>
            </a:solidFill>
            <a:prstDash val="solid"/>
          </a:ln>
        </p:spPr>
      </p:sp>
      <p:sp>
        <p:nvSpPr>
          <p:cNvPr id="21" name="step-4-number">
            <a:extLst>
              <a:ext uri="{FF2B5EF4-FFF2-40B4-BE49-F238E27FC236}">
                <a16:creationId xmlns:a16="http://schemas.microsoft.com/office/drawing/2014/main" id="{0BA3049B-F9BB-4A73-B053-215E3D65DE68}"/>
              </a:ext>
            </a:extLst>
          </p:cNvPr>
          <p:cNvSpPr>
            <a:spLocks noGrp="1"/>
          </p:cNvSpPr>
          <p:nvPr/>
        </p:nvSpPr>
        <p:spPr>
          <a:xfrm>
            <a:off x="9105900" y="3343275"/>
            <a:ext cx="571500" cy="228600"/>
          </a:xfrm>
          <a:prstGeom prst="rect">
            <a:avLst/>
          </a:prstGeom>
          <a:noFill/>
          <a:ln w="0">
            <a:noFill/>
            <a:prstDash val="solid"/>
          </a:ln>
        </p:spPr>
        <p:txBody>
          <a:bodyPr wrap="square" lIns="0" tIns="0" rIns="0" bIns="0" anchor="t">
            <a:noAutofit/>
          </a:bodyPr>
          <a:lstStyle>
            <a:defPPr algn="l">
              <a:defRPr sz="1125" b="1">
                <a:solidFill>
                  <a:srgbClr val="287C88"/>
                </a:solidFill>
                <a:latin typeface="Aptos"/>
                <a:ea typeface="Aptos"/>
                <a:cs typeface="Aptos"/>
              </a:defRPr>
            </a:defPPr>
          </a:lstStyle>
          <a:p>
            <a:pPr algn="l">
              <a:defRPr sz="1125" b="1">
                <a:solidFill>
                  <a:srgbClr val="287C88"/>
                </a:solidFill>
                <a:latin typeface="Aptos"/>
                <a:ea typeface="Aptos"/>
                <a:cs typeface="Aptos"/>
              </a:defRPr>
            </a:pPr>
            <a:r>
              <a:rPr sz="1125" b="1">
                <a:solidFill>
                  <a:srgbClr val="287C88"/>
                </a:solidFill>
                <a:latin typeface="Aptos"/>
                <a:ea typeface="Aptos"/>
                <a:cs typeface="Aptos"/>
              </a:rPr>
              <a:t>04</a:t>
            </a:r>
          </a:p>
        </p:txBody>
      </p:sp>
      <p:sp>
        <p:nvSpPr>
          <p:cNvPr id="22" name="step-4-title">
            <a:extLst>
              <a:ext uri="{FF2B5EF4-FFF2-40B4-BE49-F238E27FC236}">
                <a16:creationId xmlns:a16="http://schemas.microsoft.com/office/drawing/2014/main" id="{49364952-5A8D-437D-8437-3C0FACE3AE8F}"/>
              </a:ext>
            </a:extLst>
          </p:cNvPr>
          <p:cNvSpPr>
            <a:spLocks noGrp="1"/>
          </p:cNvSpPr>
          <p:nvPr/>
        </p:nvSpPr>
        <p:spPr>
          <a:xfrm>
            <a:off x="9105900" y="4057650"/>
            <a:ext cx="2381250" cy="342900"/>
          </a:xfrm>
          <a:prstGeom prst="rect">
            <a:avLst/>
          </a:prstGeom>
          <a:noFill/>
          <a:ln w="0">
            <a:noFill/>
            <a:prstDash val="solid"/>
          </a:ln>
        </p:spPr>
        <p:txBody>
          <a:bodyPr wrap="square" lIns="0" tIns="0" rIns="0" bIns="0" anchor="t">
            <a:noAutofit/>
          </a:bodyPr>
          <a:lstStyle>
            <a:defPPr algn="l">
              <a:defRPr sz="1950" b="1">
                <a:solidFill>
                  <a:srgbClr val="122027"/>
                </a:solidFill>
                <a:latin typeface="Aptos Display"/>
                <a:ea typeface="Aptos Display"/>
                <a:cs typeface="Aptos Display"/>
              </a:defRPr>
            </a:defPPr>
          </a:lstStyle>
          <a:p>
            <a:pPr algn="l">
              <a:defRPr sz="1950" b="1">
                <a:solidFill>
                  <a:srgbClr val="122027"/>
                </a:solidFill>
                <a:latin typeface="Aptos Display"/>
                <a:ea typeface="Aptos Display"/>
                <a:cs typeface="Aptos Display"/>
              </a:defRPr>
            </a:pPr>
            <a:r>
              <a:rPr sz="1950" b="1">
                <a:solidFill>
                  <a:srgbClr val="122027"/>
                </a:solidFill>
                <a:latin typeface="Aptos Display"/>
                <a:ea typeface="Aptos Display"/>
                <a:cs typeface="Aptos Display"/>
              </a:rPr>
              <a:t>Progress</a:t>
            </a:r>
          </a:p>
        </p:txBody>
      </p:sp>
      <p:sp>
        <p:nvSpPr>
          <p:cNvPr id="23" name="step-4-body">
            <a:extLst>
              <a:ext uri="{FF2B5EF4-FFF2-40B4-BE49-F238E27FC236}">
                <a16:creationId xmlns:a16="http://schemas.microsoft.com/office/drawing/2014/main" id="{27165FE7-5C35-4C3D-A322-9E7C427CD7C8}"/>
              </a:ext>
            </a:extLst>
          </p:cNvPr>
          <p:cNvSpPr>
            <a:spLocks noGrp="1"/>
          </p:cNvSpPr>
          <p:nvPr/>
        </p:nvSpPr>
        <p:spPr>
          <a:xfrm>
            <a:off x="9105900" y="4467225"/>
            <a:ext cx="2381250" cy="742950"/>
          </a:xfrm>
          <a:prstGeom prst="rect">
            <a:avLst/>
          </a:prstGeom>
          <a:noFill/>
          <a:ln w="0">
            <a:noFill/>
            <a:prstDash val="solid"/>
          </a:ln>
        </p:spPr>
        <p:txBody>
          <a:bodyPr wrap="square" lIns="0" tIns="0" rIns="0" bIns="0" anchor="t">
            <a:noAutofit/>
          </a:bodyPr>
          <a:lstStyle>
            <a:defPPr algn="l">
              <a:defRPr sz="1575" b="0">
                <a:solidFill>
                  <a:srgbClr val="5B6B72"/>
                </a:solidFill>
                <a:latin typeface="Aptos"/>
                <a:ea typeface="Aptos"/>
                <a:cs typeface="Aptos"/>
              </a:defRPr>
            </a:defPPr>
          </a:lstStyle>
          <a:p>
            <a:pPr algn="l">
              <a:defRPr sz="1575" b="0">
                <a:solidFill>
                  <a:srgbClr val="5B6B72"/>
                </a:solidFill>
                <a:latin typeface="Aptos"/>
                <a:ea typeface="Aptos"/>
                <a:cs typeface="Aptos"/>
              </a:defRPr>
            </a:pPr>
            <a:r>
              <a:rPr sz="1575" b="0">
                <a:solidFill>
                  <a:srgbClr val="5B6B72"/>
                </a:solidFill>
                <a:latin typeface="Aptos"/>
                <a:ea typeface="Aptos"/>
                <a:cs typeface="Aptos"/>
              </a:rPr>
              <a:t>Promotion decisions</a:t>
            </a:r>
          </a:p>
          <a:p>
            <a:pPr algn="l">
              <a:defRPr sz="1575" b="0">
                <a:solidFill>
                  <a:srgbClr val="5B6B72"/>
                </a:solidFill>
                <a:latin typeface="Aptos"/>
                <a:ea typeface="Aptos"/>
                <a:cs typeface="Aptos"/>
              </a:defRPr>
            </a:pPr>
            <a:r>
              <a:rPr sz="1575" b="0">
                <a:solidFill>
                  <a:srgbClr val="5B6B72"/>
                </a:solidFill>
                <a:latin typeface="Aptos"/>
                <a:ea typeface="Aptos"/>
                <a:cs typeface="Aptos"/>
              </a:rPr>
              <a:t>and family visibility</a:t>
            </a:r>
          </a:p>
        </p:txBody>
      </p:sp>
      <p:sp>
        <p:nvSpPr>
          <p:cNvPr id="24" name="audience-rule">
            <a:extLst>
              <a:ext uri="{FF2B5EF4-FFF2-40B4-BE49-F238E27FC236}">
                <a16:creationId xmlns:a16="http://schemas.microsoft.com/office/drawing/2014/main" id="{C789514A-AE21-418C-915B-1D7B29D52210}"/>
              </a:ext>
            </a:extLst>
          </p:cNvPr>
          <p:cNvSpPr>
            <a:spLocks noGrp="1"/>
          </p:cNvSpPr>
          <p:nvPr/>
        </p:nvSpPr>
        <p:spPr>
          <a:xfrm>
            <a:off x="609600" y="5915025"/>
            <a:ext cx="10972800" cy="0"/>
          </a:xfrm>
          <a:prstGeom prst="line">
            <a:avLst/>
          </a:prstGeom>
          <a:noFill/>
          <a:ln w="9525">
            <a:solidFill>
              <a:srgbClr val="BCD5DA"/>
            </a:solidFill>
            <a:prstDash val="solid"/>
          </a:ln>
        </p:spPr>
      </p:sp>
      <p:sp>
        <p:nvSpPr>
          <p:cNvPr id="25" name="audiences">
            <a:extLst>
              <a:ext uri="{FF2B5EF4-FFF2-40B4-BE49-F238E27FC236}">
                <a16:creationId xmlns:a16="http://schemas.microsoft.com/office/drawing/2014/main" id="{76C84146-C9A3-4A97-B7FD-CCBE3E42BDB2}"/>
              </a:ext>
            </a:extLst>
          </p:cNvPr>
          <p:cNvSpPr>
            <a:spLocks noGrp="1"/>
          </p:cNvSpPr>
          <p:nvPr/>
        </p:nvSpPr>
        <p:spPr>
          <a:xfrm>
            <a:off x="628650" y="6105525"/>
            <a:ext cx="10001250" cy="323850"/>
          </a:xfrm>
          <a:prstGeom prst="rect">
            <a:avLst/>
          </a:prstGeom>
          <a:noFill/>
          <a:ln w="0">
            <a:noFill/>
            <a:prstDash val="solid"/>
          </a:ln>
        </p:spPr>
        <p:txBody>
          <a:bodyPr wrap="square" lIns="0" tIns="0" rIns="0" bIns="0" anchor="t">
            <a:noAutofit/>
          </a:bodyPr>
          <a:lstStyle>
            <a:defPPr algn="l">
              <a:defRPr sz="1350" b="0">
                <a:solidFill>
                  <a:srgbClr val="5B6B72"/>
                </a:solidFill>
                <a:latin typeface="Aptos"/>
                <a:ea typeface="Aptos"/>
                <a:cs typeface="Aptos"/>
              </a:defRPr>
            </a:defPPr>
          </a:lstStyle>
          <a:p>
            <a:pPr algn="l">
              <a:defRPr sz="1350" b="0">
                <a:solidFill>
                  <a:srgbClr val="5B6B72"/>
                </a:solidFill>
                <a:latin typeface="Aptos"/>
                <a:ea typeface="Aptos"/>
                <a:cs typeface="Aptos"/>
              </a:defRPr>
            </a:pPr>
            <a:r>
              <a:rPr sz="1350" b="0">
                <a:solidFill>
                  <a:srgbClr val="5B6B72"/>
                </a:solidFill>
                <a:latin typeface="Aptos"/>
                <a:ea typeface="Aptos"/>
                <a:cs typeface="Aptos"/>
              </a:rPr>
              <a:t>One shared school record for administrators, teachers, students and parents.</a:t>
            </a:r>
          </a:p>
        </p:txBody>
      </p:sp>
    </p:spTree>
    <p:extLst>
      <p:ext uri="{BB962C8B-B14F-4D97-AF65-F5344CB8AC3E}">
        <p14:creationId xmlns:p14="http://schemas.microsoft.com/office/powerpoint/2010/main" val="172442254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EEF5F7"/>
        </a:solidFill>
        <a:effectLst/>
      </p:bgPr>
    </p:bg>
    <p:spTree>
      <p:nvGrpSpPr>
        <p:cNvPr id="1" name=""/>
        <p:cNvGrpSpPr/>
        <p:nvPr/>
      </p:nvGrpSpPr>
      <p:grpSpPr>
        <a:xfrm>
          <a:off x="0" y="0"/>
          <a:ext cx="0" cy="0"/>
          <a:chOff x="0" y="0"/>
          <a:chExt cx="0" cy="0"/>
        </a:xfrm>
      </p:grpSpPr>
      <p:sp>
        <p:nvSpPr>
          <p:cNvPr id="20" name="brand-dot">
            <a:extLst>
              <a:ext uri="{FF2B5EF4-FFF2-40B4-BE49-F238E27FC236}">
                <a16:creationId xmlns:a16="http://schemas.microsoft.com/office/drawing/2014/main" id="{42EF9EE3-929D-4973-9F2E-918BFB4B8056}"/>
              </a:ext>
            </a:extLst>
          </p:cNvPr>
          <p:cNvSpPr>
            <a:spLocks noGrp="1"/>
          </p:cNvSpPr>
          <p:nvPr/>
        </p:nvSpPr>
        <p:spPr>
          <a:xfrm>
            <a:off x="457200" y="428625"/>
            <a:ext cx="104775" cy="104775"/>
          </a:xfrm>
          <a:prstGeom prst="ellipse">
            <a:avLst/>
          </a:prstGeom>
          <a:solidFill>
            <a:srgbClr val="287C88"/>
          </a:solidFill>
          <a:ln w="0">
            <a:noFill/>
            <a:prstDash val="solid"/>
          </a:ln>
        </p:spPr>
      </p:sp>
      <p:sp>
        <p:nvSpPr>
          <p:cNvPr id="2" name="brand">
            <a:extLst>
              <a:ext uri="{FF2B5EF4-FFF2-40B4-BE49-F238E27FC236}">
                <a16:creationId xmlns:a16="http://schemas.microsoft.com/office/drawing/2014/main" id="{61AEF714-7342-4C4E-9409-B8ABD51A542E}"/>
              </a:ext>
            </a:extLst>
          </p:cNvPr>
          <p:cNvSpPr>
            <a:spLocks noGrp="1"/>
          </p:cNvSpPr>
          <p:nvPr/>
        </p:nvSpPr>
        <p:spPr>
          <a:xfrm>
            <a:off x="723900" y="352425"/>
            <a:ext cx="1381125" cy="285750"/>
          </a:xfrm>
          <a:prstGeom prst="rect">
            <a:avLst/>
          </a:prstGeom>
          <a:noFill/>
          <a:ln w="0">
            <a:noFill/>
            <a:prstDash val="solid"/>
          </a:ln>
        </p:spPr>
        <p:txBody>
          <a:bodyPr wrap="square" lIns="0" tIns="0" rIns="0" bIns="0" anchor="t">
            <a:noAutofit/>
          </a:bodyPr>
          <a:lstStyle>
            <a:defPPr algn="l">
              <a:defRPr sz="1125" b="1">
                <a:solidFill>
                  <a:srgbClr val="5B6B72"/>
                </a:solidFill>
                <a:latin typeface="Aptos"/>
                <a:ea typeface="Aptos"/>
                <a:cs typeface="Aptos"/>
              </a:defRPr>
            </a:defPPr>
          </a:lstStyle>
          <a:p>
            <a:pPr algn="l">
              <a:defRPr sz="1125" b="1">
                <a:solidFill>
                  <a:srgbClr val="5B6B72"/>
                </a:solidFill>
                <a:latin typeface="Aptos"/>
                <a:ea typeface="Aptos"/>
                <a:cs typeface="Aptos"/>
              </a:defRPr>
            </a:pPr>
            <a:r>
              <a:rPr lang="en-US" sz="1125" b="1" dirty="0">
                <a:solidFill>
                  <a:srgbClr val="5B6B72"/>
                </a:solidFill>
                <a:latin typeface="Aptos"/>
                <a:ea typeface="Aptos"/>
                <a:cs typeface="Aptos"/>
              </a:rPr>
              <a:t>HMA</a:t>
            </a:r>
            <a:endParaRPr sz="1125" b="1" dirty="0">
              <a:solidFill>
                <a:srgbClr val="5B6B72"/>
              </a:solidFill>
              <a:latin typeface="Aptos"/>
              <a:ea typeface="Aptos"/>
              <a:cs typeface="Aptos"/>
            </a:endParaRPr>
          </a:p>
        </p:txBody>
      </p:sp>
      <p:sp>
        <p:nvSpPr>
          <p:cNvPr id="3" name="category">
            <a:extLst>
              <a:ext uri="{FF2B5EF4-FFF2-40B4-BE49-F238E27FC236}">
                <a16:creationId xmlns:a16="http://schemas.microsoft.com/office/drawing/2014/main" id="{24BA056B-1D7D-4E52-A1A3-DBD91DAF5E5C}"/>
              </a:ext>
            </a:extLst>
          </p:cNvPr>
          <p:cNvSpPr>
            <a:spLocks noGrp="1"/>
          </p:cNvSpPr>
          <p:nvPr/>
        </p:nvSpPr>
        <p:spPr>
          <a:xfrm>
            <a:off x="2133600" y="352425"/>
            <a:ext cx="3429000" cy="285750"/>
          </a:xfrm>
          <a:prstGeom prst="rect">
            <a:avLst/>
          </a:prstGeom>
          <a:noFill/>
          <a:ln w="0">
            <a:noFill/>
            <a:prstDash val="solid"/>
          </a:ln>
        </p:spPr>
        <p:txBody>
          <a:bodyPr wrap="square" lIns="0" tIns="0" rIns="0" bIns="0" anchor="t">
            <a:noAutofit/>
          </a:bodyPr>
          <a:lstStyle>
            <a:defPPr algn="l">
              <a:defRPr sz="1050" b="0">
                <a:solidFill>
                  <a:srgbClr val="5B6B72"/>
                </a:solidFill>
                <a:latin typeface="Aptos"/>
                <a:ea typeface="Aptos"/>
                <a:cs typeface="Aptos"/>
              </a:defRPr>
            </a:defPPr>
          </a:lstStyle>
          <a:p>
            <a:pPr algn="l">
              <a:defRPr sz="1050" b="0">
                <a:solidFill>
                  <a:srgbClr val="5B6B72"/>
                </a:solidFill>
                <a:latin typeface="Aptos"/>
                <a:ea typeface="Aptos"/>
                <a:cs typeface="Aptos"/>
              </a:defRPr>
            </a:pPr>
            <a:r>
              <a:rPr sz="1050" b="0">
                <a:solidFill>
                  <a:srgbClr val="5B6B72"/>
                </a:solidFill>
                <a:latin typeface="Aptos"/>
                <a:ea typeface="Aptos"/>
                <a:cs typeface="Aptos"/>
              </a:rPr>
              <a:t>SECONDARY SCHOOL MANAGEMENT</a:t>
            </a:r>
          </a:p>
        </p:txBody>
      </p:sp>
      <p:sp>
        <p:nvSpPr>
          <p:cNvPr id="4" name="page-number">
            <a:extLst>
              <a:ext uri="{FF2B5EF4-FFF2-40B4-BE49-F238E27FC236}">
                <a16:creationId xmlns:a16="http://schemas.microsoft.com/office/drawing/2014/main" id="{921BCC6A-C2B7-455F-B6FB-CF9032A43CB5}"/>
              </a:ext>
            </a:extLst>
          </p:cNvPr>
          <p:cNvSpPr>
            <a:spLocks noGrp="1"/>
          </p:cNvSpPr>
          <p:nvPr/>
        </p:nvSpPr>
        <p:spPr>
          <a:xfrm>
            <a:off x="11049000" y="342900"/>
            <a:ext cx="609600" cy="266700"/>
          </a:xfrm>
          <a:prstGeom prst="rect">
            <a:avLst/>
          </a:prstGeom>
          <a:noFill/>
          <a:ln w="0">
            <a:noFill/>
            <a:prstDash val="solid"/>
          </a:ln>
        </p:spPr>
        <p:txBody>
          <a:bodyPr wrap="square" lIns="0" tIns="0" rIns="0" bIns="0" anchor="t">
            <a:noAutofit/>
          </a:bodyPr>
          <a:lstStyle>
            <a:defPPr algn="r">
              <a:defRPr sz="1050" b="0">
                <a:solidFill>
                  <a:srgbClr val="5B6B72"/>
                </a:solidFill>
                <a:latin typeface="Aptos"/>
                <a:ea typeface="Aptos"/>
                <a:cs typeface="Aptos"/>
              </a:defRPr>
            </a:defPPr>
          </a:lstStyle>
          <a:p>
            <a:pPr algn="r">
              <a:defRPr sz="1050" b="0">
                <a:solidFill>
                  <a:srgbClr val="5B6B72"/>
                </a:solidFill>
                <a:latin typeface="Aptos"/>
                <a:ea typeface="Aptos"/>
                <a:cs typeface="Aptos"/>
              </a:defRPr>
            </a:pPr>
            <a:r>
              <a:rPr sz="1050" b="0">
                <a:solidFill>
                  <a:srgbClr val="5B6B72"/>
                </a:solidFill>
                <a:latin typeface="Aptos"/>
                <a:ea typeface="Aptos"/>
                <a:cs typeface="Aptos"/>
              </a:rPr>
              <a:t>02</a:t>
            </a:r>
          </a:p>
        </p:txBody>
      </p:sp>
      <p:sp>
        <p:nvSpPr>
          <p:cNvPr id="5" name="title">
            <a:extLst>
              <a:ext uri="{FF2B5EF4-FFF2-40B4-BE49-F238E27FC236}">
                <a16:creationId xmlns:a16="http://schemas.microsoft.com/office/drawing/2014/main" id="{3C706256-0E73-419A-B4F6-207EE761618D}"/>
              </a:ext>
            </a:extLst>
          </p:cNvPr>
          <p:cNvSpPr>
            <a:spLocks noGrp="1"/>
          </p:cNvSpPr>
          <p:nvPr/>
        </p:nvSpPr>
        <p:spPr>
          <a:xfrm>
            <a:off x="609600" y="876300"/>
            <a:ext cx="9906000" cy="590550"/>
          </a:xfrm>
          <a:prstGeom prst="rect">
            <a:avLst/>
          </a:prstGeom>
          <a:noFill/>
          <a:ln w="0">
            <a:noFill/>
            <a:prstDash val="solid"/>
          </a:ln>
        </p:spPr>
        <p:txBody>
          <a:bodyPr wrap="square" lIns="0" tIns="0" rIns="0" bIns="0" anchor="t">
            <a:noAutofit/>
          </a:bodyPr>
          <a:lstStyle>
            <a:defPPr algn="l">
              <a:defRPr sz="3150" b="1">
                <a:solidFill>
                  <a:srgbClr val="122027"/>
                </a:solidFill>
                <a:latin typeface="Aptos Display"/>
                <a:ea typeface="Aptos Display"/>
                <a:cs typeface="Aptos Display"/>
              </a:defRPr>
            </a:defPPr>
          </a:lstStyle>
          <a:p>
            <a:pPr algn="l">
              <a:defRPr sz="3150" b="1">
                <a:solidFill>
                  <a:srgbClr val="122027"/>
                </a:solidFill>
                <a:latin typeface="Aptos Display"/>
                <a:ea typeface="Aptos Display"/>
                <a:cs typeface="Aptos Display"/>
              </a:defRPr>
            </a:pPr>
            <a:r>
              <a:rPr sz="3150" b="1">
                <a:solidFill>
                  <a:srgbClr val="122027"/>
                </a:solidFill>
                <a:latin typeface="Aptos Display"/>
                <a:ea typeface="Aptos Display"/>
                <a:cs typeface="Aptos Display"/>
              </a:rPr>
              <a:t>Each role sees the work they own</a:t>
            </a:r>
          </a:p>
        </p:txBody>
      </p:sp>
      <p:sp>
        <p:nvSpPr>
          <p:cNvPr id="6" name="subtitle">
            <a:extLst>
              <a:ext uri="{FF2B5EF4-FFF2-40B4-BE49-F238E27FC236}">
                <a16:creationId xmlns:a16="http://schemas.microsoft.com/office/drawing/2014/main" id="{07DB30A5-17C1-4183-8827-92D01284DC57}"/>
              </a:ext>
            </a:extLst>
          </p:cNvPr>
          <p:cNvSpPr>
            <a:spLocks noGrp="1"/>
          </p:cNvSpPr>
          <p:nvPr/>
        </p:nvSpPr>
        <p:spPr>
          <a:xfrm>
            <a:off x="628650" y="1504950"/>
            <a:ext cx="10001250" cy="514350"/>
          </a:xfrm>
          <a:prstGeom prst="rect">
            <a:avLst/>
          </a:prstGeom>
          <a:noFill/>
          <a:ln w="0">
            <a:noFill/>
            <a:prstDash val="solid"/>
          </a:ln>
        </p:spPr>
        <p:txBody>
          <a:bodyPr wrap="square" lIns="0" tIns="0" rIns="0" bIns="0" anchor="t">
            <a:noAutofit/>
          </a:bodyPr>
          <a:lstStyle>
            <a:defPPr algn="l">
              <a:defRPr sz="1650" b="0">
                <a:solidFill>
                  <a:srgbClr val="5B6B72"/>
                </a:solidFill>
                <a:latin typeface="Aptos"/>
                <a:ea typeface="Aptos"/>
                <a:cs typeface="Aptos"/>
              </a:defRPr>
            </a:defPPr>
          </a:lstStyle>
          <a:p>
            <a:pPr algn="l">
              <a:defRPr sz="1650" b="0">
                <a:solidFill>
                  <a:srgbClr val="5B6B72"/>
                </a:solidFill>
                <a:latin typeface="Aptos"/>
                <a:ea typeface="Aptos"/>
                <a:cs typeface="Aptos"/>
              </a:defRPr>
            </a:pPr>
            <a:r>
              <a:rPr sz="1650" b="0">
                <a:solidFill>
                  <a:srgbClr val="5B6B72"/>
                </a:solidFill>
                <a:latin typeface="Aptos"/>
                <a:ea typeface="Aptos"/>
                <a:cs typeface="Aptos"/>
              </a:rPr>
              <a:t>One student record supports school administration, classroom work and family visibility.</a:t>
            </a:r>
          </a:p>
        </p:txBody>
      </p:sp>
      <p:sp>
        <p:nvSpPr>
          <p:cNvPr id="7" name="footer-rule">
            <a:extLst>
              <a:ext uri="{FF2B5EF4-FFF2-40B4-BE49-F238E27FC236}">
                <a16:creationId xmlns:a16="http://schemas.microsoft.com/office/drawing/2014/main" id="{5CB92783-D3B3-44D1-B822-A640081DB180}"/>
              </a:ext>
            </a:extLst>
          </p:cNvPr>
          <p:cNvSpPr>
            <a:spLocks noGrp="1"/>
          </p:cNvSpPr>
          <p:nvPr/>
        </p:nvSpPr>
        <p:spPr>
          <a:xfrm>
            <a:off x="609600" y="6343650"/>
            <a:ext cx="10972800" cy="0"/>
          </a:xfrm>
          <a:prstGeom prst="line">
            <a:avLst/>
          </a:prstGeom>
          <a:noFill/>
          <a:ln w="9525">
            <a:solidFill>
              <a:srgbClr val="BCD5DA"/>
            </a:solidFill>
            <a:prstDash val="solid"/>
          </a:ln>
        </p:spPr>
      </p:sp>
      <p:sp>
        <p:nvSpPr>
          <p:cNvPr id="8" name="footer">
            <a:extLst>
              <a:ext uri="{FF2B5EF4-FFF2-40B4-BE49-F238E27FC236}">
                <a16:creationId xmlns:a16="http://schemas.microsoft.com/office/drawing/2014/main" id="{F341C1D3-FE08-4B84-B02C-DE12940217AF}"/>
              </a:ext>
            </a:extLst>
          </p:cNvPr>
          <p:cNvSpPr>
            <a:spLocks noGrp="1"/>
          </p:cNvSpPr>
          <p:nvPr/>
        </p:nvSpPr>
        <p:spPr>
          <a:xfrm>
            <a:off x="628650" y="6429375"/>
            <a:ext cx="6477000" cy="190500"/>
          </a:xfrm>
          <a:prstGeom prst="rect">
            <a:avLst/>
          </a:prstGeom>
          <a:noFill/>
          <a:ln w="0">
            <a:noFill/>
            <a:prstDash val="solid"/>
          </a:ln>
        </p:spPr>
        <p:txBody>
          <a:bodyPr wrap="square" lIns="0" tIns="0" rIns="0" bIns="0" anchor="t">
            <a:noAutofit/>
          </a:bodyPr>
          <a:lstStyle>
            <a:defPPr algn="l">
              <a:defRPr sz="825" b="0">
                <a:solidFill>
                  <a:srgbClr val="5B6B72"/>
                </a:solidFill>
                <a:latin typeface="Aptos"/>
                <a:ea typeface="Aptos"/>
                <a:cs typeface="Aptos"/>
              </a:defRPr>
            </a:defPPr>
          </a:lstStyle>
          <a:p>
            <a:pPr algn="l">
              <a:defRPr sz="825" b="0">
                <a:solidFill>
                  <a:srgbClr val="5B6B72"/>
                </a:solidFill>
                <a:latin typeface="Aptos"/>
                <a:ea typeface="Aptos"/>
                <a:cs typeface="Aptos"/>
              </a:defRPr>
            </a:pPr>
            <a:r>
              <a:rPr lang="en-US" sz="825" b="0" dirty="0">
                <a:solidFill>
                  <a:srgbClr val="5B6B72"/>
                </a:solidFill>
                <a:latin typeface="Aptos"/>
                <a:ea typeface="Aptos"/>
                <a:cs typeface="Aptos"/>
              </a:rPr>
              <a:t>HMA</a:t>
            </a:r>
            <a:r>
              <a:rPr sz="825" b="0" dirty="0">
                <a:solidFill>
                  <a:srgbClr val="5B6B72"/>
                </a:solidFill>
                <a:latin typeface="Aptos"/>
                <a:ea typeface="Aptos"/>
                <a:cs typeface="Aptos"/>
              </a:rPr>
              <a:t>  ·  NIGERIAN SECONDARY SCHOOLS</a:t>
            </a:r>
          </a:p>
        </p:txBody>
      </p:sp>
      <p:sp>
        <p:nvSpPr>
          <p:cNvPr id="9" name="role-1">
            <a:extLst>
              <a:ext uri="{FF2B5EF4-FFF2-40B4-BE49-F238E27FC236}">
                <a16:creationId xmlns:a16="http://schemas.microsoft.com/office/drawing/2014/main" id="{0F0619B9-9570-4F18-98CA-E1B059FFAA60}"/>
              </a:ext>
            </a:extLst>
          </p:cNvPr>
          <p:cNvSpPr>
            <a:spLocks noGrp="1"/>
          </p:cNvSpPr>
          <p:nvPr/>
        </p:nvSpPr>
        <p:spPr>
          <a:xfrm>
            <a:off x="723900" y="2324100"/>
            <a:ext cx="2428875" cy="323850"/>
          </a:xfrm>
          <a:prstGeom prst="rect">
            <a:avLst/>
          </a:prstGeom>
          <a:noFill/>
          <a:ln w="0">
            <a:noFill/>
            <a:prstDash val="solid"/>
          </a:ln>
        </p:spPr>
        <p:txBody>
          <a:bodyPr wrap="square" lIns="0" tIns="0" rIns="0" bIns="0" anchor="t">
            <a:noAutofit/>
          </a:bodyPr>
          <a:lstStyle>
            <a:defPPr algn="l">
              <a:defRPr sz="1200" b="1">
                <a:solidFill>
                  <a:srgbClr val="287C88"/>
                </a:solidFill>
                <a:latin typeface="Aptos"/>
                <a:ea typeface="Aptos"/>
                <a:cs typeface="Aptos"/>
              </a:defRPr>
            </a:defPPr>
          </a:lstStyle>
          <a:p>
            <a:pPr algn="l">
              <a:defRPr sz="1200" b="1">
                <a:solidFill>
                  <a:srgbClr val="287C88"/>
                </a:solidFill>
                <a:latin typeface="Aptos"/>
                <a:ea typeface="Aptos"/>
                <a:cs typeface="Aptos"/>
              </a:defRPr>
            </a:pPr>
            <a:r>
              <a:rPr sz="1200" b="1">
                <a:solidFill>
                  <a:srgbClr val="287C88"/>
                </a:solidFill>
                <a:latin typeface="Aptos"/>
                <a:ea typeface="Aptos"/>
                <a:cs typeface="Aptos"/>
              </a:rPr>
              <a:t>ADMINISTRATOR</a:t>
            </a:r>
          </a:p>
        </p:txBody>
      </p:sp>
      <p:sp>
        <p:nvSpPr>
          <p:cNvPr id="10" name="role-description-1">
            <a:extLst>
              <a:ext uri="{FF2B5EF4-FFF2-40B4-BE49-F238E27FC236}">
                <a16:creationId xmlns:a16="http://schemas.microsoft.com/office/drawing/2014/main" id="{0D74C181-40F2-4CD7-9BE7-C6C5C313D448}"/>
              </a:ext>
            </a:extLst>
          </p:cNvPr>
          <p:cNvSpPr>
            <a:spLocks noGrp="1"/>
          </p:cNvSpPr>
          <p:nvPr/>
        </p:nvSpPr>
        <p:spPr>
          <a:xfrm>
            <a:off x="3429000" y="2295525"/>
            <a:ext cx="8001000" cy="647700"/>
          </a:xfrm>
          <a:prstGeom prst="rect">
            <a:avLst/>
          </a:prstGeom>
          <a:noFill/>
          <a:ln w="0">
            <a:noFill/>
            <a:prstDash val="solid"/>
          </a:ln>
        </p:spPr>
        <p:txBody>
          <a:bodyPr wrap="square" lIns="0" tIns="0" rIns="0" bIns="0" anchor="t">
            <a:noAutofit/>
          </a:bodyPr>
          <a:lstStyle>
            <a:defPPr algn="l">
              <a:defRPr sz="1575" b="0">
                <a:solidFill>
                  <a:srgbClr val="122027"/>
                </a:solidFill>
                <a:latin typeface="Aptos"/>
                <a:ea typeface="Aptos"/>
                <a:cs typeface="Aptos"/>
              </a:defRPr>
            </a:defPPr>
          </a:lstStyle>
          <a:p>
            <a:pPr algn="l">
              <a:defRPr sz="1575" b="0">
                <a:solidFill>
                  <a:srgbClr val="122027"/>
                </a:solidFill>
                <a:latin typeface="Aptos"/>
                <a:ea typeface="Aptos"/>
                <a:cs typeface="Aptos"/>
              </a:defRPr>
            </a:pPr>
            <a:r>
              <a:rPr sz="1575" b="0">
                <a:solidFill>
                  <a:srgbClr val="122027"/>
                </a:solidFill>
                <a:latin typeface="Aptos"/>
                <a:ea typeface="Aptos"/>
                <a:cs typeface="Aptos"/>
              </a:rPr>
              <a:t>Set sessions and terms; manage users, classes, subjects and teacher assignments; review school reports, analytics and timetables.</a:t>
            </a:r>
          </a:p>
        </p:txBody>
      </p:sp>
      <p:sp>
        <p:nvSpPr>
          <p:cNvPr id="11" name="role-rule-1">
            <a:extLst>
              <a:ext uri="{FF2B5EF4-FFF2-40B4-BE49-F238E27FC236}">
                <a16:creationId xmlns:a16="http://schemas.microsoft.com/office/drawing/2014/main" id="{E8121B1A-0D12-42E5-9CC9-EF6F73B584A8}"/>
              </a:ext>
            </a:extLst>
          </p:cNvPr>
          <p:cNvSpPr>
            <a:spLocks noGrp="1"/>
          </p:cNvSpPr>
          <p:nvPr/>
        </p:nvSpPr>
        <p:spPr>
          <a:xfrm>
            <a:off x="723900" y="3028950"/>
            <a:ext cx="10706100" cy="0"/>
          </a:xfrm>
          <a:prstGeom prst="line">
            <a:avLst/>
          </a:prstGeom>
          <a:noFill/>
          <a:ln w="9525">
            <a:solidFill>
              <a:srgbClr val="BCD5DA"/>
            </a:solidFill>
            <a:prstDash val="solid"/>
          </a:ln>
        </p:spPr>
      </p:sp>
      <p:sp>
        <p:nvSpPr>
          <p:cNvPr id="12" name="role-2">
            <a:extLst>
              <a:ext uri="{FF2B5EF4-FFF2-40B4-BE49-F238E27FC236}">
                <a16:creationId xmlns:a16="http://schemas.microsoft.com/office/drawing/2014/main" id="{918886D0-2708-4D73-85C9-0A940D2145A0}"/>
              </a:ext>
            </a:extLst>
          </p:cNvPr>
          <p:cNvSpPr>
            <a:spLocks noGrp="1"/>
          </p:cNvSpPr>
          <p:nvPr/>
        </p:nvSpPr>
        <p:spPr>
          <a:xfrm>
            <a:off x="723900" y="3238500"/>
            <a:ext cx="2428875" cy="323850"/>
          </a:xfrm>
          <a:prstGeom prst="rect">
            <a:avLst/>
          </a:prstGeom>
          <a:noFill/>
          <a:ln w="0">
            <a:noFill/>
            <a:prstDash val="solid"/>
          </a:ln>
        </p:spPr>
        <p:txBody>
          <a:bodyPr wrap="square" lIns="0" tIns="0" rIns="0" bIns="0" anchor="t">
            <a:noAutofit/>
          </a:bodyPr>
          <a:lstStyle>
            <a:defPPr algn="l">
              <a:defRPr sz="1200" b="1">
                <a:solidFill>
                  <a:srgbClr val="287C88"/>
                </a:solidFill>
                <a:latin typeface="Aptos"/>
                <a:ea typeface="Aptos"/>
                <a:cs typeface="Aptos"/>
              </a:defRPr>
            </a:defPPr>
          </a:lstStyle>
          <a:p>
            <a:pPr algn="l">
              <a:defRPr sz="1200" b="1">
                <a:solidFill>
                  <a:srgbClr val="287C88"/>
                </a:solidFill>
                <a:latin typeface="Aptos"/>
                <a:ea typeface="Aptos"/>
                <a:cs typeface="Aptos"/>
              </a:defRPr>
            </a:pPr>
            <a:r>
              <a:rPr sz="1200" b="1">
                <a:solidFill>
                  <a:srgbClr val="287C88"/>
                </a:solidFill>
                <a:latin typeface="Aptos"/>
                <a:ea typeface="Aptos"/>
                <a:cs typeface="Aptos"/>
              </a:rPr>
              <a:t>CLASS TEACHER</a:t>
            </a:r>
          </a:p>
        </p:txBody>
      </p:sp>
      <p:sp>
        <p:nvSpPr>
          <p:cNvPr id="13" name="role-description-2">
            <a:extLst>
              <a:ext uri="{FF2B5EF4-FFF2-40B4-BE49-F238E27FC236}">
                <a16:creationId xmlns:a16="http://schemas.microsoft.com/office/drawing/2014/main" id="{0D25E395-72F3-4AE0-B538-E48391424A1A}"/>
              </a:ext>
            </a:extLst>
          </p:cNvPr>
          <p:cNvSpPr>
            <a:spLocks noGrp="1"/>
          </p:cNvSpPr>
          <p:nvPr/>
        </p:nvSpPr>
        <p:spPr>
          <a:xfrm>
            <a:off x="3429000" y="3209925"/>
            <a:ext cx="8001000" cy="647700"/>
          </a:xfrm>
          <a:prstGeom prst="rect">
            <a:avLst/>
          </a:prstGeom>
          <a:noFill/>
          <a:ln w="0">
            <a:noFill/>
            <a:prstDash val="solid"/>
          </a:ln>
        </p:spPr>
        <p:txBody>
          <a:bodyPr wrap="square" lIns="0" tIns="0" rIns="0" bIns="0" anchor="t">
            <a:noAutofit/>
          </a:bodyPr>
          <a:lstStyle>
            <a:defPPr algn="l">
              <a:defRPr sz="1575" b="0">
                <a:solidFill>
                  <a:srgbClr val="122027"/>
                </a:solidFill>
                <a:latin typeface="Aptos"/>
                <a:ea typeface="Aptos"/>
                <a:cs typeface="Aptos"/>
              </a:defRPr>
            </a:defPPr>
          </a:lstStyle>
          <a:p>
            <a:pPr algn="l">
              <a:defRPr sz="1575" b="0">
                <a:solidFill>
                  <a:srgbClr val="122027"/>
                </a:solidFill>
                <a:latin typeface="Aptos"/>
                <a:ea typeface="Aptos"/>
                <a:cs typeface="Aptos"/>
              </a:defRPr>
            </a:pPr>
            <a:r>
              <a:rPr sz="1575" b="0">
                <a:solidFill>
                  <a:srgbClr val="122027"/>
                </a:solidFill>
                <a:latin typeface="Aptos"/>
                <a:ea typeface="Aptos"/>
                <a:cs typeface="Aptos"/>
              </a:rPr>
              <a:t>Take attendance for the assigned class, view its roster and timetable, and add end-of-term class remarks.</a:t>
            </a:r>
          </a:p>
        </p:txBody>
      </p:sp>
      <p:sp>
        <p:nvSpPr>
          <p:cNvPr id="14" name="role-rule-2">
            <a:extLst>
              <a:ext uri="{FF2B5EF4-FFF2-40B4-BE49-F238E27FC236}">
                <a16:creationId xmlns:a16="http://schemas.microsoft.com/office/drawing/2014/main" id="{C6201476-2505-41AF-9F9E-D2511933ADC1}"/>
              </a:ext>
            </a:extLst>
          </p:cNvPr>
          <p:cNvSpPr>
            <a:spLocks noGrp="1"/>
          </p:cNvSpPr>
          <p:nvPr/>
        </p:nvSpPr>
        <p:spPr>
          <a:xfrm>
            <a:off x="723900" y="3943350"/>
            <a:ext cx="10706100" cy="0"/>
          </a:xfrm>
          <a:prstGeom prst="line">
            <a:avLst/>
          </a:prstGeom>
          <a:noFill/>
          <a:ln w="9525">
            <a:solidFill>
              <a:srgbClr val="BCD5DA"/>
            </a:solidFill>
            <a:prstDash val="solid"/>
          </a:ln>
        </p:spPr>
      </p:sp>
      <p:sp>
        <p:nvSpPr>
          <p:cNvPr id="15" name="role-3">
            <a:extLst>
              <a:ext uri="{FF2B5EF4-FFF2-40B4-BE49-F238E27FC236}">
                <a16:creationId xmlns:a16="http://schemas.microsoft.com/office/drawing/2014/main" id="{65375015-6FFE-47E5-A5A4-B31A1BAD13DD}"/>
              </a:ext>
            </a:extLst>
          </p:cNvPr>
          <p:cNvSpPr>
            <a:spLocks noGrp="1"/>
          </p:cNvSpPr>
          <p:nvPr/>
        </p:nvSpPr>
        <p:spPr>
          <a:xfrm>
            <a:off x="723900" y="4152900"/>
            <a:ext cx="2428875" cy="323850"/>
          </a:xfrm>
          <a:prstGeom prst="rect">
            <a:avLst/>
          </a:prstGeom>
          <a:noFill/>
          <a:ln w="0">
            <a:noFill/>
            <a:prstDash val="solid"/>
          </a:ln>
        </p:spPr>
        <p:txBody>
          <a:bodyPr wrap="square" lIns="0" tIns="0" rIns="0" bIns="0" anchor="t">
            <a:noAutofit/>
          </a:bodyPr>
          <a:lstStyle>
            <a:defPPr algn="l">
              <a:defRPr sz="1200" b="1">
                <a:solidFill>
                  <a:srgbClr val="287C88"/>
                </a:solidFill>
                <a:latin typeface="Aptos"/>
                <a:ea typeface="Aptos"/>
                <a:cs typeface="Aptos"/>
              </a:defRPr>
            </a:defPPr>
          </a:lstStyle>
          <a:p>
            <a:pPr algn="l">
              <a:defRPr sz="1200" b="1">
                <a:solidFill>
                  <a:srgbClr val="287C88"/>
                </a:solidFill>
                <a:latin typeface="Aptos"/>
                <a:ea typeface="Aptos"/>
                <a:cs typeface="Aptos"/>
              </a:defRPr>
            </a:pPr>
            <a:r>
              <a:rPr sz="1200" b="1">
                <a:solidFill>
                  <a:srgbClr val="287C88"/>
                </a:solidFill>
                <a:latin typeface="Aptos"/>
                <a:ea typeface="Aptos"/>
                <a:cs typeface="Aptos"/>
              </a:rPr>
              <a:t>SUBJECT TEACHER</a:t>
            </a:r>
          </a:p>
        </p:txBody>
      </p:sp>
      <p:sp>
        <p:nvSpPr>
          <p:cNvPr id="16" name="role-description-3">
            <a:extLst>
              <a:ext uri="{FF2B5EF4-FFF2-40B4-BE49-F238E27FC236}">
                <a16:creationId xmlns:a16="http://schemas.microsoft.com/office/drawing/2014/main" id="{655103BE-CF6C-40C8-89F4-30CB009C55FF}"/>
              </a:ext>
            </a:extLst>
          </p:cNvPr>
          <p:cNvSpPr>
            <a:spLocks noGrp="1"/>
          </p:cNvSpPr>
          <p:nvPr/>
        </p:nvSpPr>
        <p:spPr>
          <a:xfrm>
            <a:off x="3429000" y="4124325"/>
            <a:ext cx="8001000" cy="647700"/>
          </a:xfrm>
          <a:prstGeom prst="rect">
            <a:avLst/>
          </a:prstGeom>
          <a:noFill/>
          <a:ln w="0">
            <a:noFill/>
            <a:prstDash val="solid"/>
          </a:ln>
        </p:spPr>
        <p:txBody>
          <a:bodyPr wrap="square" lIns="0" tIns="0" rIns="0" bIns="0" anchor="t">
            <a:noAutofit/>
          </a:bodyPr>
          <a:lstStyle>
            <a:defPPr algn="l">
              <a:defRPr sz="1575" b="0">
                <a:solidFill>
                  <a:srgbClr val="122027"/>
                </a:solidFill>
                <a:latin typeface="Aptos"/>
                <a:ea typeface="Aptos"/>
                <a:cs typeface="Aptos"/>
              </a:defRPr>
            </a:defPPr>
          </a:lstStyle>
          <a:p>
            <a:pPr algn="l">
              <a:defRPr sz="1575" b="0">
                <a:solidFill>
                  <a:srgbClr val="122027"/>
                </a:solidFill>
                <a:latin typeface="Aptos"/>
                <a:ea typeface="Aptos"/>
                <a:cs typeface="Aptos"/>
              </a:defRPr>
            </a:pPr>
            <a:r>
              <a:rPr sz="1575" b="0">
                <a:solidFill>
                  <a:srgbClr val="122027"/>
                </a:solidFill>
                <a:latin typeface="Aptos"/>
                <a:ea typeface="Aptos"/>
                <a:cs typeface="Aptos"/>
              </a:rPr>
              <a:t>Upload CA and exam scores for assigned subject–class pairs; manage assignments, lessons, quizzes and discussions.</a:t>
            </a:r>
          </a:p>
        </p:txBody>
      </p:sp>
      <p:sp>
        <p:nvSpPr>
          <p:cNvPr id="17" name="role-rule-3">
            <a:extLst>
              <a:ext uri="{FF2B5EF4-FFF2-40B4-BE49-F238E27FC236}">
                <a16:creationId xmlns:a16="http://schemas.microsoft.com/office/drawing/2014/main" id="{CB3BC427-6895-4313-9824-77FE02FC239E}"/>
              </a:ext>
            </a:extLst>
          </p:cNvPr>
          <p:cNvSpPr>
            <a:spLocks noGrp="1"/>
          </p:cNvSpPr>
          <p:nvPr/>
        </p:nvSpPr>
        <p:spPr>
          <a:xfrm>
            <a:off x="723900" y="4857750"/>
            <a:ext cx="10706100" cy="0"/>
          </a:xfrm>
          <a:prstGeom prst="line">
            <a:avLst/>
          </a:prstGeom>
          <a:noFill/>
          <a:ln w="9525">
            <a:solidFill>
              <a:srgbClr val="BCD5DA"/>
            </a:solidFill>
            <a:prstDash val="solid"/>
          </a:ln>
        </p:spPr>
      </p:sp>
      <p:sp>
        <p:nvSpPr>
          <p:cNvPr id="18" name="role-4">
            <a:extLst>
              <a:ext uri="{FF2B5EF4-FFF2-40B4-BE49-F238E27FC236}">
                <a16:creationId xmlns:a16="http://schemas.microsoft.com/office/drawing/2014/main" id="{781C6415-8C85-4300-89E8-73272DBB7781}"/>
              </a:ext>
            </a:extLst>
          </p:cNvPr>
          <p:cNvSpPr>
            <a:spLocks noGrp="1"/>
          </p:cNvSpPr>
          <p:nvPr/>
        </p:nvSpPr>
        <p:spPr>
          <a:xfrm>
            <a:off x="723900" y="5067300"/>
            <a:ext cx="2428875" cy="323850"/>
          </a:xfrm>
          <a:prstGeom prst="rect">
            <a:avLst/>
          </a:prstGeom>
          <a:noFill/>
          <a:ln w="0">
            <a:noFill/>
            <a:prstDash val="solid"/>
          </a:ln>
        </p:spPr>
        <p:txBody>
          <a:bodyPr wrap="square" lIns="0" tIns="0" rIns="0" bIns="0" anchor="t">
            <a:noAutofit/>
          </a:bodyPr>
          <a:lstStyle>
            <a:defPPr algn="l">
              <a:defRPr sz="1200" b="1">
                <a:solidFill>
                  <a:srgbClr val="287C88"/>
                </a:solidFill>
                <a:latin typeface="Aptos"/>
                <a:ea typeface="Aptos"/>
                <a:cs typeface="Aptos"/>
              </a:defRPr>
            </a:defPPr>
          </a:lstStyle>
          <a:p>
            <a:pPr algn="l">
              <a:defRPr sz="1200" b="1">
                <a:solidFill>
                  <a:srgbClr val="287C88"/>
                </a:solidFill>
                <a:latin typeface="Aptos"/>
                <a:ea typeface="Aptos"/>
                <a:cs typeface="Aptos"/>
              </a:defRPr>
            </a:pPr>
            <a:r>
              <a:rPr sz="1200" b="1">
                <a:solidFill>
                  <a:srgbClr val="287C88"/>
                </a:solidFill>
                <a:latin typeface="Aptos"/>
                <a:ea typeface="Aptos"/>
                <a:cs typeface="Aptos"/>
              </a:rPr>
              <a:t>STUDENT + PARENT</a:t>
            </a:r>
          </a:p>
        </p:txBody>
      </p:sp>
      <p:sp>
        <p:nvSpPr>
          <p:cNvPr id="19" name="role-description-4">
            <a:extLst>
              <a:ext uri="{FF2B5EF4-FFF2-40B4-BE49-F238E27FC236}">
                <a16:creationId xmlns:a16="http://schemas.microsoft.com/office/drawing/2014/main" id="{56C1EC6D-04FB-4350-9B76-1AD4041CF19B}"/>
              </a:ext>
            </a:extLst>
          </p:cNvPr>
          <p:cNvSpPr>
            <a:spLocks noGrp="1"/>
          </p:cNvSpPr>
          <p:nvPr/>
        </p:nvSpPr>
        <p:spPr>
          <a:xfrm>
            <a:off x="3429000" y="5038725"/>
            <a:ext cx="8001000" cy="647700"/>
          </a:xfrm>
          <a:prstGeom prst="rect">
            <a:avLst/>
          </a:prstGeom>
          <a:noFill/>
          <a:ln w="0">
            <a:noFill/>
            <a:prstDash val="solid"/>
          </a:ln>
        </p:spPr>
        <p:txBody>
          <a:bodyPr wrap="square" lIns="0" tIns="0" rIns="0" bIns="0" anchor="t">
            <a:noAutofit/>
          </a:bodyPr>
          <a:lstStyle>
            <a:defPPr algn="l">
              <a:defRPr sz="1575" b="0">
                <a:solidFill>
                  <a:srgbClr val="122027"/>
                </a:solidFill>
                <a:latin typeface="Aptos"/>
                <a:ea typeface="Aptos"/>
                <a:cs typeface="Aptos"/>
              </a:defRPr>
            </a:defPPr>
          </a:lstStyle>
          <a:p>
            <a:pPr algn="l">
              <a:defRPr sz="1575" b="0">
                <a:solidFill>
                  <a:srgbClr val="122027"/>
                </a:solidFill>
                <a:latin typeface="Aptos"/>
                <a:ea typeface="Aptos"/>
                <a:cs typeface="Aptos"/>
              </a:defRPr>
            </a:pPr>
            <a:r>
              <a:rPr sz="1575" b="0">
                <a:solidFill>
                  <a:srgbClr val="122027"/>
                </a:solidFill>
                <a:latin typeface="Aptos"/>
                <a:ea typeface="Aptos"/>
                <a:cs typeface="Aptos"/>
              </a:rPr>
              <a:t>Students see their own reports, attendance and learning. Parents see those records for linked children.</a:t>
            </a:r>
          </a:p>
        </p:txBody>
      </p:sp>
    </p:spTree>
    <p:extLst>
      <p:ext uri="{BB962C8B-B14F-4D97-AF65-F5344CB8AC3E}">
        <p14:creationId xmlns:p14="http://schemas.microsoft.com/office/powerpoint/2010/main" val="136171588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EEF5F7"/>
        </a:solidFill>
        <a:effectLst/>
      </p:bgPr>
    </p:bg>
    <p:spTree>
      <p:nvGrpSpPr>
        <p:cNvPr id="1" name=""/>
        <p:cNvGrpSpPr/>
        <p:nvPr/>
      </p:nvGrpSpPr>
      <p:grpSpPr>
        <a:xfrm>
          <a:off x="0" y="0"/>
          <a:ext cx="0" cy="0"/>
          <a:chOff x="0" y="0"/>
          <a:chExt cx="0" cy="0"/>
        </a:xfrm>
      </p:grpSpPr>
      <p:sp>
        <p:nvSpPr>
          <p:cNvPr id="20" name="brand-dot">
            <a:extLst>
              <a:ext uri="{FF2B5EF4-FFF2-40B4-BE49-F238E27FC236}">
                <a16:creationId xmlns:a16="http://schemas.microsoft.com/office/drawing/2014/main" id="{1266AC68-E225-42EA-A598-8C80DDB9A35C}"/>
              </a:ext>
            </a:extLst>
          </p:cNvPr>
          <p:cNvSpPr>
            <a:spLocks noGrp="1"/>
          </p:cNvSpPr>
          <p:nvPr/>
        </p:nvSpPr>
        <p:spPr>
          <a:xfrm>
            <a:off x="457200" y="428625"/>
            <a:ext cx="104775" cy="104775"/>
          </a:xfrm>
          <a:prstGeom prst="ellipse">
            <a:avLst/>
          </a:prstGeom>
          <a:solidFill>
            <a:srgbClr val="287C88"/>
          </a:solidFill>
          <a:ln w="0">
            <a:noFill/>
            <a:prstDash val="solid"/>
          </a:ln>
        </p:spPr>
      </p:sp>
      <p:sp>
        <p:nvSpPr>
          <p:cNvPr id="2" name="brand">
            <a:extLst>
              <a:ext uri="{FF2B5EF4-FFF2-40B4-BE49-F238E27FC236}">
                <a16:creationId xmlns:a16="http://schemas.microsoft.com/office/drawing/2014/main" id="{8A521686-3622-41AC-9FDD-8F4591068FB9}"/>
              </a:ext>
            </a:extLst>
          </p:cNvPr>
          <p:cNvSpPr>
            <a:spLocks noGrp="1"/>
          </p:cNvSpPr>
          <p:nvPr/>
        </p:nvSpPr>
        <p:spPr>
          <a:xfrm>
            <a:off x="723900" y="352425"/>
            <a:ext cx="1381125" cy="285750"/>
          </a:xfrm>
          <a:prstGeom prst="rect">
            <a:avLst/>
          </a:prstGeom>
          <a:noFill/>
          <a:ln w="0">
            <a:noFill/>
            <a:prstDash val="solid"/>
          </a:ln>
        </p:spPr>
        <p:txBody>
          <a:bodyPr wrap="square" lIns="0" tIns="0" rIns="0" bIns="0" anchor="t">
            <a:noAutofit/>
          </a:bodyPr>
          <a:lstStyle>
            <a:defPPr algn="l">
              <a:defRPr sz="1125" b="1">
                <a:solidFill>
                  <a:srgbClr val="5B6B72"/>
                </a:solidFill>
                <a:latin typeface="Aptos"/>
                <a:ea typeface="Aptos"/>
                <a:cs typeface="Aptos"/>
              </a:defRPr>
            </a:defPPr>
          </a:lstStyle>
          <a:p>
            <a:pPr algn="l">
              <a:defRPr sz="1125" b="1">
                <a:solidFill>
                  <a:srgbClr val="5B6B72"/>
                </a:solidFill>
                <a:latin typeface="Aptos"/>
                <a:ea typeface="Aptos"/>
                <a:cs typeface="Aptos"/>
              </a:defRPr>
            </a:pPr>
            <a:r>
              <a:rPr lang="en-US" sz="1125" b="1" dirty="0">
                <a:solidFill>
                  <a:srgbClr val="5B6B72"/>
                </a:solidFill>
                <a:latin typeface="Aptos"/>
                <a:ea typeface="Aptos"/>
                <a:cs typeface="Aptos"/>
              </a:rPr>
              <a:t>HMA</a:t>
            </a:r>
            <a:endParaRPr sz="1125" b="1" dirty="0">
              <a:solidFill>
                <a:srgbClr val="5B6B72"/>
              </a:solidFill>
              <a:latin typeface="Aptos"/>
              <a:ea typeface="Aptos"/>
              <a:cs typeface="Aptos"/>
            </a:endParaRPr>
          </a:p>
        </p:txBody>
      </p:sp>
      <p:sp>
        <p:nvSpPr>
          <p:cNvPr id="3" name="category">
            <a:extLst>
              <a:ext uri="{FF2B5EF4-FFF2-40B4-BE49-F238E27FC236}">
                <a16:creationId xmlns:a16="http://schemas.microsoft.com/office/drawing/2014/main" id="{9C7602BB-7037-41AC-BC20-ACE16EE008E2}"/>
              </a:ext>
            </a:extLst>
          </p:cNvPr>
          <p:cNvSpPr>
            <a:spLocks noGrp="1"/>
          </p:cNvSpPr>
          <p:nvPr/>
        </p:nvSpPr>
        <p:spPr>
          <a:xfrm>
            <a:off x="2133600" y="352425"/>
            <a:ext cx="3429000" cy="285750"/>
          </a:xfrm>
          <a:prstGeom prst="rect">
            <a:avLst/>
          </a:prstGeom>
          <a:noFill/>
          <a:ln w="0">
            <a:noFill/>
            <a:prstDash val="solid"/>
          </a:ln>
        </p:spPr>
        <p:txBody>
          <a:bodyPr wrap="square" lIns="0" tIns="0" rIns="0" bIns="0" anchor="t">
            <a:noAutofit/>
          </a:bodyPr>
          <a:lstStyle>
            <a:defPPr algn="l">
              <a:defRPr sz="1050" b="0">
                <a:solidFill>
                  <a:srgbClr val="5B6B72"/>
                </a:solidFill>
                <a:latin typeface="Aptos"/>
                <a:ea typeface="Aptos"/>
                <a:cs typeface="Aptos"/>
              </a:defRPr>
            </a:defPPr>
          </a:lstStyle>
          <a:p>
            <a:pPr algn="l">
              <a:defRPr sz="1050" b="0">
                <a:solidFill>
                  <a:srgbClr val="5B6B72"/>
                </a:solidFill>
                <a:latin typeface="Aptos"/>
                <a:ea typeface="Aptos"/>
                <a:cs typeface="Aptos"/>
              </a:defRPr>
            </a:pPr>
            <a:r>
              <a:rPr sz="1050" b="0">
                <a:solidFill>
                  <a:srgbClr val="5B6B72"/>
                </a:solidFill>
                <a:latin typeface="Aptos"/>
                <a:ea typeface="Aptos"/>
                <a:cs typeface="Aptos"/>
              </a:rPr>
              <a:t>SECONDARY SCHOOL MANAGEMENT</a:t>
            </a:r>
          </a:p>
        </p:txBody>
      </p:sp>
      <p:sp>
        <p:nvSpPr>
          <p:cNvPr id="4" name="page-number">
            <a:extLst>
              <a:ext uri="{FF2B5EF4-FFF2-40B4-BE49-F238E27FC236}">
                <a16:creationId xmlns:a16="http://schemas.microsoft.com/office/drawing/2014/main" id="{D206618D-F23A-48F6-968C-09B2269BB966}"/>
              </a:ext>
            </a:extLst>
          </p:cNvPr>
          <p:cNvSpPr>
            <a:spLocks noGrp="1"/>
          </p:cNvSpPr>
          <p:nvPr/>
        </p:nvSpPr>
        <p:spPr>
          <a:xfrm>
            <a:off x="11049000" y="342900"/>
            <a:ext cx="609600" cy="266700"/>
          </a:xfrm>
          <a:prstGeom prst="rect">
            <a:avLst/>
          </a:prstGeom>
          <a:noFill/>
          <a:ln w="0">
            <a:noFill/>
            <a:prstDash val="solid"/>
          </a:ln>
        </p:spPr>
        <p:txBody>
          <a:bodyPr wrap="square" lIns="0" tIns="0" rIns="0" bIns="0" anchor="t">
            <a:noAutofit/>
          </a:bodyPr>
          <a:lstStyle>
            <a:defPPr algn="r">
              <a:defRPr sz="1050" b="0">
                <a:solidFill>
                  <a:srgbClr val="5B6B72"/>
                </a:solidFill>
                <a:latin typeface="Aptos"/>
                <a:ea typeface="Aptos"/>
                <a:cs typeface="Aptos"/>
              </a:defRPr>
            </a:defPPr>
          </a:lstStyle>
          <a:p>
            <a:pPr algn="r">
              <a:defRPr sz="1050" b="0">
                <a:solidFill>
                  <a:srgbClr val="5B6B72"/>
                </a:solidFill>
                <a:latin typeface="Aptos"/>
                <a:ea typeface="Aptos"/>
                <a:cs typeface="Aptos"/>
              </a:defRPr>
            </a:pPr>
            <a:r>
              <a:rPr sz="1050" b="0">
                <a:solidFill>
                  <a:srgbClr val="5B6B72"/>
                </a:solidFill>
                <a:latin typeface="Aptos"/>
                <a:ea typeface="Aptos"/>
                <a:cs typeface="Aptos"/>
              </a:rPr>
              <a:t>03</a:t>
            </a:r>
          </a:p>
        </p:txBody>
      </p:sp>
      <p:sp>
        <p:nvSpPr>
          <p:cNvPr id="5" name="title">
            <a:extLst>
              <a:ext uri="{FF2B5EF4-FFF2-40B4-BE49-F238E27FC236}">
                <a16:creationId xmlns:a16="http://schemas.microsoft.com/office/drawing/2014/main" id="{CA0A57DD-9041-4638-8151-2627033408C6}"/>
              </a:ext>
            </a:extLst>
          </p:cNvPr>
          <p:cNvSpPr>
            <a:spLocks noGrp="1"/>
          </p:cNvSpPr>
          <p:nvPr/>
        </p:nvSpPr>
        <p:spPr>
          <a:xfrm>
            <a:off x="609600" y="876300"/>
            <a:ext cx="9906000" cy="590550"/>
          </a:xfrm>
          <a:prstGeom prst="rect">
            <a:avLst/>
          </a:prstGeom>
          <a:noFill/>
          <a:ln w="0">
            <a:noFill/>
            <a:prstDash val="solid"/>
          </a:ln>
        </p:spPr>
        <p:txBody>
          <a:bodyPr wrap="square" lIns="0" tIns="0" rIns="0" bIns="0" anchor="t">
            <a:noAutofit/>
          </a:bodyPr>
          <a:lstStyle>
            <a:defPPr algn="l">
              <a:defRPr sz="3150" b="1">
                <a:solidFill>
                  <a:srgbClr val="122027"/>
                </a:solidFill>
                <a:latin typeface="Aptos Display"/>
                <a:ea typeface="Aptos Display"/>
                <a:cs typeface="Aptos Display"/>
              </a:defRPr>
            </a:defPPr>
          </a:lstStyle>
          <a:p>
            <a:pPr algn="l">
              <a:defRPr sz="3150" b="1">
                <a:solidFill>
                  <a:srgbClr val="122027"/>
                </a:solidFill>
                <a:latin typeface="Aptos Display"/>
                <a:ea typeface="Aptos Display"/>
                <a:cs typeface="Aptos Display"/>
              </a:defRPr>
            </a:pPr>
            <a:r>
              <a:rPr sz="3150" b="1">
                <a:solidFill>
                  <a:srgbClr val="122027"/>
                </a:solidFill>
                <a:latin typeface="Aptos Display"/>
                <a:ea typeface="Aptos Display"/>
                <a:cs typeface="Aptos Display"/>
              </a:rPr>
              <a:t>Term records connect daily work to reports</a:t>
            </a:r>
          </a:p>
        </p:txBody>
      </p:sp>
      <p:sp>
        <p:nvSpPr>
          <p:cNvPr id="6" name="subtitle">
            <a:extLst>
              <a:ext uri="{FF2B5EF4-FFF2-40B4-BE49-F238E27FC236}">
                <a16:creationId xmlns:a16="http://schemas.microsoft.com/office/drawing/2014/main" id="{4AAC9B2E-7C7D-4A1B-98AA-330E8C199483}"/>
              </a:ext>
            </a:extLst>
          </p:cNvPr>
          <p:cNvSpPr>
            <a:spLocks noGrp="1"/>
          </p:cNvSpPr>
          <p:nvPr/>
        </p:nvSpPr>
        <p:spPr>
          <a:xfrm>
            <a:off x="628650" y="1504950"/>
            <a:ext cx="10001250" cy="514350"/>
          </a:xfrm>
          <a:prstGeom prst="rect">
            <a:avLst/>
          </a:prstGeom>
          <a:noFill/>
          <a:ln w="0">
            <a:noFill/>
            <a:prstDash val="solid"/>
          </a:ln>
        </p:spPr>
        <p:txBody>
          <a:bodyPr wrap="square" lIns="0" tIns="0" rIns="0" bIns="0" anchor="t">
            <a:noAutofit/>
          </a:bodyPr>
          <a:lstStyle>
            <a:defPPr algn="l">
              <a:defRPr sz="1650" b="0">
                <a:solidFill>
                  <a:srgbClr val="5B6B72"/>
                </a:solidFill>
                <a:latin typeface="Aptos"/>
                <a:ea typeface="Aptos"/>
                <a:cs typeface="Aptos"/>
              </a:defRPr>
            </a:defPPr>
          </a:lstStyle>
          <a:p>
            <a:pPr algn="l">
              <a:defRPr sz="1650" b="0">
                <a:solidFill>
                  <a:srgbClr val="5B6B72"/>
                </a:solidFill>
                <a:latin typeface="Aptos"/>
                <a:ea typeface="Aptos"/>
                <a:cs typeface="Aptos"/>
              </a:defRPr>
            </a:pPr>
            <a:r>
              <a:rPr sz="1650" b="0">
                <a:solidFill>
                  <a:srgbClr val="5B6B72"/>
                </a:solidFill>
                <a:latin typeface="Aptos"/>
                <a:ea typeface="Aptos"/>
                <a:cs typeface="Aptos"/>
              </a:rPr>
              <a:t>Attendance and subject scores stay organized by student, class, subject and term.</a:t>
            </a:r>
          </a:p>
        </p:txBody>
      </p:sp>
      <p:sp>
        <p:nvSpPr>
          <p:cNvPr id="7" name="footer-rule">
            <a:extLst>
              <a:ext uri="{FF2B5EF4-FFF2-40B4-BE49-F238E27FC236}">
                <a16:creationId xmlns:a16="http://schemas.microsoft.com/office/drawing/2014/main" id="{03C9587D-791A-4942-8801-20F86E74120A}"/>
              </a:ext>
            </a:extLst>
          </p:cNvPr>
          <p:cNvSpPr>
            <a:spLocks noGrp="1"/>
          </p:cNvSpPr>
          <p:nvPr/>
        </p:nvSpPr>
        <p:spPr>
          <a:xfrm>
            <a:off x="609600" y="6343650"/>
            <a:ext cx="10972800" cy="0"/>
          </a:xfrm>
          <a:prstGeom prst="line">
            <a:avLst/>
          </a:prstGeom>
          <a:noFill/>
          <a:ln w="9525">
            <a:solidFill>
              <a:srgbClr val="BCD5DA"/>
            </a:solidFill>
            <a:prstDash val="solid"/>
          </a:ln>
        </p:spPr>
      </p:sp>
      <p:sp>
        <p:nvSpPr>
          <p:cNvPr id="8" name="footer">
            <a:extLst>
              <a:ext uri="{FF2B5EF4-FFF2-40B4-BE49-F238E27FC236}">
                <a16:creationId xmlns:a16="http://schemas.microsoft.com/office/drawing/2014/main" id="{B5EE409A-ADC2-4F2D-AF16-CF1B8ED2FE5C}"/>
              </a:ext>
            </a:extLst>
          </p:cNvPr>
          <p:cNvSpPr>
            <a:spLocks noGrp="1"/>
          </p:cNvSpPr>
          <p:nvPr/>
        </p:nvSpPr>
        <p:spPr>
          <a:xfrm>
            <a:off x="628650" y="6429375"/>
            <a:ext cx="6477000" cy="190500"/>
          </a:xfrm>
          <a:prstGeom prst="rect">
            <a:avLst/>
          </a:prstGeom>
          <a:noFill/>
          <a:ln w="0">
            <a:noFill/>
            <a:prstDash val="solid"/>
          </a:ln>
        </p:spPr>
        <p:txBody>
          <a:bodyPr wrap="square" lIns="0" tIns="0" rIns="0" bIns="0" anchor="t">
            <a:noAutofit/>
          </a:bodyPr>
          <a:lstStyle>
            <a:defPPr algn="l">
              <a:defRPr sz="825" b="0">
                <a:solidFill>
                  <a:srgbClr val="5B6B72"/>
                </a:solidFill>
                <a:latin typeface="Aptos"/>
                <a:ea typeface="Aptos"/>
                <a:cs typeface="Aptos"/>
              </a:defRPr>
            </a:defPPr>
          </a:lstStyle>
          <a:p>
            <a:pPr algn="l">
              <a:defRPr sz="825" b="0">
                <a:solidFill>
                  <a:srgbClr val="5B6B72"/>
                </a:solidFill>
                <a:latin typeface="Aptos"/>
                <a:ea typeface="Aptos"/>
                <a:cs typeface="Aptos"/>
              </a:defRPr>
            </a:pPr>
            <a:r>
              <a:rPr lang="en-US" sz="825" b="0" dirty="0">
                <a:solidFill>
                  <a:srgbClr val="5B6B72"/>
                </a:solidFill>
                <a:latin typeface="Aptos"/>
                <a:ea typeface="Aptos"/>
                <a:cs typeface="Aptos"/>
              </a:rPr>
              <a:t>HMA</a:t>
            </a:r>
            <a:r>
              <a:rPr sz="825" b="0" dirty="0">
                <a:solidFill>
                  <a:srgbClr val="5B6B72"/>
                </a:solidFill>
                <a:latin typeface="Aptos"/>
                <a:ea typeface="Aptos"/>
                <a:cs typeface="Aptos"/>
              </a:rPr>
              <a:t>  ·  NIGERIAN SECONDARY SCHOOLS</a:t>
            </a:r>
          </a:p>
        </p:txBody>
      </p:sp>
      <p:sp>
        <p:nvSpPr>
          <p:cNvPr id="9" name="term-step-no-0">
            <a:extLst>
              <a:ext uri="{FF2B5EF4-FFF2-40B4-BE49-F238E27FC236}">
                <a16:creationId xmlns:a16="http://schemas.microsoft.com/office/drawing/2014/main" id="{CA117D6C-2743-4E8B-9529-C40DE3AED88E}"/>
              </a:ext>
            </a:extLst>
          </p:cNvPr>
          <p:cNvSpPr>
            <a:spLocks noGrp="1"/>
          </p:cNvSpPr>
          <p:nvPr/>
        </p:nvSpPr>
        <p:spPr>
          <a:xfrm>
            <a:off x="723900" y="2647950"/>
            <a:ext cx="666750" cy="323850"/>
          </a:xfrm>
          <a:prstGeom prst="rect">
            <a:avLst/>
          </a:prstGeom>
          <a:noFill/>
          <a:ln w="0">
            <a:noFill/>
            <a:prstDash val="solid"/>
          </a:ln>
        </p:spPr>
        <p:txBody>
          <a:bodyPr wrap="square" lIns="0" tIns="0" rIns="0" bIns="0" anchor="t">
            <a:noAutofit/>
          </a:bodyPr>
          <a:lstStyle>
            <a:defPPr algn="l">
              <a:defRPr sz="1275" b="1">
                <a:solidFill>
                  <a:srgbClr val="287C88"/>
                </a:solidFill>
                <a:latin typeface="Aptos"/>
                <a:ea typeface="Aptos"/>
                <a:cs typeface="Aptos"/>
              </a:defRPr>
            </a:defPPr>
          </a:lstStyle>
          <a:p>
            <a:pPr algn="l">
              <a:defRPr sz="1275" b="1">
                <a:solidFill>
                  <a:srgbClr val="287C88"/>
                </a:solidFill>
                <a:latin typeface="Aptos"/>
                <a:ea typeface="Aptos"/>
                <a:cs typeface="Aptos"/>
              </a:defRPr>
            </a:pPr>
            <a:r>
              <a:rPr sz="1275" b="1">
                <a:solidFill>
                  <a:srgbClr val="287C88"/>
                </a:solidFill>
                <a:latin typeface="Aptos"/>
                <a:ea typeface="Aptos"/>
                <a:cs typeface="Aptos"/>
              </a:rPr>
              <a:t>01</a:t>
            </a:r>
          </a:p>
        </p:txBody>
      </p:sp>
      <p:sp>
        <p:nvSpPr>
          <p:cNvPr id="10" name="term-step-title-0">
            <a:extLst>
              <a:ext uri="{FF2B5EF4-FFF2-40B4-BE49-F238E27FC236}">
                <a16:creationId xmlns:a16="http://schemas.microsoft.com/office/drawing/2014/main" id="{8E83C451-B64B-4FEB-851C-6E41FC583F2E}"/>
              </a:ext>
            </a:extLst>
          </p:cNvPr>
          <p:cNvSpPr>
            <a:spLocks noGrp="1"/>
          </p:cNvSpPr>
          <p:nvPr/>
        </p:nvSpPr>
        <p:spPr>
          <a:xfrm>
            <a:off x="723900" y="3124200"/>
            <a:ext cx="3143250" cy="400050"/>
          </a:xfrm>
          <a:prstGeom prst="rect">
            <a:avLst/>
          </a:prstGeom>
          <a:noFill/>
          <a:ln w="0">
            <a:noFill/>
            <a:prstDash val="solid"/>
          </a:ln>
        </p:spPr>
        <p:txBody>
          <a:bodyPr wrap="square" lIns="0" tIns="0" rIns="0" bIns="0" anchor="t">
            <a:noAutofit/>
          </a:bodyPr>
          <a:lstStyle>
            <a:defPPr algn="l">
              <a:defRPr sz="2175" b="1">
                <a:solidFill>
                  <a:srgbClr val="122027"/>
                </a:solidFill>
                <a:latin typeface="Aptos Display"/>
                <a:ea typeface="Aptos Display"/>
                <a:cs typeface="Aptos Display"/>
              </a:defRPr>
            </a:defPPr>
          </a:lstStyle>
          <a:p>
            <a:pPr algn="l">
              <a:defRPr sz="2175" b="1">
                <a:solidFill>
                  <a:srgbClr val="122027"/>
                </a:solidFill>
                <a:latin typeface="Aptos Display"/>
                <a:ea typeface="Aptos Display"/>
                <a:cs typeface="Aptos Display"/>
              </a:defRPr>
            </a:pPr>
            <a:r>
              <a:rPr sz="2175" b="1">
                <a:solidFill>
                  <a:srgbClr val="122027"/>
                </a:solidFill>
                <a:latin typeface="Aptos Display"/>
                <a:ea typeface="Aptos Display"/>
                <a:cs typeface="Aptos Display"/>
              </a:rPr>
              <a:t>Attendance</a:t>
            </a:r>
          </a:p>
        </p:txBody>
      </p:sp>
      <p:sp>
        <p:nvSpPr>
          <p:cNvPr id="11" name="term-step-body-0">
            <a:extLst>
              <a:ext uri="{FF2B5EF4-FFF2-40B4-BE49-F238E27FC236}">
                <a16:creationId xmlns:a16="http://schemas.microsoft.com/office/drawing/2014/main" id="{2D271658-F144-4FBF-81B8-38BE20A51A96}"/>
              </a:ext>
            </a:extLst>
          </p:cNvPr>
          <p:cNvSpPr>
            <a:spLocks noGrp="1"/>
          </p:cNvSpPr>
          <p:nvPr/>
        </p:nvSpPr>
        <p:spPr>
          <a:xfrm>
            <a:off x="723900" y="3667125"/>
            <a:ext cx="3028950" cy="1104900"/>
          </a:xfrm>
          <a:prstGeom prst="rect">
            <a:avLst/>
          </a:prstGeom>
          <a:noFill/>
          <a:ln w="0">
            <a:noFill/>
            <a:prstDash val="solid"/>
          </a:ln>
        </p:spPr>
        <p:txBody>
          <a:bodyPr wrap="square" lIns="0" tIns="0" rIns="0" bIns="0" anchor="t">
            <a:noAutofit/>
          </a:bodyPr>
          <a:lstStyle>
            <a:defPPr algn="l">
              <a:defRPr sz="1650" b="0">
                <a:solidFill>
                  <a:srgbClr val="5B6B72"/>
                </a:solidFill>
                <a:latin typeface="Aptos"/>
                <a:ea typeface="Aptos"/>
                <a:cs typeface="Aptos"/>
              </a:defRPr>
            </a:defPPr>
          </a:lstStyle>
          <a:p>
            <a:pPr algn="l">
              <a:defRPr sz="1650" b="0">
                <a:solidFill>
                  <a:srgbClr val="5B6B72"/>
                </a:solidFill>
                <a:latin typeface="Aptos"/>
                <a:ea typeface="Aptos"/>
                <a:cs typeface="Aptos"/>
              </a:defRPr>
            </a:pPr>
            <a:r>
              <a:rPr sz="1650" b="0">
                <a:solidFill>
                  <a:srgbClr val="5B6B72"/>
                </a:solidFill>
                <a:latin typeface="Aptos"/>
                <a:ea typeface="Aptos"/>
                <a:cs typeface="Aptos"/>
              </a:rPr>
              <a:t>Class teachers record daily attendance for their own class, by date.</a:t>
            </a:r>
          </a:p>
        </p:txBody>
      </p:sp>
      <p:sp>
        <p:nvSpPr>
          <p:cNvPr id="12" name="term-step-no-1">
            <a:extLst>
              <a:ext uri="{FF2B5EF4-FFF2-40B4-BE49-F238E27FC236}">
                <a16:creationId xmlns:a16="http://schemas.microsoft.com/office/drawing/2014/main" id="{7CC9FB8D-2256-43BB-ABDE-1295323F5D88}"/>
              </a:ext>
            </a:extLst>
          </p:cNvPr>
          <p:cNvSpPr>
            <a:spLocks noGrp="1"/>
          </p:cNvSpPr>
          <p:nvPr/>
        </p:nvSpPr>
        <p:spPr>
          <a:xfrm>
            <a:off x="4438650" y="2647950"/>
            <a:ext cx="666750" cy="323850"/>
          </a:xfrm>
          <a:prstGeom prst="rect">
            <a:avLst/>
          </a:prstGeom>
          <a:noFill/>
          <a:ln w="0">
            <a:noFill/>
            <a:prstDash val="solid"/>
          </a:ln>
        </p:spPr>
        <p:txBody>
          <a:bodyPr wrap="square" lIns="0" tIns="0" rIns="0" bIns="0" anchor="t">
            <a:noAutofit/>
          </a:bodyPr>
          <a:lstStyle>
            <a:defPPr algn="l">
              <a:defRPr sz="1275" b="1">
                <a:solidFill>
                  <a:srgbClr val="287C88"/>
                </a:solidFill>
                <a:latin typeface="Aptos"/>
                <a:ea typeface="Aptos"/>
                <a:cs typeface="Aptos"/>
              </a:defRPr>
            </a:defPPr>
          </a:lstStyle>
          <a:p>
            <a:pPr algn="l">
              <a:defRPr sz="1275" b="1">
                <a:solidFill>
                  <a:srgbClr val="287C88"/>
                </a:solidFill>
                <a:latin typeface="Aptos"/>
                <a:ea typeface="Aptos"/>
                <a:cs typeface="Aptos"/>
              </a:defRPr>
            </a:pPr>
            <a:r>
              <a:rPr sz="1275" b="1">
                <a:solidFill>
                  <a:srgbClr val="287C88"/>
                </a:solidFill>
                <a:latin typeface="Aptos"/>
                <a:ea typeface="Aptos"/>
                <a:cs typeface="Aptos"/>
              </a:rPr>
              <a:t>02</a:t>
            </a:r>
          </a:p>
        </p:txBody>
      </p:sp>
      <p:sp>
        <p:nvSpPr>
          <p:cNvPr id="13" name="term-step-title-1">
            <a:extLst>
              <a:ext uri="{FF2B5EF4-FFF2-40B4-BE49-F238E27FC236}">
                <a16:creationId xmlns:a16="http://schemas.microsoft.com/office/drawing/2014/main" id="{F2FA8B8B-1C10-4676-BEC8-8D5A3DD430DE}"/>
              </a:ext>
            </a:extLst>
          </p:cNvPr>
          <p:cNvSpPr>
            <a:spLocks noGrp="1"/>
          </p:cNvSpPr>
          <p:nvPr/>
        </p:nvSpPr>
        <p:spPr>
          <a:xfrm>
            <a:off x="4438650" y="3124200"/>
            <a:ext cx="3143250" cy="400050"/>
          </a:xfrm>
          <a:prstGeom prst="rect">
            <a:avLst/>
          </a:prstGeom>
          <a:noFill/>
          <a:ln w="0">
            <a:noFill/>
            <a:prstDash val="solid"/>
          </a:ln>
        </p:spPr>
        <p:txBody>
          <a:bodyPr wrap="square" lIns="0" tIns="0" rIns="0" bIns="0" anchor="t">
            <a:noAutofit/>
          </a:bodyPr>
          <a:lstStyle>
            <a:defPPr algn="l">
              <a:defRPr sz="2175" b="1">
                <a:solidFill>
                  <a:srgbClr val="122027"/>
                </a:solidFill>
                <a:latin typeface="Aptos Display"/>
                <a:ea typeface="Aptos Display"/>
                <a:cs typeface="Aptos Display"/>
              </a:defRPr>
            </a:defPPr>
          </a:lstStyle>
          <a:p>
            <a:pPr algn="l">
              <a:defRPr sz="2175" b="1">
                <a:solidFill>
                  <a:srgbClr val="122027"/>
                </a:solidFill>
                <a:latin typeface="Aptos Display"/>
                <a:ea typeface="Aptos Display"/>
                <a:cs typeface="Aptos Display"/>
              </a:defRPr>
            </a:pPr>
            <a:r>
              <a:rPr sz="2175" b="1">
                <a:solidFill>
                  <a:srgbClr val="122027"/>
                </a:solidFill>
                <a:latin typeface="Aptos Display"/>
                <a:ea typeface="Aptos Display"/>
                <a:cs typeface="Aptos Display"/>
              </a:rPr>
              <a:t>Assessment</a:t>
            </a:r>
          </a:p>
        </p:txBody>
      </p:sp>
      <p:sp>
        <p:nvSpPr>
          <p:cNvPr id="14" name="term-step-body-1">
            <a:extLst>
              <a:ext uri="{FF2B5EF4-FFF2-40B4-BE49-F238E27FC236}">
                <a16:creationId xmlns:a16="http://schemas.microsoft.com/office/drawing/2014/main" id="{955AFE9C-EAE1-4839-BC4C-C846C4D62496}"/>
              </a:ext>
            </a:extLst>
          </p:cNvPr>
          <p:cNvSpPr>
            <a:spLocks noGrp="1"/>
          </p:cNvSpPr>
          <p:nvPr/>
        </p:nvSpPr>
        <p:spPr>
          <a:xfrm>
            <a:off x="4438650" y="3667125"/>
            <a:ext cx="3028950" cy="1104900"/>
          </a:xfrm>
          <a:prstGeom prst="rect">
            <a:avLst/>
          </a:prstGeom>
          <a:noFill/>
          <a:ln w="0">
            <a:noFill/>
            <a:prstDash val="solid"/>
          </a:ln>
        </p:spPr>
        <p:txBody>
          <a:bodyPr wrap="square" lIns="0" tIns="0" rIns="0" bIns="0" anchor="t">
            <a:noAutofit/>
          </a:bodyPr>
          <a:lstStyle>
            <a:defPPr algn="l">
              <a:defRPr sz="1650" b="0">
                <a:solidFill>
                  <a:srgbClr val="5B6B72"/>
                </a:solidFill>
                <a:latin typeface="Aptos"/>
                <a:ea typeface="Aptos"/>
                <a:cs typeface="Aptos"/>
              </a:defRPr>
            </a:defPPr>
          </a:lstStyle>
          <a:p>
            <a:pPr algn="l">
              <a:defRPr sz="1650" b="0">
                <a:solidFill>
                  <a:srgbClr val="5B6B72"/>
                </a:solidFill>
                <a:latin typeface="Aptos"/>
                <a:ea typeface="Aptos"/>
                <a:cs typeface="Aptos"/>
              </a:defRPr>
            </a:pPr>
            <a:r>
              <a:rPr sz="1650" b="0">
                <a:solidFill>
                  <a:srgbClr val="5B6B72"/>
                </a:solidFill>
                <a:latin typeface="Aptos"/>
                <a:ea typeface="Aptos"/>
                <a:cs typeface="Aptos"/>
              </a:rPr>
              <a:t>Each subject grade combines continuous assessment and an exam, up to 100 points.</a:t>
            </a:r>
          </a:p>
        </p:txBody>
      </p:sp>
      <p:sp>
        <p:nvSpPr>
          <p:cNvPr id="15" name="term-step-no-2">
            <a:extLst>
              <a:ext uri="{FF2B5EF4-FFF2-40B4-BE49-F238E27FC236}">
                <a16:creationId xmlns:a16="http://schemas.microsoft.com/office/drawing/2014/main" id="{05740F1D-C991-48B1-B74A-C83AC2F8EFAE}"/>
              </a:ext>
            </a:extLst>
          </p:cNvPr>
          <p:cNvSpPr>
            <a:spLocks noGrp="1"/>
          </p:cNvSpPr>
          <p:nvPr/>
        </p:nvSpPr>
        <p:spPr>
          <a:xfrm>
            <a:off x="8153400" y="2647950"/>
            <a:ext cx="666750" cy="323850"/>
          </a:xfrm>
          <a:prstGeom prst="rect">
            <a:avLst/>
          </a:prstGeom>
          <a:noFill/>
          <a:ln w="0">
            <a:noFill/>
            <a:prstDash val="solid"/>
          </a:ln>
        </p:spPr>
        <p:txBody>
          <a:bodyPr wrap="square" lIns="0" tIns="0" rIns="0" bIns="0" anchor="t">
            <a:noAutofit/>
          </a:bodyPr>
          <a:lstStyle>
            <a:defPPr algn="l">
              <a:defRPr sz="1275" b="1">
                <a:solidFill>
                  <a:srgbClr val="287C88"/>
                </a:solidFill>
                <a:latin typeface="Aptos"/>
                <a:ea typeface="Aptos"/>
                <a:cs typeface="Aptos"/>
              </a:defRPr>
            </a:defPPr>
          </a:lstStyle>
          <a:p>
            <a:pPr algn="l">
              <a:defRPr sz="1275" b="1">
                <a:solidFill>
                  <a:srgbClr val="287C88"/>
                </a:solidFill>
                <a:latin typeface="Aptos"/>
                <a:ea typeface="Aptos"/>
                <a:cs typeface="Aptos"/>
              </a:defRPr>
            </a:pPr>
            <a:r>
              <a:rPr sz="1275" b="1">
                <a:solidFill>
                  <a:srgbClr val="287C88"/>
                </a:solidFill>
                <a:latin typeface="Aptos"/>
                <a:ea typeface="Aptos"/>
                <a:cs typeface="Aptos"/>
              </a:rPr>
              <a:t>03</a:t>
            </a:r>
          </a:p>
        </p:txBody>
      </p:sp>
      <p:sp>
        <p:nvSpPr>
          <p:cNvPr id="16" name="term-step-title-2">
            <a:extLst>
              <a:ext uri="{FF2B5EF4-FFF2-40B4-BE49-F238E27FC236}">
                <a16:creationId xmlns:a16="http://schemas.microsoft.com/office/drawing/2014/main" id="{92DE338C-32BC-4B44-B9A8-FC67E7415E80}"/>
              </a:ext>
            </a:extLst>
          </p:cNvPr>
          <p:cNvSpPr>
            <a:spLocks noGrp="1"/>
          </p:cNvSpPr>
          <p:nvPr/>
        </p:nvSpPr>
        <p:spPr>
          <a:xfrm>
            <a:off x="8153400" y="3124200"/>
            <a:ext cx="3143250" cy="400050"/>
          </a:xfrm>
          <a:prstGeom prst="rect">
            <a:avLst/>
          </a:prstGeom>
          <a:noFill/>
          <a:ln w="0">
            <a:noFill/>
            <a:prstDash val="solid"/>
          </a:ln>
        </p:spPr>
        <p:txBody>
          <a:bodyPr wrap="square" lIns="0" tIns="0" rIns="0" bIns="0" anchor="t">
            <a:noAutofit/>
          </a:bodyPr>
          <a:lstStyle>
            <a:defPPr algn="l">
              <a:defRPr sz="2175" b="1">
                <a:solidFill>
                  <a:srgbClr val="122027"/>
                </a:solidFill>
                <a:latin typeface="Aptos Display"/>
                <a:ea typeface="Aptos Display"/>
                <a:cs typeface="Aptos Display"/>
              </a:defRPr>
            </a:defPPr>
          </a:lstStyle>
          <a:p>
            <a:pPr algn="l">
              <a:defRPr sz="2175" b="1">
                <a:solidFill>
                  <a:srgbClr val="122027"/>
                </a:solidFill>
                <a:latin typeface="Aptos Display"/>
                <a:ea typeface="Aptos Display"/>
                <a:cs typeface="Aptos Display"/>
              </a:defRPr>
            </a:pPr>
            <a:r>
              <a:rPr sz="2175" b="1">
                <a:solidFill>
                  <a:srgbClr val="122027"/>
                </a:solidFill>
                <a:latin typeface="Aptos Display"/>
                <a:ea typeface="Aptos Display"/>
                <a:cs typeface="Aptos Display"/>
              </a:rPr>
              <a:t>Reporting</a:t>
            </a:r>
          </a:p>
        </p:txBody>
      </p:sp>
      <p:sp>
        <p:nvSpPr>
          <p:cNvPr id="17" name="term-step-body-2">
            <a:extLst>
              <a:ext uri="{FF2B5EF4-FFF2-40B4-BE49-F238E27FC236}">
                <a16:creationId xmlns:a16="http://schemas.microsoft.com/office/drawing/2014/main" id="{685EC94A-2DA5-40C8-BBB4-95618C4034B5}"/>
              </a:ext>
            </a:extLst>
          </p:cNvPr>
          <p:cNvSpPr>
            <a:spLocks noGrp="1"/>
          </p:cNvSpPr>
          <p:nvPr/>
        </p:nvSpPr>
        <p:spPr>
          <a:xfrm>
            <a:off x="8153400" y="3667125"/>
            <a:ext cx="3028950" cy="1104900"/>
          </a:xfrm>
          <a:prstGeom prst="rect">
            <a:avLst/>
          </a:prstGeom>
          <a:noFill/>
          <a:ln w="0">
            <a:noFill/>
            <a:prstDash val="solid"/>
          </a:ln>
        </p:spPr>
        <p:txBody>
          <a:bodyPr wrap="square" lIns="0" tIns="0" rIns="0" bIns="0" anchor="t">
            <a:noAutofit/>
          </a:bodyPr>
          <a:lstStyle>
            <a:defPPr algn="l">
              <a:defRPr sz="1650" b="0">
                <a:solidFill>
                  <a:srgbClr val="5B6B72"/>
                </a:solidFill>
                <a:latin typeface="Aptos"/>
                <a:ea typeface="Aptos"/>
                <a:cs typeface="Aptos"/>
              </a:defRPr>
            </a:defPPr>
          </a:lstStyle>
          <a:p>
            <a:pPr algn="l">
              <a:defRPr sz="1650" b="0">
                <a:solidFill>
                  <a:srgbClr val="5B6B72"/>
                </a:solidFill>
                <a:latin typeface="Aptos"/>
                <a:ea typeface="Aptos"/>
                <a:cs typeface="Aptos"/>
              </a:defRPr>
            </a:pPr>
            <a:r>
              <a:rPr sz="1650" b="0">
                <a:solidFill>
                  <a:srgbClr val="5B6B72"/>
                </a:solidFill>
                <a:latin typeface="Aptos"/>
                <a:ea typeface="Aptos"/>
                <a:cs typeface="Aptos"/>
              </a:rPr>
              <a:t>Term reports bring subject marks and teacher remarks together for review.</a:t>
            </a:r>
          </a:p>
        </p:txBody>
      </p:sp>
      <p:sp>
        <p:nvSpPr>
          <p:cNvPr id="18" name="score-rule">
            <a:extLst>
              <a:ext uri="{FF2B5EF4-FFF2-40B4-BE49-F238E27FC236}">
                <a16:creationId xmlns:a16="http://schemas.microsoft.com/office/drawing/2014/main" id="{78B4BD9E-DB3B-44D9-89EE-69405DBB0326}"/>
              </a:ext>
            </a:extLst>
          </p:cNvPr>
          <p:cNvSpPr>
            <a:spLocks noGrp="1"/>
          </p:cNvSpPr>
          <p:nvPr/>
        </p:nvSpPr>
        <p:spPr>
          <a:xfrm>
            <a:off x="723900" y="5105400"/>
            <a:ext cx="10706100" cy="0"/>
          </a:xfrm>
          <a:prstGeom prst="line">
            <a:avLst/>
          </a:prstGeom>
          <a:noFill/>
          <a:ln w="9525">
            <a:solidFill>
              <a:srgbClr val="BCD5DA"/>
            </a:solidFill>
            <a:prstDash val="solid"/>
          </a:ln>
        </p:spPr>
      </p:sp>
      <p:sp>
        <p:nvSpPr>
          <p:cNvPr id="19" name="score-definition">
            <a:extLst>
              <a:ext uri="{FF2B5EF4-FFF2-40B4-BE49-F238E27FC236}">
                <a16:creationId xmlns:a16="http://schemas.microsoft.com/office/drawing/2014/main" id="{42E95C2C-DA8B-4A00-9E3B-E814151E61B3}"/>
              </a:ext>
            </a:extLst>
          </p:cNvPr>
          <p:cNvSpPr>
            <a:spLocks noGrp="1"/>
          </p:cNvSpPr>
          <p:nvPr/>
        </p:nvSpPr>
        <p:spPr>
          <a:xfrm>
            <a:off x="723900" y="5353050"/>
            <a:ext cx="9906000" cy="400050"/>
          </a:xfrm>
          <a:prstGeom prst="rect">
            <a:avLst/>
          </a:prstGeom>
          <a:noFill/>
          <a:ln w="0">
            <a:noFill/>
            <a:prstDash val="solid"/>
          </a:ln>
        </p:spPr>
        <p:txBody>
          <a:bodyPr wrap="square" lIns="0" tIns="0" rIns="0" bIns="0" anchor="t">
            <a:noAutofit/>
          </a:bodyPr>
          <a:lstStyle>
            <a:defPPr algn="l">
              <a:defRPr sz="1950" b="1">
                <a:solidFill>
                  <a:srgbClr val="122027"/>
                </a:solidFill>
                <a:latin typeface="Aptos Display"/>
                <a:ea typeface="Aptos Display"/>
                <a:cs typeface="Aptos Display"/>
              </a:defRPr>
            </a:defPPr>
          </a:lstStyle>
          <a:p>
            <a:pPr algn="l">
              <a:defRPr sz="1950" b="1">
                <a:solidFill>
                  <a:srgbClr val="122027"/>
                </a:solidFill>
                <a:latin typeface="Aptos Display"/>
                <a:ea typeface="Aptos Display"/>
                <a:cs typeface="Aptos Display"/>
              </a:defRPr>
            </a:pPr>
            <a:r>
              <a:rPr sz="1950" b="1">
                <a:solidFill>
                  <a:srgbClr val="122027"/>
                </a:solidFill>
                <a:latin typeface="Aptos Display"/>
                <a:ea typeface="Aptos Display"/>
                <a:cs typeface="Aptos Display"/>
              </a:rPr>
              <a:t>CA (max 40)  +  Exam (max 60)  =  Term score (max 100)</a:t>
            </a:r>
          </a:p>
        </p:txBody>
      </p:sp>
    </p:spTree>
    <p:extLst>
      <p:ext uri="{BB962C8B-B14F-4D97-AF65-F5344CB8AC3E}">
        <p14:creationId xmlns:p14="http://schemas.microsoft.com/office/powerpoint/2010/main" val="124210226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EEF5F7"/>
        </a:solidFill>
        <a:effectLst/>
      </p:bgPr>
    </p:bg>
    <p:spTree>
      <p:nvGrpSpPr>
        <p:cNvPr id="1" name=""/>
        <p:cNvGrpSpPr/>
        <p:nvPr/>
      </p:nvGrpSpPr>
      <p:grpSpPr>
        <a:xfrm>
          <a:off x="0" y="0"/>
          <a:ext cx="0" cy="0"/>
          <a:chOff x="0" y="0"/>
          <a:chExt cx="0" cy="0"/>
        </a:xfrm>
      </p:grpSpPr>
      <p:sp>
        <p:nvSpPr>
          <p:cNvPr id="18" name="brand-dot">
            <a:extLst>
              <a:ext uri="{FF2B5EF4-FFF2-40B4-BE49-F238E27FC236}">
                <a16:creationId xmlns:a16="http://schemas.microsoft.com/office/drawing/2014/main" id="{C1B8AB11-4E00-4A22-A9BB-CE8152B13166}"/>
              </a:ext>
            </a:extLst>
          </p:cNvPr>
          <p:cNvSpPr>
            <a:spLocks noGrp="1"/>
          </p:cNvSpPr>
          <p:nvPr/>
        </p:nvSpPr>
        <p:spPr>
          <a:xfrm>
            <a:off x="457200" y="428625"/>
            <a:ext cx="104775" cy="104775"/>
          </a:xfrm>
          <a:prstGeom prst="ellipse">
            <a:avLst/>
          </a:prstGeom>
          <a:solidFill>
            <a:srgbClr val="287C88"/>
          </a:solidFill>
          <a:ln w="0">
            <a:noFill/>
            <a:prstDash val="solid"/>
          </a:ln>
        </p:spPr>
      </p:sp>
      <p:sp>
        <p:nvSpPr>
          <p:cNvPr id="2" name="brand">
            <a:extLst>
              <a:ext uri="{FF2B5EF4-FFF2-40B4-BE49-F238E27FC236}">
                <a16:creationId xmlns:a16="http://schemas.microsoft.com/office/drawing/2014/main" id="{E3F06C39-03CF-4B65-B7AF-E89B6FB468ED}"/>
              </a:ext>
            </a:extLst>
          </p:cNvPr>
          <p:cNvSpPr>
            <a:spLocks noGrp="1"/>
          </p:cNvSpPr>
          <p:nvPr/>
        </p:nvSpPr>
        <p:spPr>
          <a:xfrm>
            <a:off x="723900" y="352425"/>
            <a:ext cx="1381125" cy="285750"/>
          </a:xfrm>
          <a:prstGeom prst="rect">
            <a:avLst/>
          </a:prstGeom>
          <a:noFill/>
          <a:ln w="0">
            <a:noFill/>
            <a:prstDash val="solid"/>
          </a:ln>
        </p:spPr>
        <p:txBody>
          <a:bodyPr wrap="square" lIns="0" tIns="0" rIns="0" bIns="0" anchor="t">
            <a:noAutofit/>
          </a:bodyPr>
          <a:lstStyle>
            <a:defPPr algn="l">
              <a:defRPr sz="1125" b="1">
                <a:solidFill>
                  <a:srgbClr val="5B6B72"/>
                </a:solidFill>
                <a:latin typeface="Aptos"/>
                <a:ea typeface="Aptos"/>
                <a:cs typeface="Aptos"/>
              </a:defRPr>
            </a:defPPr>
          </a:lstStyle>
          <a:p>
            <a:pPr algn="l">
              <a:defRPr sz="1125" b="1">
                <a:solidFill>
                  <a:srgbClr val="5B6B72"/>
                </a:solidFill>
                <a:latin typeface="Aptos"/>
                <a:ea typeface="Aptos"/>
                <a:cs typeface="Aptos"/>
              </a:defRPr>
            </a:pPr>
            <a:r>
              <a:rPr lang="en-US" sz="1125" b="1" dirty="0">
                <a:solidFill>
                  <a:srgbClr val="5B6B72"/>
                </a:solidFill>
                <a:latin typeface="Aptos"/>
                <a:ea typeface="Aptos"/>
                <a:cs typeface="Aptos"/>
              </a:rPr>
              <a:t>HMA</a:t>
            </a:r>
            <a:endParaRPr sz="1125" b="1" dirty="0">
              <a:solidFill>
                <a:srgbClr val="5B6B72"/>
              </a:solidFill>
              <a:latin typeface="Aptos"/>
              <a:ea typeface="Aptos"/>
              <a:cs typeface="Aptos"/>
            </a:endParaRPr>
          </a:p>
        </p:txBody>
      </p:sp>
      <p:sp>
        <p:nvSpPr>
          <p:cNvPr id="3" name="category">
            <a:extLst>
              <a:ext uri="{FF2B5EF4-FFF2-40B4-BE49-F238E27FC236}">
                <a16:creationId xmlns:a16="http://schemas.microsoft.com/office/drawing/2014/main" id="{5DE0A977-75E7-40D4-9A29-E64D91D5A1C9}"/>
              </a:ext>
            </a:extLst>
          </p:cNvPr>
          <p:cNvSpPr>
            <a:spLocks noGrp="1"/>
          </p:cNvSpPr>
          <p:nvPr/>
        </p:nvSpPr>
        <p:spPr>
          <a:xfrm>
            <a:off x="2133600" y="352425"/>
            <a:ext cx="3429000" cy="285750"/>
          </a:xfrm>
          <a:prstGeom prst="rect">
            <a:avLst/>
          </a:prstGeom>
          <a:noFill/>
          <a:ln w="0">
            <a:noFill/>
            <a:prstDash val="solid"/>
          </a:ln>
        </p:spPr>
        <p:txBody>
          <a:bodyPr wrap="square" lIns="0" tIns="0" rIns="0" bIns="0" anchor="t">
            <a:noAutofit/>
          </a:bodyPr>
          <a:lstStyle>
            <a:defPPr algn="l">
              <a:defRPr sz="1050" b="0">
                <a:solidFill>
                  <a:srgbClr val="5B6B72"/>
                </a:solidFill>
                <a:latin typeface="Aptos"/>
                <a:ea typeface="Aptos"/>
                <a:cs typeface="Aptos"/>
              </a:defRPr>
            </a:defPPr>
          </a:lstStyle>
          <a:p>
            <a:pPr algn="l">
              <a:defRPr sz="1050" b="0">
                <a:solidFill>
                  <a:srgbClr val="5B6B72"/>
                </a:solidFill>
                <a:latin typeface="Aptos"/>
                <a:ea typeface="Aptos"/>
                <a:cs typeface="Aptos"/>
              </a:defRPr>
            </a:pPr>
            <a:r>
              <a:rPr sz="1050" b="0">
                <a:solidFill>
                  <a:srgbClr val="5B6B72"/>
                </a:solidFill>
                <a:latin typeface="Aptos"/>
                <a:ea typeface="Aptos"/>
                <a:cs typeface="Aptos"/>
              </a:rPr>
              <a:t>SECONDARY SCHOOL MANAGEMENT</a:t>
            </a:r>
          </a:p>
        </p:txBody>
      </p:sp>
      <p:sp>
        <p:nvSpPr>
          <p:cNvPr id="4" name="page-number">
            <a:extLst>
              <a:ext uri="{FF2B5EF4-FFF2-40B4-BE49-F238E27FC236}">
                <a16:creationId xmlns:a16="http://schemas.microsoft.com/office/drawing/2014/main" id="{82D378FC-1A63-463D-A503-2F475092EB8F}"/>
              </a:ext>
            </a:extLst>
          </p:cNvPr>
          <p:cNvSpPr>
            <a:spLocks noGrp="1"/>
          </p:cNvSpPr>
          <p:nvPr/>
        </p:nvSpPr>
        <p:spPr>
          <a:xfrm>
            <a:off x="11049000" y="342900"/>
            <a:ext cx="609600" cy="266700"/>
          </a:xfrm>
          <a:prstGeom prst="rect">
            <a:avLst/>
          </a:prstGeom>
          <a:noFill/>
          <a:ln w="0">
            <a:noFill/>
            <a:prstDash val="solid"/>
          </a:ln>
        </p:spPr>
        <p:txBody>
          <a:bodyPr wrap="square" lIns="0" tIns="0" rIns="0" bIns="0" anchor="t">
            <a:noAutofit/>
          </a:bodyPr>
          <a:lstStyle>
            <a:defPPr algn="r">
              <a:defRPr sz="1050" b="0">
                <a:solidFill>
                  <a:srgbClr val="5B6B72"/>
                </a:solidFill>
                <a:latin typeface="Aptos"/>
                <a:ea typeface="Aptos"/>
                <a:cs typeface="Aptos"/>
              </a:defRPr>
            </a:defPPr>
          </a:lstStyle>
          <a:p>
            <a:pPr algn="r">
              <a:defRPr sz="1050" b="0">
                <a:solidFill>
                  <a:srgbClr val="5B6B72"/>
                </a:solidFill>
                <a:latin typeface="Aptos"/>
                <a:ea typeface="Aptos"/>
                <a:cs typeface="Aptos"/>
              </a:defRPr>
            </a:pPr>
            <a:r>
              <a:rPr sz="1050" b="0">
                <a:solidFill>
                  <a:srgbClr val="5B6B72"/>
                </a:solidFill>
                <a:latin typeface="Aptos"/>
                <a:ea typeface="Aptos"/>
                <a:cs typeface="Aptos"/>
              </a:rPr>
              <a:t>04</a:t>
            </a:r>
          </a:p>
        </p:txBody>
      </p:sp>
      <p:sp>
        <p:nvSpPr>
          <p:cNvPr id="5" name="title">
            <a:extLst>
              <a:ext uri="{FF2B5EF4-FFF2-40B4-BE49-F238E27FC236}">
                <a16:creationId xmlns:a16="http://schemas.microsoft.com/office/drawing/2014/main" id="{EFCCD92D-B80C-44EE-B0C9-319166C2D74F}"/>
              </a:ext>
            </a:extLst>
          </p:cNvPr>
          <p:cNvSpPr>
            <a:spLocks noGrp="1"/>
          </p:cNvSpPr>
          <p:nvPr/>
        </p:nvSpPr>
        <p:spPr>
          <a:xfrm>
            <a:off x="609600" y="876300"/>
            <a:ext cx="9906000" cy="590550"/>
          </a:xfrm>
          <a:prstGeom prst="rect">
            <a:avLst/>
          </a:prstGeom>
          <a:noFill/>
          <a:ln w="0">
            <a:noFill/>
            <a:prstDash val="solid"/>
          </a:ln>
        </p:spPr>
        <p:txBody>
          <a:bodyPr wrap="square" lIns="0" tIns="0" rIns="0" bIns="0" anchor="t">
            <a:noAutofit/>
          </a:bodyPr>
          <a:lstStyle>
            <a:defPPr algn="l">
              <a:defRPr sz="3150" b="1">
                <a:solidFill>
                  <a:srgbClr val="122027"/>
                </a:solidFill>
                <a:latin typeface="Aptos Display"/>
                <a:ea typeface="Aptos Display"/>
                <a:cs typeface="Aptos Display"/>
              </a:defRPr>
            </a:defPPr>
          </a:lstStyle>
          <a:p>
            <a:pPr algn="l">
              <a:defRPr sz="3150" b="1">
                <a:solidFill>
                  <a:srgbClr val="122027"/>
                </a:solidFill>
                <a:latin typeface="Aptos Display"/>
                <a:ea typeface="Aptos Display"/>
                <a:cs typeface="Aptos Display"/>
              </a:defRPr>
            </a:pPr>
            <a:r>
              <a:rPr sz="3150" b="1">
                <a:solidFill>
                  <a:srgbClr val="122027"/>
                </a:solidFill>
                <a:latin typeface="Aptos Display"/>
                <a:ea typeface="Aptos Display"/>
                <a:cs typeface="Aptos Display"/>
              </a:rPr>
              <a:t>Promotion follows a defined academic rule</a:t>
            </a:r>
          </a:p>
        </p:txBody>
      </p:sp>
      <p:sp>
        <p:nvSpPr>
          <p:cNvPr id="6" name="subtitle">
            <a:extLst>
              <a:ext uri="{FF2B5EF4-FFF2-40B4-BE49-F238E27FC236}">
                <a16:creationId xmlns:a16="http://schemas.microsoft.com/office/drawing/2014/main" id="{5CEE53F1-3F7A-415F-91B1-07C1AC8B2F84}"/>
              </a:ext>
            </a:extLst>
          </p:cNvPr>
          <p:cNvSpPr>
            <a:spLocks noGrp="1"/>
          </p:cNvSpPr>
          <p:nvPr/>
        </p:nvSpPr>
        <p:spPr>
          <a:xfrm>
            <a:off x="628650" y="1504950"/>
            <a:ext cx="10001250" cy="514350"/>
          </a:xfrm>
          <a:prstGeom prst="rect">
            <a:avLst/>
          </a:prstGeom>
          <a:noFill/>
          <a:ln w="0">
            <a:noFill/>
            <a:prstDash val="solid"/>
          </a:ln>
        </p:spPr>
        <p:txBody>
          <a:bodyPr wrap="square" lIns="0" tIns="0" rIns="0" bIns="0" anchor="t">
            <a:noAutofit/>
          </a:bodyPr>
          <a:lstStyle>
            <a:defPPr algn="l">
              <a:defRPr sz="1650" b="0">
                <a:solidFill>
                  <a:srgbClr val="5B6B72"/>
                </a:solidFill>
                <a:latin typeface="Aptos"/>
                <a:ea typeface="Aptos"/>
                <a:cs typeface="Aptos"/>
              </a:defRPr>
            </a:defPPr>
          </a:lstStyle>
          <a:p>
            <a:pPr algn="l">
              <a:defRPr sz="1650" b="0">
                <a:solidFill>
                  <a:srgbClr val="5B6B72"/>
                </a:solidFill>
                <a:latin typeface="Aptos"/>
                <a:ea typeface="Aptos"/>
                <a:cs typeface="Aptos"/>
              </a:defRPr>
            </a:pPr>
            <a:r>
              <a:rPr sz="1650" b="0">
                <a:solidFill>
                  <a:srgbClr val="5B6B72"/>
                </a:solidFill>
                <a:latin typeface="Aptos"/>
                <a:ea typeface="Aptos"/>
                <a:cs typeface="Aptos"/>
              </a:rPr>
              <a:t>The third-term report uses subject averages across the three-term session.</a:t>
            </a:r>
          </a:p>
        </p:txBody>
      </p:sp>
      <p:sp>
        <p:nvSpPr>
          <p:cNvPr id="7" name="footer-rule">
            <a:extLst>
              <a:ext uri="{FF2B5EF4-FFF2-40B4-BE49-F238E27FC236}">
                <a16:creationId xmlns:a16="http://schemas.microsoft.com/office/drawing/2014/main" id="{6AF5BD75-557B-475B-B710-65D318E2E08B}"/>
              </a:ext>
            </a:extLst>
          </p:cNvPr>
          <p:cNvSpPr>
            <a:spLocks noGrp="1"/>
          </p:cNvSpPr>
          <p:nvPr/>
        </p:nvSpPr>
        <p:spPr>
          <a:xfrm>
            <a:off x="609600" y="6343650"/>
            <a:ext cx="10972800" cy="0"/>
          </a:xfrm>
          <a:prstGeom prst="line">
            <a:avLst/>
          </a:prstGeom>
          <a:noFill/>
          <a:ln w="9525">
            <a:solidFill>
              <a:srgbClr val="BCD5DA"/>
            </a:solidFill>
            <a:prstDash val="solid"/>
          </a:ln>
        </p:spPr>
      </p:sp>
      <p:sp>
        <p:nvSpPr>
          <p:cNvPr id="8" name="footer">
            <a:extLst>
              <a:ext uri="{FF2B5EF4-FFF2-40B4-BE49-F238E27FC236}">
                <a16:creationId xmlns:a16="http://schemas.microsoft.com/office/drawing/2014/main" id="{CA4F87B0-FDEE-406C-90D5-69D5607AA3F0}"/>
              </a:ext>
            </a:extLst>
          </p:cNvPr>
          <p:cNvSpPr>
            <a:spLocks noGrp="1"/>
          </p:cNvSpPr>
          <p:nvPr/>
        </p:nvSpPr>
        <p:spPr>
          <a:xfrm>
            <a:off x="628650" y="6429375"/>
            <a:ext cx="6477000" cy="190500"/>
          </a:xfrm>
          <a:prstGeom prst="rect">
            <a:avLst/>
          </a:prstGeom>
          <a:noFill/>
          <a:ln w="0">
            <a:noFill/>
            <a:prstDash val="solid"/>
          </a:ln>
        </p:spPr>
        <p:txBody>
          <a:bodyPr wrap="square" lIns="0" tIns="0" rIns="0" bIns="0" anchor="t">
            <a:noAutofit/>
          </a:bodyPr>
          <a:lstStyle>
            <a:defPPr algn="l">
              <a:defRPr sz="825" b="0">
                <a:solidFill>
                  <a:srgbClr val="5B6B72"/>
                </a:solidFill>
                <a:latin typeface="Aptos"/>
                <a:ea typeface="Aptos"/>
                <a:cs typeface="Aptos"/>
              </a:defRPr>
            </a:defPPr>
          </a:lstStyle>
          <a:p>
            <a:pPr algn="l">
              <a:defRPr sz="825" b="0">
                <a:solidFill>
                  <a:srgbClr val="5B6B72"/>
                </a:solidFill>
                <a:latin typeface="Aptos"/>
                <a:ea typeface="Aptos"/>
                <a:cs typeface="Aptos"/>
              </a:defRPr>
            </a:pPr>
            <a:r>
              <a:rPr lang="en-US" sz="825" b="0" dirty="0">
                <a:solidFill>
                  <a:srgbClr val="5B6B72"/>
                </a:solidFill>
                <a:latin typeface="Aptos"/>
                <a:ea typeface="Aptos"/>
                <a:cs typeface="Aptos"/>
              </a:rPr>
              <a:t>HMA</a:t>
            </a:r>
            <a:r>
              <a:rPr sz="825" b="0" dirty="0">
                <a:solidFill>
                  <a:srgbClr val="5B6B72"/>
                </a:solidFill>
                <a:latin typeface="Aptos"/>
                <a:ea typeface="Aptos"/>
                <a:cs typeface="Aptos"/>
              </a:rPr>
              <a:t>  ·  NIGERIAN SECONDARY SCHOOLS</a:t>
            </a:r>
          </a:p>
        </p:txBody>
      </p:sp>
      <p:sp>
        <p:nvSpPr>
          <p:cNvPr id="9" name="promotion-label-0">
            <a:extLst>
              <a:ext uri="{FF2B5EF4-FFF2-40B4-BE49-F238E27FC236}">
                <a16:creationId xmlns:a16="http://schemas.microsoft.com/office/drawing/2014/main" id="{6B9A1F00-6650-4FC7-ADCE-137561291C1B}"/>
              </a:ext>
            </a:extLst>
          </p:cNvPr>
          <p:cNvSpPr>
            <a:spLocks noGrp="1"/>
          </p:cNvSpPr>
          <p:nvPr/>
        </p:nvSpPr>
        <p:spPr>
          <a:xfrm>
            <a:off x="800100" y="2609850"/>
            <a:ext cx="3143250" cy="323850"/>
          </a:xfrm>
          <a:prstGeom prst="rect">
            <a:avLst/>
          </a:prstGeom>
          <a:noFill/>
          <a:ln w="0">
            <a:noFill/>
            <a:prstDash val="solid"/>
          </a:ln>
        </p:spPr>
        <p:txBody>
          <a:bodyPr wrap="square" lIns="0" tIns="0" rIns="0" bIns="0" anchor="t">
            <a:noAutofit/>
          </a:bodyPr>
          <a:lstStyle>
            <a:defPPr algn="l">
              <a:defRPr sz="1200" b="1">
                <a:solidFill>
                  <a:srgbClr val="287C88"/>
                </a:solidFill>
                <a:latin typeface="Aptos"/>
                <a:ea typeface="Aptos"/>
                <a:cs typeface="Aptos"/>
              </a:defRPr>
            </a:defPPr>
          </a:lstStyle>
          <a:p>
            <a:pPr algn="l">
              <a:defRPr sz="1200" b="1">
                <a:solidFill>
                  <a:srgbClr val="287C88"/>
                </a:solidFill>
                <a:latin typeface="Aptos"/>
                <a:ea typeface="Aptos"/>
                <a:cs typeface="Aptos"/>
              </a:defRPr>
            </a:pPr>
            <a:r>
              <a:rPr sz="1200" b="1">
                <a:solidFill>
                  <a:srgbClr val="287C88"/>
                </a:solidFill>
                <a:latin typeface="Aptos"/>
                <a:ea typeface="Aptos"/>
                <a:cs typeface="Aptos"/>
              </a:rPr>
              <a:t>ENGLISH</a:t>
            </a:r>
          </a:p>
        </p:txBody>
      </p:sp>
      <p:sp>
        <p:nvSpPr>
          <p:cNvPr id="10" name="promotion-detail-0">
            <a:extLst>
              <a:ext uri="{FF2B5EF4-FFF2-40B4-BE49-F238E27FC236}">
                <a16:creationId xmlns:a16="http://schemas.microsoft.com/office/drawing/2014/main" id="{8E6F3FFA-6905-42E6-9F17-1A6D9A220C6D}"/>
              </a:ext>
            </a:extLst>
          </p:cNvPr>
          <p:cNvSpPr>
            <a:spLocks noGrp="1"/>
          </p:cNvSpPr>
          <p:nvPr/>
        </p:nvSpPr>
        <p:spPr>
          <a:xfrm>
            <a:off x="4333875" y="2571750"/>
            <a:ext cx="6191250" cy="428625"/>
          </a:xfrm>
          <a:prstGeom prst="rect">
            <a:avLst/>
          </a:prstGeom>
          <a:noFill/>
          <a:ln w="0">
            <a:noFill/>
            <a:prstDash val="solid"/>
          </a:ln>
        </p:spPr>
        <p:txBody>
          <a:bodyPr wrap="square" lIns="0" tIns="0" rIns="0" bIns="0" anchor="t">
            <a:noAutofit/>
          </a:bodyPr>
          <a:lstStyle>
            <a:defPPr algn="l">
              <a:defRPr sz="2100" b="1">
                <a:solidFill>
                  <a:srgbClr val="122027"/>
                </a:solidFill>
                <a:latin typeface="Aptos Display"/>
                <a:ea typeface="Aptos Display"/>
                <a:cs typeface="Aptos Display"/>
              </a:defRPr>
            </a:defPPr>
          </a:lstStyle>
          <a:p>
            <a:pPr algn="l">
              <a:defRPr sz="2100" b="1">
                <a:solidFill>
                  <a:srgbClr val="122027"/>
                </a:solidFill>
                <a:latin typeface="Aptos Display"/>
                <a:ea typeface="Aptos Display"/>
                <a:cs typeface="Aptos Display"/>
              </a:defRPr>
            </a:pPr>
            <a:r>
              <a:rPr sz="2100" b="1">
                <a:solidFill>
                  <a:srgbClr val="122027"/>
                </a:solidFill>
                <a:latin typeface="Aptos Display"/>
                <a:ea typeface="Aptos Display"/>
                <a:cs typeface="Aptos Display"/>
              </a:rPr>
              <a:t>Average score ≥ 50</a:t>
            </a:r>
          </a:p>
        </p:txBody>
      </p:sp>
      <p:sp>
        <p:nvSpPr>
          <p:cNvPr id="11" name="promotion-rule-0">
            <a:extLst>
              <a:ext uri="{FF2B5EF4-FFF2-40B4-BE49-F238E27FC236}">
                <a16:creationId xmlns:a16="http://schemas.microsoft.com/office/drawing/2014/main" id="{78FFBDC5-E7B7-48F7-84F7-9CACE34FA478}"/>
              </a:ext>
            </a:extLst>
          </p:cNvPr>
          <p:cNvSpPr>
            <a:spLocks noGrp="1"/>
          </p:cNvSpPr>
          <p:nvPr/>
        </p:nvSpPr>
        <p:spPr>
          <a:xfrm>
            <a:off x="800100" y="3209925"/>
            <a:ext cx="10001250" cy="0"/>
          </a:xfrm>
          <a:prstGeom prst="line">
            <a:avLst/>
          </a:prstGeom>
          <a:noFill/>
          <a:ln w="9525">
            <a:solidFill>
              <a:srgbClr val="BCD5DA"/>
            </a:solidFill>
            <a:prstDash val="solid"/>
          </a:ln>
        </p:spPr>
      </p:sp>
      <p:sp>
        <p:nvSpPr>
          <p:cNvPr id="12" name="promotion-label-1">
            <a:extLst>
              <a:ext uri="{FF2B5EF4-FFF2-40B4-BE49-F238E27FC236}">
                <a16:creationId xmlns:a16="http://schemas.microsoft.com/office/drawing/2014/main" id="{DB8F1D56-F7F9-4AC5-A571-7766B1A4B7EF}"/>
              </a:ext>
            </a:extLst>
          </p:cNvPr>
          <p:cNvSpPr>
            <a:spLocks noGrp="1"/>
          </p:cNvSpPr>
          <p:nvPr/>
        </p:nvSpPr>
        <p:spPr>
          <a:xfrm>
            <a:off x="800100" y="3600450"/>
            <a:ext cx="3143250" cy="323850"/>
          </a:xfrm>
          <a:prstGeom prst="rect">
            <a:avLst/>
          </a:prstGeom>
          <a:noFill/>
          <a:ln w="0">
            <a:noFill/>
            <a:prstDash val="solid"/>
          </a:ln>
        </p:spPr>
        <p:txBody>
          <a:bodyPr wrap="square" lIns="0" tIns="0" rIns="0" bIns="0" anchor="t">
            <a:noAutofit/>
          </a:bodyPr>
          <a:lstStyle>
            <a:defPPr algn="l">
              <a:defRPr sz="1200" b="1">
                <a:solidFill>
                  <a:srgbClr val="287C88"/>
                </a:solidFill>
                <a:latin typeface="Aptos"/>
                <a:ea typeface="Aptos"/>
                <a:cs typeface="Aptos"/>
              </a:defRPr>
            </a:defPPr>
          </a:lstStyle>
          <a:p>
            <a:pPr algn="l">
              <a:defRPr sz="1200" b="1">
                <a:solidFill>
                  <a:srgbClr val="287C88"/>
                </a:solidFill>
                <a:latin typeface="Aptos"/>
                <a:ea typeface="Aptos"/>
                <a:cs typeface="Aptos"/>
              </a:defRPr>
            </a:pPr>
            <a:r>
              <a:rPr sz="1200" b="1">
                <a:solidFill>
                  <a:srgbClr val="287C88"/>
                </a:solidFill>
                <a:latin typeface="Aptos"/>
                <a:ea typeface="Aptos"/>
                <a:cs typeface="Aptos"/>
              </a:rPr>
              <a:t>MATHEMATICS</a:t>
            </a:r>
          </a:p>
        </p:txBody>
      </p:sp>
      <p:sp>
        <p:nvSpPr>
          <p:cNvPr id="13" name="promotion-detail-1">
            <a:extLst>
              <a:ext uri="{FF2B5EF4-FFF2-40B4-BE49-F238E27FC236}">
                <a16:creationId xmlns:a16="http://schemas.microsoft.com/office/drawing/2014/main" id="{78371D62-4A72-41D5-A00A-1309DABE01E2}"/>
              </a:ext>
            </a:extLst>
          </p:cNvPr>
          <p:cNvSpPr>
            <a:spLocks noGrp="1"/>
          </p:cNvSpPr>
          <p:nvPr/>
        </p:nvSpPr>
        <p:spPr>
          <a:xfrm>
            <a:off x="4333875" y="3562350"/>
            <a:ext cx="6191250" cy="428625"/>
          </a:xfrm>
          <a:prstGeom prst="rect">
            <a:avLst/>
          </a:prstGeom>
          <a:noFill/>
          <a:ln w="0">
            <a:noFill/>
            <a:prstDash val="solid"/>
          </a:ln>
        </p:spPr>
        <p:txBody>
          <a:bodyPr wrap="square" lIns="0" tIns="0" rIns="0" bIns="0" anchor="t">
            <a:noAutofit/>
          </a:bodyPr>
          <a:lstStyle>
            <a:defPPr algn="l">
              <a:defRPr sz="2100" b="1">
                <a:solidFill>
                  <a:srgbClr val="122027"/>
                </a:solidFill>
                <a:latin typeface="Aptos Display"/>
                <a:ea typeface="Aptos Display"/>
                <a:cs typeface="Aptos Display"/>
              </a:defRPr>
            </a:defPPr>
          </a:lstStyle>
          <a:p>
            <a:pPr algn="l">
              <a:defRPr sz="2100" b="1">
                <a:solidFill>
                  <a:srgbClr val="122027"/>
                </a:solidFill>
                <a:latin typeface="Aptos Display"/>
                <a:ea typeface="Aptos Display"/>
                <a:cs typeface="Aptos Display"/>
              </a:defRPr>
            </a:pPr>
            <a:r>
              <a:rPr sz="2100" b="1">
                <a:solidFill>
                  <a:srgbClr val="122027"/>
                </a:solidFill>
                <a:latin typeface="Aptos Display"/>
                <a:ea typeface="Aptos Display"/>
                <a:cs typeface="Aptos Display"/>
              </a:rPr>
              <a:t>Average score ≥ 50</a:t>
            </a:r>
          </a:p>
        </p:txBody>
      </p:sp>
      <p:sp>
        <p:nvSpPr>
          <p:cNvPr id="14" name="promotion-rule-1">
            <a:extLst>
              <a:ext uri="{FF2B5EF4-FFF2-40B4-BE49-F238E27FC236}">
                <a16:creationId xmlns:a16="http://schemas.microsoft.com/office/drawing/2014/main" id="{1B517C87-68A3-49B6-94FF-6F092A915480}"/>
              </a:ext>
            </a:extLst>
          </p:cNvPr>
          <p:cNvSpPr>
            <a:spLocks noGrp="1"/>
          </p:cNvSpPr>
          <p:nvPr/>
        </p:nvSpPr>
        <p:spPr>
          <a:xfrm>
            <a:off x="800100" y="4200525"/>
            <a:ext cx="10001250" cy="0"/>
          </a:xfrm>
          <a:prstGeom prst="line">
            <a:avLst/>
          </a:prstGeom>
          <a:noFill/>
          <a:ln w="9525">
            <a:solidFill>
              <a:srgbClr val="BCD5DA"/>
            </a:solidFill>
            <a:prstDash val="solid"/>
          </a:ln>
        </p:spPr>
      </p:sp>
      <p:sp>
        <p:nvSpPr>
          <p:cNvPr id="15" name="promotion-label-2">
            <a:extLst>
              <a:ext uri="{FF2B5EF4-FFF2-40B4-BE49-F238E27FC236}">
                <a16:creationId xmlns:a16="http://schemas.microsoft.com/office/drawing/2014/main" id="{9D555E34-F512-4986-8BB9-9686D2AA9923}"/>
              </a:ext>
            </a:extLst>
          </p:cNvPr>
          <p:cNvSpPr>
            <a:spLocks noGrp="1"/>
          </p:cNvSpPr>
          <p:nvPr/>
        </p:nvSpPr>
        <p:spPr>
          <a:xfrm>
            <a:off x="800100" y="4591050"/>
            <a:ext cx="3143250" cy="323850"/>
          </a:xfrm>
          <a:prstGeom prst="rect">
            <a:avLst/>
          </a:prstGeom>
          <a:noFill/>
          <a:ln w="0">
            <a:noFill/>
            <a:prstDash val="solid"/>
          </a:ln>
        </p:spPr>
        <p:txBody>
          <a:bodyPr wrap="square" lIns="0" tIns="0" rIns="0" bIns="0" anchor="t">
            <a:noAutofit/>
          </a:bodyPr>
          <a:lstStyle>
            <a:defPPr algn="l">
              <a:defRPr sz="1200" b="1">
                <a:solidFill>
                  <a:srgbClr val="287C88"/>
                </a:solidFill>
                <a:latin typeface="Aptos"/>
                <a:ea typeface="Aptos"/>
                <a:cs typeface="Aptos"/>
              </a:defRPr>
            </a:defPPr>
          </a:lstStyle>
          <a:p>
            <a:pPr algn="l">
              <a:defRPr sz="1200" b="1">
                <a:solidFill>
                  <a:srgbClr val="287C88"/>
                </a:solidFill>
                <a:latin typeface="Aptos"/>
                <a:ea typeface="Aptos"/>
                <a:cs typeface="Aptos"/>
              </a:defRPr>
            </a:pPr>
            <a:r>
              <a:rPr sz="1200" b="1">
                <a:solidFill>
                  <a:srgbClr val="287C88"/>
                </a:solidFill>
                <a:latin typeface="Aptos"/>
                <a:ea typeface="Aptos"/>
                <a:cs typeface="Aptos"/>
              </a:rPr>
              <a:t>THREE OTHER SUBJECTS</a:t>
            </a:r>
          </a:p>
        </p:txBody>
      </p:sp>
      <p:sp>
        <p:nvSpPr>
          <p:cNvPr id="16" name="promotion-detail-2">
            <a:extLst>
              <a:ext uri="{FF2B5EF4-FFF2-40B4-BE49-F238E27FC236}">
                <a16:creationId xmlns:a16="http://schemas.microsoft.com/office/drawing/2014/main" id="{89B30153-C820-4736-8184-EBB5578DFC39}"/>
              </a:ext>
            </a:extLst>
          </p:cNvPr>
          <p:cNvSpPr>
            <a:spLocks noGrp="1"/>
          </p:cNvSpPr>
          <p:nvPr/>
        </p:nvSpPr>
        <p:spPr>
          <a:xfrm>
            <a:off x="4333875" y="4552950"/>
            <a:ext cx="6191250" cy="428625"/>
          </a:xfrm>
          <a:prstGeom prst="rect">
            <a:avLst/>
          </a:prstGeom>
          <a:noFill/>
          <a:ln w="0">
            <a:noFill/>
            <a:prstDash val="solid"/>
          </a:ln>
        </p:spPr>
        <p:txBody>
          <a:bodyPr wrap="square" lIns="0" tIns="0" rIns="0" bIns="0" anchor="t">
            <a:noAutofit/>
          </a:bodyPr>
          <a:lstStyle>
            <a:defPPr algn="l">
              <a:defRPr sz="2100" b="1">
                <a:solidFill>
                  <a:srgbClr val="122027"/>
                </a:solidFill>
                <a:latin typeface="Aptos Display"/>
                <a:ea typeface="Aptos Display"/>
                <a:cs typeface="Aptos Display"/>
              </a:defRPr>
            </a:defPPr>
          </a:lstStyle>
          <a:p>
            <a:pPr algn="l">
              <a:defRPr sz="2100" b="1">
                <a:solidFill>
                  <a:srgbClr val="122027"/>
                </a:solidFill>
                <a:latin typeface="Aptos Display"/>
                <a:ea typeface="Aptos Display"/>
                <a:cs typeface="Aptos Display"/>
              </a:defRPr>
            </a:pPr>
            <a:r>
              <a:rPr sz="2100" b="1">
                <a:solidFill>
                  <a:srgbClr val="122027"/>
                </a:solidFill>
                <a:latin typeface="Aptos Display"/>
                <a:ea typeface="Aptos Display"/>
                <a:cs typeface="Aptos Display"/>
              </a:rPr>
              <a:t>Average score ≥ 50 in each</a:t>
            </a:r>
          </a:p>
        </p:txBody>
      </p:sp>
      <p:sp>
        <p:nvSpPr>
          <p:cNvPr id="17" name="promotion-outcome">
            <a:extLst>
              <a:ext uri="{FF2B5EF4-FFF2-40B4-BE49-F238E27FC236}">
                <a16:creationId xmlns:a16="http://schemas.microsoft.com/office/drawing/2014/main" id="{8C13FA98-0B5C-4702-BF77-073152444B47}"/>
              </a:ext>
            </a:extLst>
          </p:cNvPr>
          <p:cNvSpPr>
            <a:spLocks noGrp="1"/>
          </p:cNvSpPr>
          <p:nvPr/>
        </p:nvSpPr>
        <p:spPr>
          <a:xfrm>
            <a:off x="800100" y="5610225"/>
            <a:ext cx="9525000" cy="552450"/>
          </a:xfrm>
          <a:prstGeom prst="rect">
            <a:avLst/>
          </a:prstGeom>
          <a:noFill/>
          <a:ln w="0">
            <a:noFill/>
            <a:prstDash val="solid"/>
          </a:ln>
        </p:spPr>
        <p:txBody>
          <a:bodyPr wrap="square" lIns="0" tIns="0" rIns="0" bIns="0" anchor="t">
            <a:noAutofit/>
          </a:bodyPr>
          <a:lstStyle>
            <a:defPPr algn="l">
              <a:defRPr sz="1500" b="0">
                <a:solidFill>
                  <a:srgbClr val="5B6B72"/>
                </a:solidFill>
                <a:latin typeface="Aptos"/>
                <a:ea typeface="Aptos"/>
                <a:cs typeface="Aptos"/>
              </a:defRPr>
            </a:defPPr>
          </a:lstStyle>
          <a:p>
            <a:pPr algn="l">
              <a:defRPr sz="1500" b="0">
                <a:solidFill>
                  <a:srgbClr val="5B6B72"/>
                </a:solidFill>
                <a:latin typeface="Aptos"/>
                <a:ea typeface="Aptos"/>
                <a:cs typeface="Aptos"/>
              </a:defRPr>
            </a:pPr>
            <a:r>
              <a:rPr sz="1500" b="0">
                <a:solidFill>
                  <a:srgbClr val="5B6B72"/>
                </a:solidFill>
                <a:latin typeface="Aptos"/>
                <a:ea typeface="Aptos"/>
                <a:cs typeface="Aptos"/>
              </a:rPr>
              <a:t>All conditions met → promoted</a:t>
            </a:r>
          </a:p>
          <a:p>
            <a:pPr algn="l">
              <a:defRPr sz="1500" b="0">
                <a:solidFill>
                  <a:srgbClr val="5B6B72"/>
                </a:solidFill>
                <a:latin typeface="Aptos"/>
                <a:ea typeface="Aptos"/>
                <a:cs typeface="Aptos"/>
              </a:defRPr>
            </a:pPr>
            <a:r>
              <a:rPr sz="1500" b="0">
                <a:solidFill>
                  <a:srgbClr val="5B6B72"/>
                </a:solidFill>
                <a:latin typeface="Aptos"/>
                <a:ea typeface="Aptos"/>
                <a:cs typeface="Aptos"/>
              </a:rPr>
              <a:t>Otherwise → verdict includes the reason</a:t>
            </a:r>
          </a:p>
        </p:txBody>
      </p:sp>
    </p:spTree>
    <p:extLst>
      <p:ext uri="{BB962C8B-B14F-4D97-AF65-F5344CB8AC3E}">
        <p14:creationId xmlns:p14="http://schemas.microsoft.com/office/powerpoint/2010/main" val="8967737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EEF5F7"/>
        </a:solidFill>
        <a:effectLst/>
      </p:bgPr>
    </p:bg>
    <p:spTree>
      <p:nvGrpSpPr>
        <p:cNvPr id="1" name=""/>
        <p:cNvGrpSpPr/>
        <p:nvPr/>
      </p:nvGrpSpPr>
      <p:grpSpPr>
        <a:xfrm>
          <a:off x="0" y="0"/>
          <a:ext cx="0" cy="0"/>
          <a:chOff x="0" y="0"/>
          <a:chExt cx="0" cy="0"/>
        </a:xfrm>
      </p:grpSpPr>
      <p:sp>
        <p:nvSpPr>
          <p:cNvPr id="20" name="brand-dot">
            <a:extLst>
              <a:ext uri="{FF2B5EF4-FFF2-40B4-BE49-F238E27FC236}">
                <a16:creationId xmlns:a16="http://schemas.microsoft.com/office/drawing/2014/main" id="{2A97E7E7-D48F-479C-AE6F-D9CB9539B57C}"/>
              </a:ext>
            </a:extLst>
          </p:cNvPr>
          <p:cNvSpPr>
            <a:spLocks noGrp="1"/>
          </p:cNvSpPr>
          <p:nvPr/>
        </p:nvSpPr>
        <p:spPr>
          <a:xfrm>
            <a:off x="457200" y="428625"/>
            <a:ext cx="104775" cy="104775"/>
          </a:xfrm>
          <a:prstGeom prst="ellipse">
            <a:avLst/>
          </a:prstGeom>
          <a:solidFill>
            <a:srgbClr val="287C88"/>
          </a:solidFill>
          <a:ln w="0">
            <a:noFill/>
            <a:prstDash val="solid"/>
          </a:ln>
        </p:spPr>
      </p:sp>
      <p:sp>
        <p:nvSpPr>
          <p:cNvPr id="2" name="brand">
            <a:extLst>
              <a:ext uri="{FF2B5EF4-FFF2-40B4-BE49-F238E27FC236}">
                <a16:creationId xmlns:a16="http://schemas.microsoft.com/office/drawing/2014/main" id="{EBE2F312-5E15-4FD6-A642-7ADAA2EC816D}"/>
              </a:ext>
            </a:extLst>
          </p:cNvPr>
          <p:cNvSpPr>
            <a:spLocks noGrp="1"/>
          </p:cNvSpPr>
          <p:nvPr/>
        </p:nvSpPr>
        <p:spPr>
          <a:xfrm>
            <a:off x="723900" y="352425"/>
            <a:ext cx="1381125" cy="285750"/>
          </a:xfrm>
          <a:prstGeom prst="rect">
            <a:avLst/>
          </a:prstGeom>
          <a:noFill/>
          <a:ln w="0">
            <a:noFill/>
            <a:prstDash val="solid"/>
          </a:ln>
        </p:spPr>
        <p:txBody>
          <a:bodyPr wrap="square" lIns="0" tIns="0" rIns="0" bIns="0" anchor="t">
            <a:noAutofit/>
          </a:bodyPr>
          <a:lstStyle>
            <a:defPPr algn="l">
              <a:defRPr sz="1125" b="1">
                <a:solidFill>
                  <a:srgbClr val="5B6B72"/>
                </a:solidFill>
                <a:latin typeface="Aptos"/>
                <a:ea typeface="Aptos"/>
                <a:cs typeface="Aptos"/>
              </a:defRPr>
            </a:defPPr>
          </a:lstStyle>
          <a:p>
            <a:pPr algn="l">
              <a:defRPr sz="1125" b="1">
                <a:solidFill>
                  <a:srgbClr val="5B6B72"/>
                </a:solidFill>
                <a:latin typeface="Aptos"/>
                <a:ea typeface="Aptos"/>
                <a:cs typeface="Aptos"/>
              </a:defRPr>
            </a:pPr>
            <a:r>
              <a:rPr lang="en-US" sz="1125" b="1" dirty="0">
                <a:solidFill>
                  <a:srgbClr val="5B6B72"/>
                </a:solidFill>
                <a:latin typeface="Aptos"/>
                <a:ea typeface="Aptos"/>
                <a:cs typeface="Aptos"/>
              </a:rPr>
              <a:t>HMA</a:t>
            </a:r>
            <a:endParaRPr sz="1125" b="1" dirty="0">
              <a:solidFill>
                <a:srgbClr val="5B6B72"/>
              </a:solidFill>
              <a:latin typeface="Aptos"/>
              <a:ea typeface="Aptos"/>
              <a:cs typeface="Aptos"/>
            </a:endParaRPr>
          </a:p>
        </p:txBody>
      </p:sp>
      <p:sp>
        <p:nvSpPr>
          <p:cNvPr id="3" name="category">
            <a:extLst>
              <a:ext uri="{FF2B5EF4-FFF2-40B4-BE49-F238E27FC236}">
                <a16:creationId xmlns:a16="http://schemas.microsoft.com/office/drawing/2014/main" id="{533F1A82-9577-4F19-9E48-D75948C95E1A}"/>
              </a:ext>
            </a:extLst>
          </p:cNvPr>
          <p:cNvSpPr>
            <a:spLocks noGrp="1"/>
          </p:cNvSpPr>
          <p:nvPr/>
        </p:nvSpPr>
        <p:spPr>
          <a:xfrm>
            <a:off x="2133600" y="352425"/>
            <a:ext cx="3429000" cy="285750"/>
          </a:xfrm>
          <a:prstGeom prst="rect">
            <a:avLst/>
          </a:prstGeom>
          <a:noFill/>
          <a:ln w="0">
            <a:noFill/>
            <a:prstDash val="solid"/>
          </a:ln>
        </p:spPr>
        <p:txBody>
          <a:bodyPr wrap="square" lIns="0" tIns="0" rIns="0" bIns="0" anchor="t">
            <a:noAutofit/>
          </a:bodyPr>
          <a:lstStyle>
            <a:defPPr algn="l">
              <a:defRPr sz="1050" b="0">
                <a:solidFill>
                  <a:srgbClr val="5B6B72"/>
                </a:solidFill>
                <a:latin typeface="Aptos"/>
                <a:ea typeface="Aptos"/>
                <a:cs typeface="Aptos"/>
              </a:defRPr>
            </a:defPPr>
          </a:lstStyle>
          <a:p>
            <a:pPr algn="l">
              <a:defRPr sz="1050" b="0">
                <a:solidFill>
                  <a:srgbClr val="5B6B72"/>
                </a:solidFill>
                <a:latin typeface="Aptos"/>
                <a:ea typeface="Aptos"/>
                <a:cs typeface="Aptos"/>
              </a:defRPr>
            </a:pPr>
            <a:r>
              <a:rPr sz="1050" b="0">
                <a:solidFill>
                  <a:srgbClr val="5B6B72"/>
                </a:solidFill>
                <a:latin typeface="Aptos"/>
                <a:ea typeface="Aptos"/>
                <a:cs typeface="Aptos"/>
              </a:rPr>
              <a:t>SECONDARY SCHOOL MANAGEMENT</a:t>
            </a:r>
          </a:p>
        </p:txBody>
      </p:sp>
      <p:sp>
        <p:nvSpPr>
          <p:cNvPr id="4" name="page-number">
            <a:extLst>
              <a:ext uri="{FF2B5EF4-FFF2-40B4-BE49-F238E27FC236}">
                <a16:creationId xmlns:a16="http://schemas.microsoft.com/office/drawing/2014/main" id="{98861619-027A-4D1B-835A-7A4687623A4B}"/>
              </a:ext>
            </a:extLst>
          </p:cNvPr>
          <p:cNvSpPr>
            <a:spLocks noGrp="1"/>
          </p:cNvSpPr>
          <p:nvPr/>
        </p:nvSpPr>
        <p:spPr>
          <a:xfrm>
            <a:off x="11049000" y="342900"/>
            <a:ext cx="609600" cy="266700"/>
          </a:xfrm>
          <a:prstGeom prst="rect">
            <a:avLst/>
          </a:prstGeom>
          <a:noFill/>
          <a:ln w="0">
            <a:noFill/>
            <a:prstDash val="solid"/>
          </a:ln>
        </p:spPr>
        <p:txBody>
          <a:bodyPr wrap="square" lIns="0" tIns="0" rIns="0" bIns="0" anchor="t">
            <a:noAutofit/>
          </a:bodyPr>
          <a:lstStyle>
            <a:defPPr algn="r">
              <a:defRPr sz="1050" b="0">
                <a:solidFill>
                  <a:srgbClr val="5B6B72"/>
                </a:solidFill>
                <a:latin typeface="Aptos"/>
                <a:ea typeface="Aptos"/>
                <a:cs typeface="Aptos"/>
              </a:defRPr>
            </a:defPPr>
          </a:lstStyle>
          <a:p>
            <a:pPr algn="r">
              <a:defRPr sz="1050" b="0">
                <a:solidFill>
                  <a:srgbClr val="5B6B72"/>
                </a:solidFill>
                <a:latin typeface="Aptos"/>
                <a:ea typeface="Aptos"/>
                <a:cs typeface="Aptos"/>
              </a:defRPr>
            </a:pPr>
            <a:r>
              <a:rPr sz="1050" b="0">
                <a:solidFill>
                  <a:srgbClr val="5B6B72"/>
                </a:solidFill>
                <a:latin typeface="Aptos"/>
                <a:ea typeface="Aptos"/>
                <a:cs typeface="Aptos"/>
              </a:rPr>
              <a:t>05</a:t>
            </a:r>
          </a:p>
        </p:txBody>
      </p:sp>
      <p:sp>
        <p:nvSpPr>
          <p:cNvPr id="5" name="title">
            <a:extLst>
              <a:ext uri="{FF2B5EF4-FFF2-40B4-BE49-F238E27FC236}">
                <a16:creationId xmlns:a16="http://schemas.microsoft.com/office/drawing/2014/main" id="{504751A2-7937-44BF-9D5E-E41054D85635}"/>
              </a:ext>
            </a:extLst>
          </p:cNvPr>
          <p:cNvSpPr>
            <a:spLocks noGrp="1"/>
          </p:cNvSpPr>
          <p:nvPr/>
        </p:nvSpPr>
        <p:spPr>
          <a:xfrm>
            <a:off x="609600" y="876300"/>
            <a:ext cx="9906000" cy="590550"/>
          </a:xfrm>
          <a:prstGeom prst="rect">
            <a:avLst/>
          </a:prstGeom>
          <a:noFill/>
          <a:ln w="0">
            <a:noFill/>
            <a:prstDash val="solid"/>
          </a:ln>
        </p:spPr>
        <p:txBody>
          <a:bodyPr wrap="square" lIns="0" tIns="0" rIns="0" bIns="0" anchor="t">
            <a:noAutofit/>
          </a:bodyPr>
          <a:lstStyle>
            <a:defPPr algn="l">
              <a:defRPr sz="3150" b="1">
                <a:solidFill>
                  <a:srgbClr val="122027"/>
                </a:solidFill>
                <a:latin typeface="Aptos Display"/>
                <a:ea typeface="Aptos Display"/>
                <a:cs typeface="Aptos Display"/>
              </a:defRPr>
            </a:defPPr>
          </a:lstStyle>
          <a:p>
            <a:pPr algn="l">
              <a:defRPr sz="3150" b="1">
                <a:solidFill>
                  <a:srgbClr val="122027"/>
                </a:solidFill>
                <a:latin typeface="Aptos Display"/>
                <a:ea typeface="Aptos Display"/>
                <a:cs typeface="Aptos Display"/>
              </a:defRPr>
            </a:pPr>
            <a:r>
              <a:rPr sz="3150" b="1">
                <a:solidFill>
                  <a:srgbClr val="122027"/>
                </a:solidFill>
                <a:latin typeface="Aptos Display"/>
                <a:ea typeface="Aptos Display"/>
                <a:cs typeface="Aptos Display"/>
              </a:rPr>
              <a:t>Learning tools sit alongside school records</a:t>
            </a:r>
          </a:p>
        </p:txBody>
      </p:sp>
      <p:sp>
        <p:nvSpPr>
          <p:cNvPr id="6" name="subtitle">
            <a:extLst>
              <a:ext uri="{FF2B5EF4-FFF2-40B4-BE49-F238E27FC236}">
                <a16:creationId xmlns:a16="http://schemas.microsoft.com/office/drawing/2014/main" id="{18BDC038-CD64-4984-8843-38E3E1BBEA71}"/>
              </a:ext>
            </a:extLst>
          </p:cNvPr>
          <p:cNvSpPr>
            <a:spLocks noGrp="1"/>
          </p:cNvSpPr>
          <p:nvPr/>
        </p:nvSpPr>
        <p:spPr>
          <a:xfrm>
            <a:off x="628650" y="1504950"/>
            <a:ext cx="10001250" cy="514350"/>
          </a:xfrm>
          <a:prstGeom prst="rect">
            <a:avLst/>
          </a:prstGeom>
          <a:noFill/>
          <a:ln w="0">
            <a:noFill/>
            <a:prstDash val="solid"/>
          </a:ln>
        </p:spPr>
        <p:txBody>
          <a:bodyPr wrap="square" lIns="0" tIns="0" rIns="0" bIns="0" anchor="t">
            <a:noAutofit/>
          </a:bodyPr>
          <a:lstStyle>
            <a:defPPr algn="l">
              <a:defRPr sz="1650" b="0">
                <a:solidFill>
                  <a:srgbClr val="5B6B72"/>
                </a:solidFill>
                <a:latin typeface="Aptos"/>
                <a:ea typeface="Aptos"/>
                <a:cs typeface="Aptos"/>
              </a:defRPr>
            </a:defPPr>
          </a:lstStyle>
          <a:p>
            <a:pPr algn="l">
              <a:defRPr sz="1650" b="0">
                <a:solidFill>
                  <a:srgbClr val="5B6B72"/>
                </a:solidFill>
                <a:latin typeface="Aptos"/>
                <a:ea typeface="Aptos"/>
                <a:cs typeface="Aptos"/>
              </a:defRPr>
            </a:pPr>
            <a:r>
              <a:rPr sz="1650" b="0">
                <a:solidFill>
                  <a:srgbClr val="5B6B72"/>
                </a:solidFill>
                <a:latin typeface="Aptos"/>
                <a:ea typeface="Aptos"/>
                <a:cs typeface="Aptos"/>
              </a:rPr>
              <a:t>Classroom activity remains connected to the same roles, subjects and student context.</a:t>
            </a:r>
          </a:p>
        </p:txBody>
      </p:sp>
      <p:sp>
        <p:nvSpPr>
          <p:cNvPr id="7" name="footer-rule">
            <a:extLst>
              <a:ext uri="{FF2B5EF4-FFF2-40B4-BE49-F238E27FC236}">
                <a16:creationId xmlns:a16="http://schemas.microsoft.com/office/drawing/2014/main" id="{FF0F9BCF-E816-4217-8259-E581594CE15E}"/>
              </a:ext>
            </a:extLst>
          </p:cNvPr>
          <p:cNvSpPr>
            <a:spLocks noGrp="1"/>
          </p:cNvSpPr>
          <p:nvPr/>
        </p:nvSpPr>
        <p:spPr>
          <a:xfrm>
            <a:off x="609600" y="6343650"/>
            <a:ext cx="10972800" cy="0"/>
          </a:xfrm>
          <a:prstGeom prst="line">
            <a:avLst/>
          </a:prstGeom>
          <a:noFill/>
          <a:ln w="9525">
            <a:solidFill>
              <a:srgbClr val="BCD5DA"/>
            </a:solidFill>
            <a:prstDash val="solid"/>
          </a:ln>
        </p:spPr>
      </p:sp>
      <p:sp>
        <p:nvSpPr>
          <p:cNvPr id="8" name="footer">
            <a:extLst>
              <a:ext uri="{FF2B5EF4-FFF2-40B4-BE49-F238E27FC236}">
                <a16:creationId xmlns:a16="http://schemas.microsoft.com/office/drawing/2014/main" id="{B9E7656A-124E-42EB-B39F-D0FCFFB089C7}"/>
              </a:ext>
            </a:extLst>
          </p:cNvPr>
          <p:cNvSpPr>
            <a:spLocks noGrp="1"/>
          </p:cNvSpPr>
          <p:nvPr/>
        </p:nvSpPr>
        <p:spPr>
          <a:xfrm>
            <a:off x="628650" y="6429375"/>
            <a:ext cx="6477000" cy="190500"/>
          </a:xfrm>
          <a:prstGeom prst="rect">
            <a:avLst/>
          </a:prstGeom>
          <a:noFill/>
          <a:ln w="0">
            <a:noFill/>
            <a:prstDash val="solid"/>
          </a:ln>
        </p:spPr>
        <p:txBody>
          <a:bodyPr wrap="square" lIns="0" tIns="0" rIns="0" bIns="0" anchor="t">
            <a:noAutofit/>
          </a:bodyPr>
          <a:lstStyle>
            <a:defPPr algn="l">
              <a:defRPr sz="825" b="0">
                <a:solidFill>
                  <a:srgbClr val="5B6B72"/>
                </a:solidFill>
                <a:latin typeface="Aptos"/>
                <a:ea typeface="Aptos"/>
                <a:cs typeface="Aptos"/>
              </a:defRPr>
            </a:defPPr>
          </a:lstStyle>
          <a:p>
            <a:pPr algn="l">
              <a:defRPr sz="825" b="0">
                <a:solidFill>
                  <a:srgbClr val="5B6B72"/>
                </a:solidFill>
                <a:latin typeface="Aptos"/>
                <a:ea typeface="Aptos"/>
                <a:cs typeface="Aptos"/>
              </a:defRPr>
            </a:pPr>
            <a:r>
              <a:rPr lang="en-US" sz="825" b="0" dirty="0">
                <a:solidFill>
                  <a:srgbClr val="5B6B72"/>
                </a:solidFill>
                <a:latin typeface="Aptos"/>
                <a:ea typeface="Aptos"/>
                <a:cs typeface="Aptos"/>
              </a:rPr>
              <a:t>HMA</a:t>
            </a:r>
            <a:r>
              <a:rPr sz="825" b="0" dirty="0">
                <a:solidFill>
                  <a:srgbClr val="5B6B72"/>
                </a:solidFill>
                <a:latin typeface="Aptos"/>
                <a:ea typeface="Aptos"/>
                <a:cs typeface="Aptos"/>
              </a:rPr>
              <a:t>  ·  NIGERIAN SECONDARY SCHOOLS</a:t>
            </a:r>
          </a:p>
        </p:txBody>
      </p:sp>
      <p:sp>
        <p:nvSpPr>
          <p:cNvPr id="9" name="learning-label-0">
            <a:extLst>
              <a:ext uri="{FF2B5EF4-FFF2-40B4-BE49-F238E27FC236}">
                <a16:creationId xmlns:a16="http://schemas.microsoft.com/office/drawing/2014/main" id="{9A49D1C7-F887-4FB5-9682-2F7B50556FA2}"/>
              </a:ext>
            </a:extLst>
          </p:cNvPr>
          <p:cNvSpPr>
            <a:spLocks noGrp="1"/>
          </p:cNvSpPr>
          <p:nvPr/>
        </p:nvSpPr>
        <p:spPr>
          <a:xfrm>
            <a:off x="723900" y="2343150"/>
            <a:ext cx="2667000" cy="285750"/>
          </a:xfrm>
          <a:prstGeom prst="rect">
            <a:avLst/>
          </a:prstGeom>
          <a:noFill/>
          <a:ln w="0">
            <a:noFill/>
            <a:prstDash val="solid"/>
          </a:ln>
        </p:spPr>
        <p:txBody>
          <a:bodyPr wrap="square" lIns="0" tIns="0" rIns="0" bIns="0" anchor="t">
            <a:noAutofit/>
          </a:bodyPr>
          <a:lstStyle>
            <a:defPPr algn="l">
              <a:defRPr sz="1200" b="1">
                <a:solidFill>
                  <a:srgbClr val="287C88"/>
                </a:solidFill>
                <a:latin typeface="Aptos"/>
                <a:ea typeface="Aptos"/>
                <a:cs typeface="Aptos"/>
              </a:defRPr>
            </a:defPPr>
          </a:lstStyle>
          <a:p>
            <a:pPr algn="l">
              <a:defRPr sz="1200" b="1">
                <a:solidFill>
                  <a:srgbClr val="287C88"/>
                </a:solidFill>
                <a:latin typeface="Aptos"/>
                <a:ea typeface="Aptos"/>
                <a:cs typeface="Aptos"/>
              </a:defRPr>
            </a:pPr>
            <a:r>
              <a:rPr sz="1200" b="1">
                <a:solidFill>
                  <a:srgbClr val="287C88"/>
                </a:solidFill>
                <a:latin typeface="Aptos"/>
                <a:ea typeface="Aptos"/>
                <a:cs typeface="Aptos"/>
              </a:rPr>
              <a:t>ASSIGNMENTS</a:t>
            </a:r>
          </a:p>
        </p:txBody>
      </p:sp>
      <p:sp>
        <p:nvSpPr>
          <p:cNvPr id="10" name="learning-body-0">
            <a:extLst>
              <a:ext uri="{FF2B5EF4-FFF2-40B4-BE49-F238E27FC236}">
                <a16:creationId xmlns:a16="http://schemas.microsoft.com/office/drawing/2014/main" id="{5819DD3E-9C2C-48F9-87D1-5513591243B6}"/>
              </a:ext>
            </a:extLst>
          </p:cNvPr>
          <p:cNvSpPr>
            <a:spLocks noGrp="1"/>
          </p:cNvSpPr>
          <p:nvPr/>
        </p:nvSpPr>
        <p:spPr>
          <a:xfrm>
            <a:off x="3429000" y="2305050"/>
            <a:ext cx="7981950" cy="590550"/>
          </a:xfrm>
          <a:prstGeom prst="rect">
            <a:avLst/>
          </a:prstGeom>
          <a:noFill/>
          <a:ln w="0">
            <a:noFill/>
            <a:prstDash val="solid"/>
          </a:ln>
        </p:spPr>
        <p:txBody>
          <a:bodyPr wrap="square" lIns="0" tIns="0" rIns="0" bIns="0" anchor="t">
            <a:noAutofit/>
          </a:bodyPr>
          <a:lstStyle>
            <a:defPPr algn="l">
              <a:defRPr sz="1575" b="0">
                <a:solidFill>
                  <a:srgbClr val="122027"/>
                </a:solidFill>
                <a:latin typeface="Aptos"/>
                <a:ea typeface="Aptos"/>
                <a:cs typeface="Aptos"/>
              </a:defRPr>
            </a:defPPr>
          </a:lstStyle>
          <a:p>
            <a:pPr algn="l">
              <a:defRPr sz="1575" b="0">
                <a:solidFill>
                  <a:srgbClr val="122027"/>
                </a:solidFill>
                <a:latin typeface="Aptos"/>
                <a:ea typeface="Aptos"/>
                <a:cs typeface="Aptos"/>
              </a:defRPr>
            </a:pPr>
            <a:r>
              <a:rPr sz="1575" b="0">
                <a:solidFill>
                  <a:srgbClr val="122027"/>
                </a:solidFill>
                <a:latin typeface="Aptos"/>
                <a:ea typeface="Aptos"/>
                <a:cs typeface="Aptos"/>
              </a:rPr>
              <a:t>Subject teachers create assignments and due dates; students and linked parents can review them.</a:t>
            </a:r>
          </a:p>
        </p:txBody>
      </p:sp>
      <p:sp>
        <p:nvSpPr>
          <p:cNvPr id="11" name="learning-rule-0">
            <a:extLst>
              <a:ext uri="{FF2B5EF4-FFF2-40B4-BE49-F238E27FC236}">
                <a16:creationId xmlns:a16="http://schemas.microsoft.com/office/drawing/2014/main" id="{7E18826C-DFAC-48FB-8554-7AF0C8E72FB2}"/>
              </a:ext>
            </a:extLst>
          </p:cNvPr>
          <p:cNvSpPr>
            <a:spLocks noGrp="1"/>
          </p:cNvSpPr>
          <p:nvPr/>
        </p:nvSpPr>
        <p:spPr>
          <a:xfrm>
            <a:off x="723900" y="2943225"/>
            <a:ext cx="10706100" cy="0"/>
          </a:xfrm>
          <a:prstGeom prst="line">
            <a:avLst/>
          </a:prstGeom>
          <a:noFill/>
          <a:ln w="9525">
            <a:solidFill>
              <a:srgbClr val="BCD5DA"/>
            </a:solidFill>
            <a:prstDash val="solid"/>
          </a:ln>
        </p:spPr>
      </p:sp>
      <p:sp>
        <p:nvSpPr>
          <p:cNvPr id="12" name="learning-label-1">
            <a:extLst>
              <a:ext uri="{FF2B5EF4-FFF2-40B4-BE49-F238E27FC236}">
                <a16:creationId xmlns:a16="http://schemas.microsoft.com/office/drawing/2014/main" id="{F5EB6F3D-9E40-4AA7-8B26-66EDC6BFE3EC}"/>
              </a:ext>
            </a:extLst>
          </p:cNvPr>
          <p:cNvSpPr>
            <a:spLocks noGrp="1"/>
          </p:cNvSpPr>
          <p:nvPr/>
        </p:nvSpPr>
        <p:spPr>
          <a:xfrm>
            <a:off x="723900" y="3181350"/>
            <a:ext cx="2667000" cy="285750"/>
          </a:xfrm>
          <a:prstGeom prst="rect">
            <a:avLst/>
          </a:prstGeom>
          <a:noFill/>
          <a:ln w="0">
            <a:noFill/>
            <a:prstDash val="solid"/>
          </a:ln>
        </p:spPr>
        <p:txBody>
          <a:bodyPr wrap="square" lIns="0" tIns="0" rIns="0" bIns="0" anchor="t">
            <a:noAutofit/>
          </a:bodyPr>
          <a:lstStyle>
            <a:defPPr algn="l">
              <a:defRPr sz="1200" b="1">
                <a:solidFill>
                  <a:srgbClr val="287C88"/>
                </a:solidFill>
                <a:latin typeface="Aptos"/>
                <a:ea typeface="Aptos"/>
                <a:cs typeface="Aptos"/>
              </a:defRPr>
            </a:defPPr>
          </a:lstStyle>
          <a:p>
            <a:pPr algn="l">
              <a:defRPr sz="1200" b="1">
                <a:solidFill>
                  <a:srgbClr val="287C88"/>
                </a:solidFill>
                <a:latin typeface="Aptos"/>
                <a:ea typeface="Aptos"/>
                <a:cs typeface="Aptos"/>
              </a:defRPr>
            </a:pPr>
            <a:r>
              <a:rPr sz="1200" b="1">
                <a:solidFill>
                  <a:srgbClr val="287C88"/>
                </a:solidFill>
                <a:latin typeface="Aptos"/>
                <a:ea typeface="Aptos"/>
                <a:cs typeface="Aptos"/>
              </a:rPr>
              <a:t>LESSONS + QUIZZES</a:t>
            </a:r>
          </a:p>
        </p:txBody>
      </p:sp>
      <p:sp>
        <p:nvSpPr>
          <p:cNvPr id="13" name="learning-body-1">
            <a:extLst>
              <a:ext uri="{FF2B5EF4-FFF2-40B4-BE49-F238E27FC236}">
                <a16:creationId xmlns:a16="http://schemas.microsoft.com/office/drawing/2014/main" id="{568864EE-F607-433F-8D3D-525D51A2F4EC}"/>
              </a:ext>
            </a:extLst>
          </p:cNvPr>
          <p:cNvSpPr>
            <a:spLocks noGrp="1"/>
          </p:cNvSpPr>
          <p:nvPr/>
        </p:nvSpPr>
        <p:spPr>
          <a:xfrm>
            <a:off x="3429000" y="3143250"/>
            <a:ext cx="7981950" cy="590550"/>
          </a:xfrm>
          <a:prstGeom prst="rect">
            <a:avLst/>
          </a:prstGeom>
          <a:noFill/>
          <a:ln w="0">
            <a:noFill/>
            <a:prstDash val="solid"/>
          </a:ln>
        </p:spPr>
        <p:txBody>
          <a:bodyPr wrap="square" lIns="0" tIns="0" rIns="0" bIns="0" anchor="t">
            <a:noAutofit/>
          </a:bodyPr>
          <a:lstStyle>
            <a:defPPr algn="l">
              <a:defRPr sz="1575" b="0">
                <a:solidFill>
                  <a:srgbClr val="122027"/>
                </a:solidFill>
                <a:latin typeface="Aptos"/>
                <a:ea typeface="Aptos"/>
                <a:cs typeface="Aptos"/>
              </a:defRPr>
            </a:defPPr>
          </a:lstStyle>
          <a:p>
            <a:pPr algn="l">
              <a:defRPr sz="1575" b="0">
                <a:solidFill>
                  <a:srgbClr val="122027"/>
                </a:solidFill>
                <a:latin typeface="Aptos"/>
                <a:ea typeface="Aptos"/>
                <a:cs typeface="Aptos"/>
              </a:defRPr>
            </a:pPr>
            <a:r>
              <a:rPr sz="1575" b="0">
                <a:solidFill>
                  <a:srgbClr val="122027"/>
                </a:solidFill>
                <a:latin typeface="Aptos"/>
                <a:ea typeface="Aptos"/>
                <a:cs typeface="Aptos"/>
              </a:rPr>
              <a:t>Teachers publish learning material and quizzes; quiz attempts are scored on the server.</a:t>
            </a:r>
          </a:p>
        </p:txBody>
      </p:sp>
      <p:sp>
        <p:nvSpPr>
          <p:cNvPr id="14" name="learning-rule-1">
            <a:extLst>
              <a:ext uri="{FF2B5EF4-FFF2-40B4-BE49-F238E27FC236}">
                <a16:creationId xmlns:a16="http://schemas.microsoft.com/office/drawing/2014/main" id="{7A54F2DD-A13D-40B1-878F-C38CF715AA9F}"/>
              </a:ext>
            </a:extLst>
          </p:cNvPr>
          <p:cNvSpPr>
            <a:spLocks noGrp="1"/>
          </p:cNvSpPr>
          <p:nvPr/>
        </p:nvSpPr>
        <p:spPr>
          <a:xfrm>
            <a:off x="723900" y="3781425"/>
            <a:ext cx="10706100" cy="0"/>
          </a:xfrm>
          <a:prstGeom prst="line">
            <a:avLst/>
          </a:prstGeom>
          <a:noFill/>
          <a:ln w="9525">
            <a:solidFill>
              <a:srgbClr val="BCD5DA"/>
            </a:solidFill>
            <a:prstDash val="solid"/>
          </a:ln>
        </p:spPr>
      </p:sp>
      <p:sp>
        <p:nvSpPr>
          <p:cNvPr id="15" name="learning-label-2">
            <a:extLst>
              <a:ext uri="{FF2B5EF4-FFF2-40B4-BE49-F238E27FC236}">
                <a16:creationId xmlns:a16="http://schemas.microsoft.com/office/drawing/2014/main" id="{B1852FD1-D368-40D2-9B9D-243C7412827D}"/>
              </a:ext>
            </a:extLst>
          </p:cNvPr>
          <p:cNvSpPr>
            <a:spLocks noGrp="1"/>
          </p:cNvSpPr>
          <p:nvPr/>
        </p:nvSpPr>
        <p:spPr>
          <a:xfrm>
            <a:off x="723900" y="4019550"/>
            <a:ext cx="2667000" cy="285750"/>
          </a:xfrm>
          <a:prstGeom prst="rect">
            <a:avLst/>
          </a:prstGeom>
          <a:noFill/>
          <a:ln w="0">
            <a:noFill/>
            <a:prstDash val="solid"/>
          </a:ln>
        </p:spPr>
        <p:txBody>
          <a:bodyPr wrap="square" lIns="0" tIns="0" rIns="0" bIns="0" anchor="t">
            <a:noAutofit/>
          </a:bodyPr>
          <a:lstStyle>
            <a:defPPr algn="l">
              <a:defRPr sz="1200" b="1">
                <a:solidFill>
                  <a:srgbClr val="287C88"/>
                </a:solidFill>
                <a:latin typeface="Aptos"/>
                <a:ea typeface="Aptos"/>
                <a:cs typeface="Aptos"/>
              </a:defRPr>
            </a:defPPr>
          </a:lstStyle>
          <a:p>
            <a:pPr algn="l">
              <a:defRPr sz="1200" b="1">
                <a:solidFill>
                  <a:srgbClr val="287C88"/>
                </a:solidFill>
                <a:latin typeface="Aptos"/>
                <a:ea typeface="Aptos"/>
                <a:cs typeface="Aptos"/>
              </a:defRPr>
            </a:pPr>
            <a:r>
              <a:rPr sz="1200" b="1">
                <a:solidFill>
                  <a:srgbClr val="287C88"/>
                </a:solidFill>
                <a:latin typeface="Aptos"/>
                <a:ea typeface="Aptos"/>
                <a:cs typeface="Aptos"/>
              </a:rPr>
              <a:t>DISCUSSIONS</a:t>
            </a:r>
          </a:p>
        </p:txBody>
      </p:sp>
      <p:sp>
        <p:nvSpPr>
          <p:cNvPr id="16" name="learning-body-2">
            <a:extLst>
              <a:ext uri="{FF2B5EF4-FFF2-40B4-BE49-F238E27FC236}">
                <a16:creationId xmlns:a16="http://schemas.microsoft.com/office/drawing/2014/main" id="{763A6D5F-BB58-4D21-A77F-12A45C0FDF6C}"/>
              </a:ext>
            </a:extLst>
          </p:cNvPr>
          <p:cNvSpPr>
            <a:spLocks noGrp="1"/>
          </p:cNvSpPr>
          <p:nvPr/>
        </p:nvSpPr>
        <p:spPr>
          <a:xfrm>
            <a:off x="3429000" y="3981450"/>
            <a:ext cx="7981950" cy="590550"/>
          </a:xfrm>
          <a:prstGeom prst="rect">
            <a:avLst/>
          </a:prstGeom>
          <a:noFill/>
          <a:ln w="0">
            <a:noFill/>
            <a:prstDash val="solid"/>
          </a:ln>
        </p:spPr>
        <p:txBody>
          <a:bodyPr wrap="square" lIns="0" tIns="0" rIns="0" bIns="0" anchor="t">
            <a:noAutofit/>
          </a:bodyPr>
          <a:lstStyle>
            <a:defPPr algn="l">
              <a:defRPr sz="1575" b="0">
                <a:solidFill>
                  <a:srgbClr val="122027"/>
                </a:solidFill>
                <a:latin typeface="Aptos"/>
                <a:ea typeface="Aptos"/>
                <a:cs typeface="Aptos"/>
              </a:defRPr>
            </a:defPPr>
          </a:lstStyle>
          <a:p>
            <a:pPr algn="l">
              <a:defRPr sz="1575" b="0">
                <a:solidFill>
                  <a:srgbClr val="122027"/>
                </a:solidFill>
                <a:latin typeface="Aptos"/>
                <a:ea typeface="Aptos"/>
                <a:cs typeface="Aptos"/>
              </a:defRPr>
            </a:pPr>
            <a:r>
              <a:rPr sz="1575" b="0">
                <a:solidFill>
                  <a:srgbClr val="122027"/>
                </a:solidFill>
                <a:latin typeface="Aptos"/>
                <a:ea typeface="Aptos"/>
                <a:cs typeface="Aptos"/>
              </a:rPr>
              <a:t>Students can participate in subject discussions alongside lessons and assessments.</a:t>
            </a:r>
          </a:p>
        </p:txBody>
      </p:sp>
      <p:sp>
        <p:nvSpPr>
          <p:cNvPr id="17" name="learning-rule-2">
            <a:extLst>
              <a:ext uri="{FF2B5EF4-FFF2-40B4-BE49-F238E27FC236}">
                <a16:creationId xmlns:a16="http://schemas.microsoft.com/office/drawing/2014/main" id="{B5B68AF7-A863-4BDD-AFB3-11A22E321C2A}"/>
              </a:ext>
            </a:extLst>
          </p:cNvPr>
          <p:cNvSpPr>
            <a:spLocks noGrp="1"/>
          </p:cNvSpPr>
          <p:nvPr/>
        </p:nvSpPr>
        <p:spPr>
          <a:xfrm>
            <a:off x="723900" y="4619625"/>
            <a:ext cx="10706100" cy="0"/>
          </a:xfrm>
          <a:prstGeom prst="line">
            <a:avLst/>
          </a:prstGeom>
          <a:noFill/>
          <a:ln w="9525">
            <a:solidFill>
              <a:srgbClr val="BCD5DA"/>
            </a:solidFill>
            <a:prstDash val="solid"/>
          </a:ln>
        </p:spPr>
      </p:sp>
      <p:sp>
        <p:nvSpPr>
          <p:cNvPr id="18" name="learning-label-3">
            <a:extLst>
              <a:ext uri="{FF2B5EF4-FFF2-40B4-BE49-F238E27FC236}">
                <a16:creationId xmlns:a16="http://schemas.microsoft.com/office/drawing/2014/main" id="{4D415F90-1803-4A84-9BFF-1C5EE09A86FB}"/>
              </a:ext>
            </a:extLst>
          </p:cNvPr>
          <p:cNvSpPr>
            <a:spLocks noGrp="1"/>
          </p:cNvSpPr>
          <p:nvPr/>
        </p:nvSpPr>
        <p:spPr>
          <a:xfrm>
            <a:off x="723900" y="4857750"/>
            <a:ext cx="2667000" cy="285750"/>
          </a:xfrm>
          <a:prstGeom prst="rect">
            <a:avLst/>
          </a:prstGeom>
          <a:noFill/>
          <a:ln w="0">
            <a:noFill/>
            <a:prstDash val="solid"/>
          </a:ln>
        </p:spPr>
        <p:txBody>
          <a:bodyPr wrap="square" lIns="0" tIns="0" rIns="0" bIns="0" anchor="t">
            <a:noAutofit/>
          </a:bodyPr>
          <a:lstStyle>
            <a:defPPr algn="l">
              <a:defRPr sz="1200" b="1">
                <a:solidFill>
                  <a:srgbClr val="287C88"/>
                </a:solidFill>
                <a:latin typeface="Aptos"/>
                <a:ea typeface="Aptos"/>
                <a:cs typeface="Aptos"/>
              </a:defRPr>
            </a:defPPr>
          </a:lstStyle>
          <a:p>
            <a:pPr algn="l">
              <a:defRPr sz="1200" b="1">
                <a:solidFill>
                  <a:srgbClr val="287C88"/>
                </a:solidFill>
                <a:latin typeface="Aptos"/>
                <a:ea typeface="Aptos"/>
                <a:cs typeface="Aptos"/>
              </a:defRPr>
            </a:pPr>
            <a:r>
              <a:rPr sz="1200" b="1">
                <a:solidFill>
                  <a:srgbClr val="287C88"/>
                </a:solidFill>
                <a:latin typeface="Aptos"/>
                <a:ea typeface="Aptos"/>
                <a:cs typeface="Aptos"/>
              </a:rPr>
              <a:t>TIMETABLES</a:t>
            </a:r>
          </a:p>
        </p:txBody>
      </p:sp>
      <p:sp>
        <p:nvSpPr>
          <p:cNvPr id="19" name="learning-body-3">
            <a:extLst>
              <a:ext uri="{FF2B5EF4-FFF2-40B4-BE49-F238E27FC236}">
                <a16:creationId xmlns:a16="http://schemas.microsoft.com/office/drawing/2014/main" id="{F5F6DFD1-AE2B-48EC-AF35-E492D92157D2}"/>
              </a:ext>
            </a:extLst>
          </p:cNvPr>
          <p:cNvSpPr>
            <a:spLocks noGrp="1"/>
          </p:cNvSpPr>
          <p:nvPr/>
        </p:nvSpPr>
        <p:spPr>
          <a:xfrm>
            <a:off x="3429000" y="4819650"/>
            <a:ext cx="7981950" cy="590550"/>
          </a:xfrm>
          <a:prstGeom prst="rect">
            <a:avLst/>
          </a:prstGeom>
          <a:noFill/>
          <a:ln w="0">
            <a:noFill/>
            <a:prstDash val="solid"/>
          </a:ln>
        </p:spPr>
        <p:txBody>
          <a:bodyPr wrap="square" lIns="0" tIns="0" rIns="0" bIns="0" anchor="t">
            <a:noAutofit/>
          </a:bodyPr>
          <a:lstStyle>
            <a:defPPr algn="l">
              <a:defRPr sz="1575" b="0">
                <a:solidFill>
                  <a:srgbClr val="122027"/>
                </a:solidFill>
                <a:latin typeface="Aptos"/>
                <a:ea typeface="Aptos"/>
                <a:cs typeface="Aptos"/>
              </a:defRPr>
            </a:defPPr>
          </a:lstStyle>
          <a:p>
            <a:pPr algn="l">
              <a:defRPr sz="1575" b="0">
                <a:solidFill>
                  <a:srgbClr val="122027"/>
                </a:solidFill>
                <a:latin typeface="Aptos"/>
                <a:ea typeface="Aptos"/>
                <a:cs typeface="Aptos"/>
              </a:defRPr>
            </a:pPr>
            <a:r>
              <a:rPr sz="1575" b="0">
                <a:solidFill>
                  <a:srgbClr val="122027"/>
                </a:solidFill>
                <a:latin typeface="Aptos"/>
                <a:ea typeface="Aptos"/>
                <a:cs typeface="Aptos"/>
              </a:rPr>
              <a:t>Teachers, students and parents can check schedules for the relevant class or linked child.</a:t>
            </a:r>
          </a:p>
        </p:txBody>
      </p:sp>
    </p:spTree>
    <p:extLst>
      <p:ext uri="{BB962C8B-B14F-4D97-AF65-F5344CB8AC3E}">
        <p14:creationId xmlns:p14="http://schemas.microsoft.com/office/powerpoint/2010/main" val="93855793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EEF5F7"/>
        </a:solidFill>
        <a:effectLst/>
      </p:bgPr>
    </p:bg>
    <p:spTree>
      <p:nvGrpSpPr>
        <p:cNvPr id="1" name=""/>
        <p:cNvGrpSpPr/>
        <p:nvPr/>
      </p:nvGrpSpPr>
      <p:grpSpPr>
        <a:xfrm>
          <a:off x="0" y="0"/>
          <a:ext cx="0" cy="0"/>
          <a:chOff x="0" y="0"/>
          <a:chExt cx="0" cy="0"/>
        </a:xfrm>
      </p:grpSpPr>
      <p:sp>
        <p:nvSpPr>
          <p:cNvPr id="20" name="brand-dot">
            <a:extLst>
              <a:ext uri="{FF2B5EF4-FFF2-40B4-BE49-F238E27FC236}">
                <a16:creationId xmlns:a16="http://schemas.microsoft.com/office/drawing/2014/main" id="{66AF2CD9-EC79-4221-86F1-588B1DF31D08}"/>
              </a:ext>
            </a:extLst>
          </p:cNvPr>
          <p:cNvSpPr>
            <a:spLocks noGrp="1"/>
          </p:cNvSpPr>
          <p:nvPr/>
        </p:nvSpPr>
        <p:spPr>
          <a:xfrm>
            <a:off x="457200" y="428625"/>
            <a:ext cx="104775" cy="104775"/>
          </a:xfrm>
          <a:prstGeom prst="ellipse">
            <a:avLst/>
          </a:prstGeom>
          <a:solidFill>
            <a:srgbClr val="287C88"/>
          </a:solidFill>
          <a:ln w="0">
            <a:noFill/>
            <a:prstDash val="solid"/>
          </a:ln>
        </p:spPr>
      </p:sp>
      <p:sp>
        <p:nvSpPr>
          <p:cNvPr id="2" name="brand">
            <a:extLst>
              <a:ext uri="{FF2B5EF4-FFF2-40B4-BE49-F238E27FC236}">
                <a16:creationId xmlns:a16="http://schemas.microsoft.com/office/drawing/2014/main" id="{1237AC09-FC98-4E5B-8597-EE5BF40B3B80}"/>
              </a:ext>
            </a:extLst>
          </p:cNvPr>
          <p:cNvSpPr>
            <a:spLocks noGrp="1"/>
          </p:cNvSpPr>
          <p:nvPr/>
        </p:nvSpPr>
        <p:spPr>
          <a:xfrm>
            <a:off x="723900" y="352425"/>
            <a:ext cx="1381125" cy="285750"/>
          </a:xfrm>
          <a:prstGeom prst="rect">
            <a:avLst/>
          </a:prstGeom>
          <a:noFill/>
          <a:ln w="0">
            <a:noFill/>
            <a:prstDash val="solid"/>
          </a:ln>
        </p:spPr>
        <p:txBody>
          <a:bodyPr wrap="square" lIns="0" tIns="0" rIns="0" bIns="0" anchor="t">
            <a:noAutofit/>
          </a:bodyPr>
          <a:lstStyle>
            <a:defPPr algn="l">
              <a:defRPr sz="1125" b="1">
                <a:solidFill>
                  <a:srgbClr val="5B6B72"/>
                </a:solidFill>
                <a:latin typeface="Aptos"/>
                <a:ea typeface="Aptos"/>
                <a:cs typeface="Aptos"/>
              </a:defRPr>
            </a:defPPr>
          </a:lstStyle>
          <a:p>
            <a:pPr algn="l">
              <a:defRPr sz="1125" b="1">
                <a:solidFill>
                  <a:srgbClr val="5B6B72"/>
                </a:solidFill>
                <a:latin typeface="Aptos"/>
                <a:ea typeface="Aptos"/>
                <a:cs typeface="Aptos"/>
              </a:defRPr>
            </a:pPr>
            <a:r>
              <a:rPr lang="en-US" sz="1125" b="1" dirty="0">
                <a:solidFill>
                  <a:srgbClr val="5B6B72"/>
                </a:solidFill>
                <a:latin typeface="Aptos"/>
                <a:ea typeface="Aptos"/>
                <a:cs typeface="Aptos"/>
              </a:rPr>
              <a:t>HMA</a:t>
            </a:r>
            <a:endParaRPr sz="1125" b="1" dirty="0">
              <a:solidFill>
                <a:srgbClr val="5B6B72"/>
              </a:solidFill>
              <a:latin typeface="Aptos"/>
              <a:ea typeface="Aptos"/>
              <a:cs typeface="Aptos"/>
            </a:endParaRPr>
          </a:p>
        </p:txBody>
      </p:sp>
      <p:sp>
        <p:nvSpPr>
          <p:cNvPr id="3" name="category">
            <a:extLst>
              <a:ext uri="{FF2B5EF4-FFF2-40B4-BE49-F238E27FC236}">
                <a16:creationId xmlns:a16="http://schemas.microsoft.com/office/drawing/2014/main" id="{BD50E144-2B33-4123-95E0-646D45C7D3AA}"/>
              </a:ext>
            </a:extLst>
          </p:cNvPr>
          <p:cNvSpPr>
            <a:spLocks noGrp="1"/>
          </p:cNvSpPr>
          <p:nvPr/>
        </p:nvSpPr>
        <p:spPr>
          <a:xfrm>
            <a:off x="2133600" y="352425"/>
            <a:ext cx="3429000" cy="285750"/>
          </a:xfrm>
          <a:prstGeom prst="rect">
            <a:avLst/>
          </a:prstGeom>
          <a:noFill/>
          <a:ln w="0">
            <a:noFill/>
            <a:prstDash val="solid"/>
          </a:ln>
        </p:spPr>
        <p:txBody>
          <a:bodyPr wrap="square" lIns="0" tIns="0" rIns="0" bIns="0" anchor="t">
            <a:noAutofit/>
          </a:bodyPr>
          <a:lstStyle>
            <a:defPPr algn="l">
              <a:defRPr sz="1050" b="0">
                <a:solidFill>
                  <a:srgbClr val="5B6B72"/>
                </a:solidFill>
                <a:latin typeface="Aptos"/>
                <a:ea typeface="Aptos"/>
                <a:cs typeface="Aptos"/>
              </a:defRPr>
            </a:defPPr>
          </a:lstStyle>
          <a:p>
            <a:pPr algn="l">
              <a:defRPr sz="1050" b="0">
                <a:solidFill>
                  <a:srgbClr val="5B6B72"/>
                </a:solidFill>
                <a:latin typeface="Aptos"/>
                <a:ea typeface="Aptos"/>
                <a:cs typeface="Aptos"/>
              </a:defRPr>
            </a:pPr>
            <a:r>
              <a:rPr sz="1050" b="0">
                <a:solidFill>
                  <a:srgbClr val="5B6B72"/>
                </a:solidFill>
                <a:latin typeface="Aptos"/>
                <a:ea typeface="Aptos"/>
                <a:cs typeface="Aptos"/>
              </a:rPr>
              <a:t>SECONDARY SCHOOL MANAGEMENT</a:t>
            </a:r>
          </a:p>
        </p:txBody>
      </p:sp>
      <p:sp>
        <p:nvSpPr>
          <p:cNvPr id="4" name="page-number">
            <a:extLst>
              <a:ext uri="{FF2B5EF4-FFF2-40B4-BE49-F238E27FC236}">
                <a16:creationId xmlns:a16="http://schemas.microsoft.com/office/drawing/2014/main" id="{C2862E19-9EFA-4FB4-B58A-7956341E1CC0}"/>
              </a:ext>
            </a:extLst>
          </p:cNvPr>
          <p:cNvSpPr>
            <a:spLocks noGrp="1"/>
          </p:cNvSpPr>
          <p:nvPr/>
        </p:nvSpPr>
        <p:spPr>
          <a:xfrm>
            <a:off x="11049000" y="342900"/>
            <a:ext cx="609600" cy="266700"/>
          </a:xfrm>
          <a:prstGeom prst="rect">
            <a:avLst/>
          </a:prstGeom>
          <a:noFill/>
          <a:ln w="0">
            <a:noFill/>
            <a:prstDash val="solid"/>
          </a:ln>
        </p:spPr>
        <p:txBody>
          <a:bodyPr wrap="square" lIns="0" tIns="0" rIns="0" bIns="0" anchor="t">
            <a:noAutofit/>
          </a:bodyPr>
          <a:lstStyle>
            <a:defPPr algn="r">
              <a:defRPr sz="1050" b="0">
                <a:solidFill>
                  <a:srgbClr val="5B6B72"/>
                </a:solidFill>
                <a:latin typeface="Aptos"/>
                <a:ea typeface="Aptos"/>
                <a:cs typeface="Aptos"/>
              </a:defRPr>
            </a:defPPr>
          </a:lstStyle>
          <a:p>
            <a:pPr algn="r">
              <a:defRPr sz="1050" b="0">
                <a:solidFill>
                  <a:srgbClr val="5B6B72"/>
                </a:solidFill>
                <a:latin typeface="Aptos"/>
                <a:ea typeface="Aptos"/>
                <a:cs typeface="Aptos"/>
              </a:defRPr>
            </a:pPr>
            <a:r>
              <a:rPr sz="1050" b="0">
                <a:solidFill>
                  <a:srgbClr val="5B6B72"/>
                </a:solidFill>
                <a:latin typeface="Aptos"/>
                <a:ea typeface="Aptos"/>
                <a:cs typeface="Aptos"/>
              </a:rPr>
              <a:t>06</a:t>
            </a:r>
          </a:p>
        </p:txBody>
      </p:sp>
      <p:sp>
        <p:nvSpPr>
          <p:cNvPr id="5" name="title">
            <a:extLst>
              <a:ext uri="{FF2B5EF4-FFF2-40B4-BE49-F238E27FC236}">
                <a16:creationId xmlns:a16="http://schemas.microsoft.com/office/drawing/2014/main" id="{156B15D4-CFD8-4D52-96ED-E416CBA87589}"/>
              </a:ext>
            </a:extLst>
          </p:cNvPr>
          <p:cNvSpPr>
            <a:spLocks noGrp="1"/>
          </p:cNvSpPr>
          <p:nvPr/>
        </p:nvSpPr>
        <p:spPr>
          <a:xfrm>
            <a:off x="609600" y="876300"/>
            <a:ext cx="9906000" cy="590550"/>
          </a:xfrm>
          <a:prstGeom prst="rect">
            <a:avLst/>
          </a:prstGeom>
          <a:noFill/>
          <a:ln w="0">
            <a:noFill/>
            <a:prstDash val="solid"/>
          </a:ln>
        </p:spPr>
        <p:txBody>
          <a:bodyPr wrap="square" lIns="0" tIns="0" rIns="0" bIns="0" anchor="t">
            <a:noAutofit/>
          </a:bodyPr>
          <a:lstStyle>
            <a:defPPr algn="l">
              <a:defRPr sz="3150" b="1">
                <a:solidFill>
                  <a:srgbClr val="122027"/>
                </a:solidFill>
                <a:latin typeface="Aptos Display"/>
                <a:ea typeface="Aptos Display"/>
                <a:cs typeface="Aptos Display"/>
              </a:defRPr>
            </a:defPPr>
          </a:lstStyle>
          <a:p>
            <a:pPr algn="l">
              <a:defRPr sz="3150" b="1">
                <a:solidFill>
                  <a:srgbClr val="122027"/>
                </a:solidFill>
                <a:latin typeface="Aptos Display"/>
                <a:ea typeface="Aptos Display"/>
                <a:cs typeface="Aptos Display"/>
              </a:defRPr>
            </a:pPr>
            <a:r>
              <a:rPr sz="3150" b="1">
                <a:solidFill>
                  <a:srgbClr val="122027"/>
                </a:solidFill>
                <a:latin typeface="Aptos Display"/>
                <a:ea typeface="Aptos Display"/>
                <a:cs typeface="Aptos Display"/>
              </a:rPr>
              <a:t>Start with the school’s own rules</a:t>
            </a:r>
          </a:p>
        </p:txBody>
      </p:sp>
      <p:sp>
        <p:nvSpPr>
          <p:cNvPr id="6" name="subtitle">
            <a:extLst>
              <a:ext uri="{FF2B5EF4-FFF2-40B4-BE49-F238E27FC236}">
                <a16:creationId xmlns:a16="http://schemas.microsoft.com/office/drawing/2014/main" id="{532000EF-B029-4D78-A89A-53E612ABE6C4}"/>
              </a:ext>
            </a:extLst>
          </p:cNvPr>
          <p:cNvSpPr>
            <a:spLocks noGrp="1"/>
          </p:cNvSpPr>
          <p:nvPr/>
        </p:nvSpPr>
        <p:spPr>
          <a:xfrm>
            <a:off x="628650" y="1504950"/>
            <a:ext cx="10001250" cy="514350"/>
          </a:xfrm>
          <a:prstGeom prst="rect">
            <a:avLst/>
          </a:prstGeom>
          <a:noFill/>
          <a:ln w="0">
            <a:noFill/>
            <a:prstDash val="solid"/>
          </a:ln>
        </p:spPr>
        <p:txBody>
          <a:bodyPr wrap="square" lIns="0" tIns="0" rIns="0" bIns="0" anchor="t">
            <a:noAutofit/>
          </a:bodyPr>
          <a:lstStyle>
            <a:defPPr algn="l">
              <a:defRPr sz="1650" b="0">
                <a:solidFill>
                  <a:srgbClr val="5B6B72"/>
                </a:solidFill>
                <a:latin typeface="Aptos"/>
                <a:ea typeface="Aptos"/>
                <a:cs typeface="Aptos"/>
              </a:defRPr>
            </a:defPPr>
          </a:lstStyle>
          <a:p>
            <a:pPr algn="l">
              <a:defRPr sz="1650" b="0">
                <a:solidFill>
                  <a:srgbClr val="5B6B72"/>
                </a:solidFill>
                <a:latin typeface="Aptos"/>
                <a:ea typeface="Aptos"/>
                <a:cs typeface="Aptos"/>
              </a:defRPr>
            </a:pPr>
            <a:r>
              <a:rPr sz="1650" b="0">
                <a:solidFill>
                  <a:srgbClr val="5B6B72"/>
                </a:solidFill>
                <a:latin typeface="Aptos"/>
                <a:ea typeface="Aptos"/>
                <a:cs typeface="Aptos"/>
              </a:rPr>
              <a:t>Suggested pilot: walk one class through a complete term workflow before expanding.</a:t>
            </a:r>
          </a:p>
        </p:txBody>
      </p:sp>
      <p:sp>
        <p:nvSpPr>
          <p:cNvPr id="7" name="footer-rule">
            <a:extLst>
              <a:ext uri="{FF2B5EF4-FFF2-40B4-BE49-F238E27FC236}">
                <a16:creationId xmlns:a16="http://schemas.microsoft.com/office/drawing/2014/main" id="{7F21BEDC-2783-46CF-B8E3-9164D22BF1F5}"/>
              </a:ext>
            </a:extLst>
          </p:cNvPr>
          <p:cNvSpPr>
            <a:spLocks noGrp="1"/>
          </p:cNvSpPr>
          <p:nvPr/>
        </p:nvSpPr>
        <p:spPr>
          <a:xfrm>
            <a:off x="609600" y="6343650"/>
            <a:ext cx="10972800" cy="0"/>
          </a:xfrm>
          <a:prstGeom prst="line">
            <a:avLst/>
          </a:prstGeom>
          <a:noFill/>
          <a:ln w="9525">
            <a:solidFill>
              <a:srgbClr val="BCD5DA"/>
            </a:solidFill>
            <a:prstDash val="solid"/>
          </a:ln>
        </p:spPr>
      </p:sp>
      <p:sp>
        <p:nvSpPr>
          <p:cNvPr id="8" name="footer">
            <a:extLst>
              <a:ext uri="{FF2B5EF4-FFF2-40B4-BE49-F238E27FC236}">
                <a16:creationId xmlns:a16="http://schemas.microsoft.com/office/drawing/2014/main" id="{D58F05B4-D2A3-4203-99CF-927E62BDCE87}"/>
              </a:ext>
            </a:extLst>
          </p:cNvPr>
          <p:cNvSpPr>
            <a:spLocks noGrp="1"/>
          </p:cNvSpPr>
          <p:nvPr/>
        </p:nvSpPr>
        <p:spPr>
          <a:xfrm>
            <a:off x="628650" y="6429375"/>
            <a:ext cx="6477000" cy="190500"/>
          </a:xfrm>
          <a:prstGeom prst="rect">
            <a:avLst/>
          </a:prstGeom>
          <a:noFill/>
          <a:ln w="0">
            <a:noFill/>
            <a:prstDash val="solid"/>
          </a:ln>
        </p:spPr>
        <p:txBody>
          <a:bodyPr wrap="square" lIns="0" tIns="0" rIns="0" bIns="0" anchor="t">
            <a:noAutofit/>
          </a:bodyPr>
          <a:lstStyle>
            <a:defPPr algn="l">
              <a:defRPr sz="825" b="0">
                <a:solidFill>
                  <a:srgbClr val="5B6B72"/>
                </a:solidFill>
                <a:latin typeface="Aptos"/>
                <a:ea typeface="Aptos"/>
                <a:cs typeface="Aptos"/>
              </a:defRPr>
            </a:defPPr>
          </a:lstStyle>
          <a:p>
            <a:pPr algn="l">
              <a:defRPr sz="825" b="0">
                <a:solidFill>
                  <a:srgbClr val="5B6B72"/>
                </a:solidFill>
                <a:latin typeface="Aptos"/>
                <a:ea typeface="Aptos"/>
                <a:cs typeface="Aptos"/>
              </a:defRPr>
            </a:pPr>
            <a:r>
              <a:rPr lang="en-US" sz="825" b="0" dirty="0">
                <a:solidFill>
                  <a:srgbClr val="5B6B72"/>
                </a:solidFill>
                <a:latin typeface="Aptos"/>
                <a:ea typeface="Aptos"/>
                <a:cs typeface="Aptos"/>
              </a:rPr>
              <a:t>HMA</a:t>
            </a:r>
            <a:r>
              <a:rPr sz="825" b="0" dirty="0">
                <a:solidFill>
                  <a:srgbClr val="5B6B72"/>
                </a:solidFill>
                <a:latin typeface="Aptos"/>
                <a:ea typeface="Aptos"/>
                <a:cs typeface="Aptos"/>
              </a:rPr>
              <a:t>  ·  NIGERIAN SECONDARY SCHOOLS</a:t>
            </a:r>
          </a:p>
        </p:txBody>
      </p:sp>
      <p:sp>
        <p:nvSpPr>
          <p:cNvPr id="9" name="pilot-phase-0">
            <a:extLst>
              <a:ext uri="{FF2B5EF4-FFF2-40B4-BE49-F238E27FC236}">
                <a16:creationId xmlns:a16="http://schemas.microsoft.com/office/drawing/2014/main" id="{C4B14A73-4958-45A6-AB38-25D1E79E6BEE}"/>
              </a:ext>
            </a:extLst>
          </p:cNvPr>
          <p:cNvSpPr>
            <a:spLocks noGrp="1"/>
          </p:cNvSpPr>
          <p:nvPr/>
        </p:nvSpPr>
        <p:spPr>
          <a:xfrm>
            <a:off x="742950" y="2324100"/>
            <a:ext cx="2667000" cy="285750"/>
          </a:xfrm>
          <a:prstGeom prst="rect">
            <a:avLst/>
          </a:prstGeom>
          <a:noFill/>
          <a:ln w="0">
            <a:noFill/>
            <a:prstDash val="solid"/>
          </a:ln>
        </p:spPr>
        <p:txBody>
          <a:bodyPr wrap="square" lIns="0" tIns="0" rIns="0" bIns="0" anchor="t">
            <a:noAutofit/>
          </a:bodyPr>
          <a:lstStyle>
            <a:defPPr algn="l">
              <a:defRPr sz="1200" b="1">
                <a:solidFill>
                  <a:srgbClr val="287C88"/>
                </a:solidFill>
                <a:latin typeface="Aptos"/>
                <a:ea typeface="Aptos"/>
                <a:cs typeface="Aptos"/>
              </a:defRPr>
            </a:defPPr>
          </a:lstStyle>
          <a:p>
            <a:pPr algn="l">
              <a:defRPr sz="1200" b="1">
                <a:solidFill>
                  <a:srgbClr val="287C88"/>
                </a:solidFill>
                <a:latin typeface="Aptos"/>
                <a:ea typeface="Aptos"/>
                <a:cs typeface="Aptos"/>
              </a:defRPr>
            </a:pPr>
            <a:r>
              <a:rPr sz="1200" b="1">
                <a:solidFill>
                  <a:srgbClr val="287C88"/>
                </a:solidFill>
                <a:latin typeface="Aptos"/>
                <a:ea typeface="Aptos"/>
                <a:cs typeface="Aptos"/>
              </a:rPr>
              <a:t>01  SET UP</a:t>
            </a:r>
          </a:p>
        </p:txBody>
      </p:sp>
      <p:sp>
        <p:nvSpPr>
          <p:cNvPr id="10" name="pilot-description-0">
            <a:extLst>
              <a:ext uri="{FF2B5EF4-FFF2-40B4-BE49-F238E27FC236}">
                <a16:creationId xmlns:a16="http://schemas.microsoft.com/office/drawing/2014/main" id="{35775B38-1902-479A-93BF-09E17C31C062}"/>
              </a:ext>
            </a:extLst>
          </p:cNvPr>
          <p:cNvSpPr>
            <a:spLocks noGrp="1"/>
          </p:cNvSpPr>
          <p:nvPr/>
        </p:nvSpPr>
        <p:spPr>
          <a:xfrm>
            <a:off x="3505200" y="2286000"/>
            <a:ext cx="7858125" cy="571500"/>
          </a:xfrm>
          <a:prstGeom prst="rect">
            <a:avLst/>
          </a:prstGeom>
          <a:noFill/>
          <a:ln w="0">
            <a:noFill/>
            <a:prstDash val="solid"/>
          </a:ln>
        </p:spPr>
        <p:txBody>
          <a:bodyPr wrap="square" lIns="0" tIns="0" rIns="0" bIns="0" anchor="t">
            <a:noAutofit/>
          </a:bodyPr>
          <a:lstStyle>
            <a:defPPr algn="l">
              <a:defRPr sz="1575" b="0">
                <a:solidFill>
                  <a:srgbClr val="122027"/>
                </a:solidFill>
                <a:latin typeface="Aptos"/>
                <a:ea typeface="Aptos"/>
                <a:cs typeface="Aptos"/>
              </a:defRPr>
            </a:defPPr>
          </a:lstStyle>
          <a:p>
            <a:pPr algn="l">
              <a:defRPr sz="1575" b="0">
                <a:solidFill>
                  <a:srgbClr val="122027"/>
                </a:solidFill>
                <a:latin typeface="Aptos"/>
                <a:ea typeface="Aptos"/>
                <a:cs typeface="Aptos"/>
              </a:defRPr>
            </a:pPr>
            <a:r>
              <a:rPr sz="1575" b="0">
                <a:solidFill>
                  <a:srgbClr val="122027"/>
                </a:solidFill>
                <a:latin typeface="Aptos"/>
                <a:ea typeface="Aptos"/>
                <a:cs typeface="Aptos"/>
              </a:rPr>
              <a:t>Confirm session, term dates, classes, subjects and grading rules.</a:t>
            </a:r>
          </a:p>
        </p:txBody>
      </p:sp>
      <p:sp>
        <p:nvSpPr>
          <p:cNvPr id="11" name="pilot-rule-0">
            <a:extLst>
              <a:ext uri="{FF2B5EF4-FFF2-40B4-BE49-F238E27FC236}">
                <a16:creationId xmlns:a16="http://schemas.microsoft.com/office/drawing/2014/main" id="{DDDA04F9-430E-47D6-8683-D88014384841}"/>
              </a:ext>
            </a:extLst>
          </p:cNvPr>
          <p:cNvSpPr>
            <a:spLocks noGrp="1"/>
          </p:cNvSpPr>
          <p:nvPr/>
        </p:nvSpPr>
        <p:spPr>
          <a:xfrm>
            <a:off x="742950" y="2914650"/>
            <a:ext cx="10610850" cy="0"/>
          </a:xfrm>
          <a:prstGeom prst="line">
            <a:avLst/>
          </a:prstGeom>
          <a:noFill/>
          <a:ln w="9525">
            <a:solidFill>
              <a:srgbClr val="BCD5DA"/>
            </a:solidFill>
            <a:prstDash val="solid"/>
          </a:ln>
        </p:spPr>
      </p:sp>
      <p:sp>
        <p:nvSpPr>
          <p:cNvPr id="12" name="pilot-phase-1">
            <a:extLst>
              <a:ext uri="{FF2B5EF4-FFF2-40B4-BE49-F238E27FC236}">
                <a16:creationId xmlns:a16="http://schemas.microsoft.com/office/drawing/2014/main" id="{BF703892-5C58-49E4-B1CC-4210F827181A}"/>
              </a:ext>
            </a:extLst>
          </p:cNvPr>
          <p:cNvSpPr>
            <a:spLocks noGrp="1"/>
          </p:cNvSpPr>
          <p:nvPr/>
        </p:nvSpPr>
        <p:spPr>
          <a:xfrm>
            <a:off x="742950" y="3162300"/>
            <a:ext cx="2667000" cy="285750"/>
          </a:xfrm>
          <a:prstGeom prst="rect">
            <a:avLst/>
          </a:prstGeom>
          <a:noFill/>
          <a:ln w="0">
            <a:noFill/>
            <a:prstDash val="solid"/>
          </a:ln>
        </p:spPr>
        <p:txBody>
          <a:bodyPr wrap="square" lIns="0" tIns="0" rIns="0" bIns="0" anchor="t">
            <a:noAutofit/>
          </a:bodyPr>
          <a:lstStyle>
            <a:defPPr algn="l">
              <a:defRPr sz="1200" b="1">
                <a:solidFill>
                  <a:srgbClr val="287C88"/>
                </a:solidFill>
                <a:latin typeface="Aptos"/>
                <a:ea typeface="Aptos"/>
                <a:cs typeface="Aptos"/>
              </a:defRPr>
            </a:defPPr>
          </a:lstStyle>
          <a:p>
            <a:pPr algn="l">
              <a:defRPr sz="1200" b="1">
                <a:solidFill>
                  <a:srgbClr val="287C88"/>
                </a:solidFill>
                <a:latin typeface="Aptos"/>
                <a:ea typeface="Aptos"/>
                <a:cs typeface="Aptos"/>
              </a:defRPr>
            </a:pPr>
            <a:r>
              <a:rPr sz="1200" b="1">
                <a:solidFill>
                  <a:srgbClr val="287C88"/>
                </a:solidFill>
                <a:latin typeface="Aptos"/>
                <a:ea typeface="Aptos"/>
                <a:cs typeface="Aptos"/>
              </a:rPr>
              <a:t>02  CONNECT</a:t>
            </a:r>
          </a:p>
        </p:txBody>
      </p:sp>
      <p:sp>
        <p:nvSpPr>
          <p:cNvPr id="13" name="pilot-description-1">
            <a:extLst>
              <a:ext uri="{FF2B5EF4-FFF2-40B4-BE49-F238E27FC236}">
                <a16:creationId xmlns:a16="http://schemas.microsoft.com/office/drawing/2014/main" id="{30A39F7B-7226-4EDB-9BF6-D1C6AE9ABF66}"/>
              </a:ext>
            </a:extLst>
          </p:cNvPr>
          <p:cNvSpPr>
            <a:spLocks noGrp="1"/>
          </p:cNvSpPr>
          <p:nvPr/>
        </p:nvSpPr>
        <p:spPr>
          <a:xfrm>
            <a:off x="3505200" y="3124200"/>
            <a:ext cx="7858125" cy="571500"/>
          </a:xfrm>
          <a:prstGeom prst="rect">
            <a:avLst/>
          </a:prstGeom>
          <a:noFill/>
          <a:ln w="0">
            <a:noFill/>
            <a:prstDash val="solid"/>
          </a:ln>
        </p:spPr>
        <p:txBody>
          <a:bodyPr wrap="square" lIns="0" tIns="0" rIns="0" bIns="0" anchor="t">
            <a:noAutofit/>
          </a:bodyPr>
          <a:lstStyle>
            <a:defPPr algn="l">
              <a:defRPr sz="1575" b="0">
                <a:solidFill>
                  <a:srgbClr val="122027"/>
                </a:solidFill>
                <a:latin typeface="Aptos"/>
                <a:ea typeface="Aptos"/>
                <a:cs typeface="Aptos"/>
              </a:defRPr>
            </a:defPPr>
          </a:lstStyle>
          <a:p>
            <a:pPr algn="l">
              <a:defRPr sz="1575" b="0">
                <a:solidFill>
                  <a:srgbClr val="122027"/>
                </a:solidFill>
                <a:latin typeface="Aptos"/>
                <a:ea typeface="Aptos"/>
                <a:cs typeface="Aptos"/>
              </a:defRPr>
            </a:pPr>
            <a:r>
              <a:rPr sz="1575" b="0">
                <a:solidFill>
                  <a:srgbClr val="122027"/>
                </a:solidFill>
                <a:latin typeface="Aptos"/>
                <a:ea typeface="Aptos"/>
                <a:cs typeface="Aptos"/>
              </a:rPr>
              <a:t>Check student records, teacher assignments and parent–student links.</a:t>
            </a:r>
          </a:p>
        </p:txBody>
      </p:sp>
      <p:sp>
        <p:nvSpPr>
          <p:cNvPr id="14" name="pilot-rule-1">
            <a:extLst>
              <a:ext uri="{FF2B5EF4-FFF2-40B4-BE49-F238E27FC236}">
                <a16:creationId xmlns:a16="http://schemas.microsoft.com/office/drawing/2014/main" id="{C96E4DBA-BA19-4FBD-8020-093BCAEA316F}"/>
              </a:ext>
            </a:extLst>
          </p:cNvPr>
          <p:cNvSpPr>
            <a:spLocks noGrp="1"/>
          </p:cNvSpPr>
          <p:nvPr/>
        </p:nvSpPr>
        <p:spPr>
          <a:xfrm>
            <a:off x="742950" y="3752850"/>
            <a:ext cx="10610850" cy="0"/>
          </a:xfrm>
          <a:prstGeom prst="line">
            <a:avLst/>
          </a:prstGeom>
          <a:noFill/>
          <a:ln w="9525">
            <a:solidFill>
              <a:srgbClr val="BCD5DA"/>
            </a:solidFill>
            <a:prstDash val="solid"/>
          </a:ln>
        </p:spPr>
      </p:sp>
      <p:sp>
        <p:nvSpPr>
          <p:cNvPr id="15" name="pilot-phase-2">
            <a:extLst>
              <a:ext uri="{FF2B5EF4-FFF2-40B4-BE49-F238E27FC236}">
                <a16:creationId xmlns:a16="http://schemas.microsoft.com/office/drawing/2014/main" id="{2EB6B7E6-2C04-43F4-9BE6-67F17D406A36}"/>
              </a:ext>
            </a:extLst>
          </p:cNvPr>
          <p:cNvSpPr>
            <a:spLocks noGrp="1"/>
          </p:cNvSpPr>
          <p:nvPr/>
        </p:nvSpPr>
        <p:spPr>
          <a:xfrm>
            <a:off x="742950" y="4000500"/>
            <a:ext cx="2667000" cy="285750"/>
          </a:xfrm>
          <a:prstGeom prst="rect">
            <a:avLst/>
          </a:prstGeom>
          <a:noFill/>
          <a:ln w="0">
            <a:noFill/>
            <a:prstDash val="solid"/>
          </a:ln>
        </p:spPr>
        <p:txBody>
          <a:bodyPr wrap="square" lIns="0" tIns="0" rIns="0" bIns="0" anchor="t">
            <a:noAutofit/>
          </a:bodyPr>
          <a:lstStyle>
            <a:defPPr algn="l">
              <a:defRPr sz="1200" b="1">
                <a:solidFill>
                  <a:srgbClr val="287C88"/>
                </a:solidFill>
                <a:latin typeface="Aptos"/>
                <a:ea typeface="Aptos"/>
                <a:cs typeface="Aptos"/>
              </a:defRPr>
            </a:defPPr>
          </a:lstStyle>
          <a:p>
            <a:pPr algn="l">
              <a:defRPr sz="1200" b="1">
                <a:solidFill>
                  <a:srgbClr val="287C88"/>
                </a:solidFill>
                <a:latin typeface="Aptos"/>
                <a:ea typeface="Aptos"/>
                <a:cs typeface="Aptos"/>
              </a:defRPr>
            </a:pPr>
            <a:r>
              <a:rPr sz="1200" b="1">
                <a:solidFill>
                  <a:srgbClr val="287C88"/>
                </a:solidFill>
                <a:latin typeface="Aptos"/>
                <a:ea typeface="Aptos"/>
                <a:cs typeface="Aptos"/>
              </a:rPr>
              <a:t>03  RUN</a:t>
            </a:r>
          </a:p>
        </p:txBody>
      </p:sp>
      <p:sp>
        <p:nvSpPr>
          <p:cNvPr id="16" name="pilot-description-2">
            <a:extLst>
              <a:ext uri="{FF2B5EF4-FFF2-40B4-BE49-F238E27FC236}">
                <a16:creationId xmlns:a16="http://schemas.microsoft.com/office/drawing/2014/main" id="{243DED89-D678-4D79-A6E1-8C941B75EBE3}"/>
              </a:ext>
            </a:extLst>
          </p:cNvPr>
          <p:cNvSpPr>
            <a:spLocks noGrp="1"/>
          </p:cNvSpPr>
          <p:nvPr/>
        </p:nvSpPr>
        <p:spPr>
          <a:xfrm>
            <a:off x="3505200" y="3962400"/>
            <a:ext cx="7858125" cy="571500"/>
          </a:xfrm>
          <a:prstGeom prst="rect">
            <a:avLst/>
          </a:prstGeom>
          <a:noFill/>
          <a:ln w="0">
            <a:noFill/>
            <a:prstDash val="solid"/>
          </a:ln>
        </p:spPr>
        <p:txBody>
          <a:bodyPr wrap="square" lIns="0" tIns="0" rIns="0" bIns="0" anchor="t">
            <a:noAutofit/>
          </a:bodyPr>
          <a:lstStyle>
            <a:defPPr algn="l">
              <a:defRPr sz="1575" b="0">
                <a:solidFill>
                  <a:srgbClr val="122027"/>
                </a:solidFill>
                <a:latin typeface="Aptos"/>
                <a:ea typeface="Aptos"/>
                <a:cs typeface="Aptos"/>
              </a:defRPr>
            </a:defPPr>
          </a:lstStyle>
          <a:p>
            <a:pPr algn="l">
              <a:defRPr sz="1575" b="0">
                <a:solidFill>
                  <a:srgbClr val="122027"/>
                </a:solidFill>
                <a:latin typeface="Aptos"/>
                <a:ea typeface="Aptos"/>
                <a:cs typeface="Aptos"/>
              </a:defRPr>
            </a:pPr>
            <a:r>
              <a:rPr sz="1575" b="0">
                <a:solidFill>
                  <a:srgbClr val="122027"/>
                </a:solidFill>
                <a:latin typeface="Aptos"/>
                <a:ea typeface="Aptos"/>
                <a:cs typeface="Aptos"/>
              </a:rPr>
              <a:t>Use attendance, grade entry, assignments and learning tools with the pilot class.</a:t>
            </a:r>
          </a:p>
        </p:txBody>
      </p:sp>
      <p:sp>
        <p:nvSpPr>
          <p:cNvPr id="17" name="pilot-rule-2">
            <a:extLst>
              <a:ext uri="{FF2B5EF4-FFF2-40B4-BE49-F238E27FC236}">
                <a16:creationId xmlns:a16="http://schemas.microsoft.com/office/drawing/2014/main" id="{840835AF-A54F-4943-A8DC-C9330216E3B6}"/>
              </a:ext>
            </a:extLst>
          </p:cNvPr>
          <p:cNvSpPr>
            <a:spLocks noGrp="1"/>
          </p:cNvSpPr>
          <p:nvPr/>
        </p:nvSpPr>
        <p:spPr>
          <a:xfrm>
            <a:off x="742950" y="4591050"/>
            <a:ext cx="10610850" cy="0"/>
          </a:xfrm>
          <a:prstGeom prst="line">
            <a:avLst/>
          </a:prstGeom>
          <a:noFill/>
          <a:ln w="9525">
            <a:solidFill>
              <a:srgbClr val="BCD5DA"/>
            </a:solidFill>
            <a:prstDash val="solid"/>
          </a:ln>
        </p:spPr>
      </p:sp>
      <p:sp>
        <p:nvSpPr>
          <p:cNvPr id="18" name="pilot-phase-3">
            <a:extLst>
              <a:ext uri="{FF2B5EF4-FFF2-40B4-BE49-F238E27FC236}">
                <a16:creationId xmlns:a16="http://schemas.microsoft.com/office/drawing/2014/main" id="{2231D19F-B333-4A5B-B443-596396603740}"/>
              </a:ext>
            </a:extLst>
          </p:cNvPr>
          <p:cNvSpPr>
            <a:spLocks noGrp="1"/>
          </p:cNvSpPr>
          <p:nvPr/>
        </p:nvSpPr>
        <p:spPr>
          <a:xfrm>
            <a:off x="742950" y="4838700"/>
            <a:ext cx="2667000" cy="285750"/>
          </a:xfrm>
          <a:prstGeom prst="rect">
            <a:avLst/>
          </a:prstGeom>
          <a:noFill/>
          <a:ln w="0">
            <a:noFill/>
            <a:prstDash val="solid"/>
          </a:ln>
        </p:spPr>
        <p:txBody>
          <a:bodyPr wrap="square" lIns="0" tIns="0" rIns="0" bIns="0" anchor="t">
            <a:noAutofit/>
          </a:bodyPr>
          <a:lstStyle>
            <a:defPPr algn="l">
              <a:defRPr sz="1200" b="1">
                <a:solidFill>
                  <a:srgbClr val="287C88"/>
                </a:solidFill>
                <a:latin typeface="Aptos"/>
                <a:ea typeface="Aptos"/>
                <a:cs typeface="Aptos"/>
              </a:defRPr>
            </a:defPPr>
          </a:lstStyle>
          <a:p>
            <a:pPr algn="l">
              <a:defRPr sz="1200" b="1">
                <a:solidFill>
                  <a:srgbClr val="287C88"/>
                </a:solidFill>
                <a:latin typeface="Aptos"/>
                <a:ea typeface="Aptos"/>
                <a:cs typeface="Aptos"/>
              </a:defRPr>
            </a:pPr>
            <a:r>
              <a:rPr sz="1200" b="1">
                <a:solidFill>
                  <a:srgbClr val="287C88"/>
                </a:solidFill>
                <a:latin typeface="Aptos"/>
                <a:ea typeface="Aptos"/>
                <a:cs typeface="Aptos"/>
              </a:rPr>
              <a:t>04  REVIEW</a:t>
            </a:r>
          </a:p>
        </p:txBody>
      </p:sp>
      <p:sp>
        <p:nvSpPr>
          <p:cNvPr id="19" name="pilot-description-3">
            <a:extLst>
              <a:ext uri="{FF2B5EF4-FFF2-40B4-BE49-F238E27FC236}">
                <a16:creationId xmlns:a16="http://schemas.microsoft.com/office/drawing/2014/main" id="{533A0008-B5F1-48F2-86DA-8C3575087DB1}"/>
              </a:ext>
            </a:extLst>
          </p:cNvPr>
          <p:cNvSpPr>
            <a:spLocks noGrp="1"/>
          </p:cNvSpPr>
          <p:nvPr/>
        </p:nvSpPr>
        <p:spPr>
          <a:xfrm>
            <a:off x="3505200" y="4800600"/>
            <a:ext cx="7858125" cy="571500"/>
          </a:xfrm>
          <a:prstGeom prst="rect">
            <a:avLst/>
          </a:prstGeom>
          <a:noFill/>
          <a:ln w="0">
            <a:noFill/>
            <a:prstDash val="solid"/>
          </a:ln>
        </p:spPr>
        <p:txBody>
          <a:bodyPr wrap="square" lIns="0" tIns="0" rIns="0" bIns="0" anchor="t">
            <a:noAutofit/>
          </a:bodyPr>
          <a:lstStyle>
            <a:defPPr algn="l">
              <a:defRPr sz="1575" b="0">
                <a:solidFill>
                  <a:srgbClr val="122027"/>
                </a:solidFill>
                <a:latin typeface="Aptos"/>
                <a:ea typeface="Aptos"/>
                <a:cs typeface="Aptos"/>
              </a:defRPr>
            </a:defPPr>
          </a:lstStyle>
          <a:p>
            <a:pPr algn="l">
              <a:defRPr sz="1575" b="0">
                <a:solidFill>
                  <a:srgbClr val="122027"/>
                </a:solidFill>
                <a:latin typeface="Aptos"/>
                <a:ea typeface="Aptos"/>
                <a:cs typeface="Aptos"/>
              </a:defRPr>
            </a:pPr>
            <a:r>
              <a:rPr sz="1575" b="0">
                <a:solidFill>
                  <a:srgbClr val="122027"/>
                </a:solidFill>
                <a:latin typeface="Aptos"/>
                <a:ea typeface="Aptos"/>
                <a:cs typeface="Aptos"/>
              </a:rPr>
              <a:t>Check report cards and year-end promotion outcomes against school policy.</a:t>
            </a:r>
          </a:p>
        </p:txBody>
      </p:sp>
    </p:spTree>
    <p:extLst>
      <p:ext uri="{BB962C8B-B14F-4D97-AF65-F5344CB8AC3E}">
        <p14:creationId xmlns:p14="http://schemas.microsoft.com/office/powerpoint/2010/main" val="1142743788"/>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819</Words>
  <Application>Microsoft Office PowerPoint</Application>
  <DocSecurity>0</DocSecurity>
  <PresentationFormat>Widescreen</PresentationFormat>
  <Paragraphs>102</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Aptos</vt:lpstr>
      <vt:lpstr>Aptos Display</vt:lpstr>
      <vt:lpstr>ChatGPT</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Tobi Adeyanju</cp:lastModifiedBy>
  <cp:revision>1</cp:revision>
  <dcterms:created xsi:type="dcterms:W3CDTF">2026-10-13T10:10:36Z</dcterms:created>
  <dcterms:modified xsi:type="dcterms:W3CDTF">2026-10-13T16:45:52Z</dcterms:modified>
</cp:coreProperties>
</file>