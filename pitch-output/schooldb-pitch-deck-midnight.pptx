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eb931b3a7426b" /><Relationship Type="http://schemas.openxmlformats.org/officeDocument/2006/relationships/extended-properties" Target="/docProps/app.xml" Id="Ree6545f21feb41b1" /><Relationship Type="http://schemas.openxmlformats.org/officeDocument/2006/relationships/officeDocument" Target="/ppt/presentation.xml" Id="R39ff7e96318c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79a28ccf44330"/>
  </p:sldMasterIdLst>
  <p:notesMasterIdLst>
    <p:notesMasterId xmlns:r="http://schemas.openxmlformats.org/officeDocument/2006/relationships" r:id="Rfdff624f339a4616"/>
  </p:notesMasterIdLst>
  <p:sldIdLst>
    <p:sldId xmlns:r="http://schemas.openxmlformats.org/officeDocument/2006/relationships" id="256" r:id="R1448318a5e6644be"/>
    <p:sldId xmlns:r="http://schemas.openxmlformats.org/officeDocument/2006/relationships" id="257" r:id="Re55df83c846b43ee"/>
    <p:sldId xmlns:r="http://schemas.openxmlformats.org/officeDocument/2006/relationships" id="258" r:id="R4d78e0dbb70548fc"/>
    <p:sldId xmlns:r="http://schemas.openxmlformats.org/officeDocument/2006/relationships" id="259" r:id="R34fe6cbb0eb64aa5"/>
    <p:sldId xmlns:r="http://schemas.openxmlformats.org/officeDocument/2006/relationships" id="260" r:id="Rc7282c01d0cb4aa6"/>
    <p:sldId xmlns:r="http://schemas.openxmlformats.org/officeDocument/2006/relationships" id="261" r:id="R0bf441de96d642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0d05a00e24620" /><Relationship Type="http://schemas.openxmlformats.org/officeDocument/2006/relationships/slideMaster" Target="/ppt/slideMasters/slideMaster1.xml" Id="R7b579a28ccf44330" /><Relationship Type="http://schemas.openxmlformats.org/officeDocument/2006/relationships/notesMaster" Target="/ppt/notesMasters/notesMaster1.xml" Id="Rfdff624f339a4616" /><Relationship Type="http://schemas.openxmlformats.org/officeDocument/2006/relationships/presProps" Target="/ppt/presProps.xml" Id="R8685688447d7421b" /><Relationship Type="http://schemas.openxmlformats.org/officeDocument/2006/relationships/tableStyles" Target="/ppt/tableStyles.xml" Id="R6c974d9d84714e87" /><Relationship Type="http://schemas.openxmlformats.org/officeDocument/2006/relationships/slide" Target="/ppt/slides/slide1.xml" Id="R1448318a5e6644be" /><Relationship Type="http://schemas.openxmlformats.org/officeDocument/2006/relationships/slide" Target="/ppt/slides/slide2.xml" Id="Re55df83c846b43ee" /><Relationship Type="http://schemas.openxmlformats.org/officeDocument/2006/relationships/slide" Target="/ppt/slides/slide3.xml" Id="R4d78e0dbb70548fc" /><Relationship Type="http://schemas.openxmlformats.org/officeDocument/2006/relationships/slide" Target="/ppt/slides/slide4.xml" Id="R34fe6cbb0eb64aa5" /><Relationship Type="http://schemas.openxmlformats.org/officeDocument/2006/relationships/slide" Target="/ppt/slides/slide5.xml" Id="Rc7282c01d0cb4aa6" /><Relationship Type="http://schemas.openxmlformats.org/officeDocument/2006/relationships/slide" Target="/ppt/slides/slide6.xml" Id="R0bf441de96d6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67c72c544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e225edfbd41ac" /><Relationship Type="http://schemas.openxmlformats.org/officeDocument/2006/relationships/notesMaster" Target="/ppt/notesMasters/notesMaster1.xml" Id="Rbef627c6d8e24d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393f69b0db4a6c" /><Relationship Type="http://schemas.openxmlformats.org/officeDocument/2006/relationships/notesMaster" Target="/ppt/notesMasters/notesMaster1.xml" Id="R3c89dc21ba8a44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acafca1a7440ad" /><Relationship Type="http://schemas.openxmlformats.org/officeDocument/2006/relationships/notesMaster" Target="/ppt/notesMasters/notesMaster1.xml" Id="R48324e2698234e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072b8cba540b4" /><Relationship Type="http://schemas.openxmlformats.org/officeDocument/2006/relationships/notesMaster" Target="/ppt/notesMasters/notesMaster1.xml" Id="R07f17356dc2d4a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505ec20a994105" /><Relationship Type="http://schemas.openxmlformats.org/officeDocument/2006/relationships/notesMaster" Target="/ppt/notesMasters/notesMaster1.xml" Id="R150e97b30bea45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c7f9ca2a164c69" /><Relationship Type="http://schemas.openxmlformats.org/officeDocument/2006/relationships/notesMaster" Target="/ppt/notesMasters/notesMaster1.xml" Id="R3c9e475ee93a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No outcome or savings metrics were supplied, so the slide makes no quantified impact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Role descriptions summarize the existing admin, teacher, student and parent capabilities. The project has no HOD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The 40-point continuous assessment and 60-point exam maxima come from the supplied project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Corrected promotion rule per the user: Mathematics session average must be at least 50%, English session average must be at least 50%, and the overall average across all subjects must be at least 50%.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Parent visibility is limited to children linked through the parent–student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Schooldb project analysis in this conversation. The attached sales-discovery deck is an unfilled template and contains no account-specific findings or quantified impact. This slide proposes an initial rollout sequence; pilot length, class selection and success measures should be agreed with the school.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452c74a064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6ebba270945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05c580bb844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525c3eed14c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48613485741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f17a8e4aa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F73B8-393B-40E2-A05A-D3F36D25E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8BB21B-715C-49BE-BD78-38EC475C44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B8920F-E662-4E28-A30D-0D4CC9A28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D3A48-4AFF-4F99-9DC7-08157DD03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48AF19-FCFA-4EF4-80E3-CBD3E81DD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60CEE0-08AE-4BC1-8502-FD39F39B3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A9D249-1E4E-4949-BD06-E9400C09C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D56545-6717-4170-A0FA-5F40F3EDF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B12E6E-F097-4223-B54E-B22F9A95C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275752-A9C0-43CB-A672-40D29ABBD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ba78bb13b4659" /><Relationship Type="http://schemas.openxmlformats.org/officeDocument/2006/relationships/slideLayout" Target="/ppt/slideLayouts/slideLayout1.xml" Id="R27c90b7bca5446f3" /><Relationship Type="http://schemas.openxmlformats.org/officeDocument/2006/relationships/slideLayout" Target="/ppt/slideLayouts/slideLayout2.xml" Id="Rd84b2f9013b9481f" /><Relationship Type="http://schemas.openxmlformats.org/officeDocument/2006/relationships/slideLayout" Target="/ppt/slideLayouts/slideLayout3.xml" Id="R8601f732f2c14cd3" /><Relationship Type="http://schemas.openxmlformats.org/officeDocument/2006/relationships/slideLayout" Target="/ppt/slideLayouts/slideLayout4.xml" Id="R0e06d76c9faf4f8e" /><Relationship Type="http://schemas.openxmlformats.org/officeDocument/2006/relationships/slideLayout" Target="/ppt/slideLayouts/slideLayout5.xml" Id="Rf9287ff6c07f4e51" /><Relationship Type="http://schemas.openxmlformats.org/officeDocument/2006/relationships/slideLayout" Target="/ppt/slideLayouts/slideLayout6.xml" Id="R457230af3963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90b7bca5446f3"/>
    <p:sldLayoutId xmlns:r="http://schemas.openxmlformats.org/officeDocument/2006/relationships" id="2147483650" r:id="Rd84b2f9013b9481f"/>
    <p:sldLayoutId xmlns:r="http://schemas.openxmlformats.org/officeDocument/2006/relationships" id="2147483651" r:id="R8601f732f2c14cd3"/>
    <p:sldLayoutId xmlns:r="http://schemas.openxmlformats.org/officeDocument/2006/relationships" id="2147483652" r:id="R0e06d76c9faf4f8e"/>
    <p:sldLayoutId xmlns:r="http://schemas.openxmlformats.org/officeDocument/2006/relationships" id="2147483653" r:id="Rf9287ff6c07f4e51"/>
    <p:sldLayoutId xmlns:r="http://schemas.openxmlformats.org/officeDocument/2006/relationships" id="2147483654" r:id="R457230af3963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8916c7cb74516" /><Relationship Type="http://schemas.openxmlformats.org/officeDocument/2006/relationships/notesSlide" Target="/ppt/notesSlides/notesSlide1.xml" Id="R549ace1f845c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192d6cb854140" /><Relationship Type="http://schemas.openxmlformats.org/officeDocument/2006/relationships/notesSlide" Target="/ppt/notesSlides/notesSlide2.xml" Id="Rbb8554822c67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b6739768142af" /><Relationship Type="http://schemas.openxmlformats.org/officeDocument/2006/relationships/notesSlide" Target="/ppt/notesSlides/notesSlide3.xml" Id="R832ca9c66964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166d161e94bbd" /><Relationship Type="http://schemas.openxmlformats.org/officeDocument/2006/relationships/notesSlide" Target="/ppt/notesSlides/notesSlide4.xml" Id="R966ff6bd211042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c89f24ae8403a" /><Relationship Type="http://schemas.openxmlformats.org/officeDocument/2006/relationships/notesSlide" Target="/ppt/notesSlides/notesSlide5.xml" Id="R3ca125654bc24d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97e9871c44d22" /><Relationship Type="http://schemas.openxmlformats.org/officeDocument/2006/relationships/notesSlide" Target="/ppt/notesSlides/notesSlide6.xml" Id="Ra1b707c74afa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dot">
            <a:extLst xmlns:a="http://schemas.openxmlformats.org/drawingml/2006/main">
              <a:ext uri="{FF2B5EF4-FFF2-40B4-BE49-F238E27FC236}">
                <a16:creationId xmlns:a16="http://schemas.microsoft.com/office/drawing/2014/main" id="{B0F7A773-5EC4-4EDB-A80A-3EC1BBE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5D1B06E-C16B-48C5-94C3-DFBB7EC8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BDDAF87A-9DD4-4C64-87D1-9311B3BF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9450F3-8D98-4F7E-B2D0-F3C38EAF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38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One connected system</a:t>
            </a:r>
          </a:p>
          <a:p xmlns:a="http://schemas.openxmlformats.org/drawingml/2006/main">
            <a:pPr algn="l">
              <a:defRPr sz="37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for the school year</a:t>
            </a:r>
          </a:p>
        </p:txBody>
      </p:sp>
      <p:sp>
        <p:nvSpPr>
          <p:cNvPr id="5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080E02BA-293C-4E59-BED0-ABF2B49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776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brings academic records, classroom learning and family access into one workflow for Nigerian secondary schools.</a:t>
            </a:r>
          </a:p>
        </p:txBody>
      </p:sp>
      <p:sp>
        <p:nvSpPr>
          <p:cNvPr id="6" name="school-calendar-context">
            <a:extLst xmlns:a="http://schemas.openxmlformats.org/drawingml/2006/main">
              <a:ext uri="{FF2B5EF4-FFF2-40B4-BE49-F238E27FC236}">
                <a16:creationId xmlns:a16="http://schemas.microsoft.com/office/drawing/2014/main" id="{E4F86843-C88B-47CA-8D45-CC7ACB8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419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BUILT AROUND</a:t>
            </a:r>
          </a:p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NIGERIA’S 3-TERM YEAR</a:t>
            </a:r>
          </a:p>
        </p:txBody>
      </p:sp>
      <p:sp>
        <p:nvSpPr>
          <p:cNvPr id="7" name="academic-workflow-line">
            <a:extLst xmlns:a="http://schemas.openxmlformats.org/drawingml/2006/main">
              <a:ext uri="{FF2B5EF4-FFF2-40B4-BE49-F238E27FC236}">
                <a16:creationId xmlns:a16="http://schemas.microsoft.com/office/drawing/2014/main" id="{4979255E-7BD2-4395-A16B-2725F39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49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65A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06C61EC7-CF13-4FC3-B829-5747F0A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28575">
            <a:solidFill>
              <a:srgbClr val="101D2D"/>
            </a:solidFill>
            <a:prstDash val="solid"/>
          </a:ln>
        </p:spPr>
      </p:sp>
      <p:sp>
        <p:nvSpPr>
          <p:cNvPr id="9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77F0A3CD-857C-4E9B-9281-FB1323A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EECE3CAE-D4AB-45FF-BF0A-679B505C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4D14C6D7-5180-4082-B9DA-E894542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Daily attendance</a:t>
            </a:r>
          </a:p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CA and exam grades</a:t>
            </a:r>
          </a:p>
        </p:txBody>
      </p:sp>
      <p:sp>
        <p:nvSpPr>
          <p:cNvPr id="12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97CCF522-199A-4B99-828A-B24ED7C4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28575">
            <a:solidFill>
              <a:srgbClr val="101D2D"/>
            </a:solidFill>
            <a:prstDash val="solid"/>
          </a:ln>
        </p:spPr>
      </p:sp>
      <p:sp>
        <p:nvSpPr>
          <p:cNvPr id="13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8AB9277-8134-4C61-BD9C-9C73C37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CF7376A4-A98F-41D5-8305-A9A5A347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Teach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199684B-18D6-4540-AA75-EBEE9AD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Assignments, lessons,</a:t>
            </a:r>
          </a:p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quizzes and discussions</a:t>
            </a:r>
          </a:p>
        </p:txBody>
      </p:sp>
      <p:sp>
        <p:nvSpPr>
          <p:cNvPr id="16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9A3ED426-2E24-4767-872E-46923EF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28575">
            <a:solidFill>
              <a:srgbClr val="101D2D"/>
            </a:solidFill>
            <a:prstDash val="solid"/>
          </a:ln>
        </p:spPr>
      </p:sp>
      <p:sp>
        <p:nvSpPr>
          <p:cNvPr id="17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F2B6AF65-F5F8-46A4-871D-39FC149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7BE3136D-30CE-4BFF-9F34-8284AC9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7D464C11-8D54-40E7-AA1A-BBA7E81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Term reports, analytics</a:t>
            </a:r>
          </a:p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and teacher remarks</a:t>
            </a:r>
          </a:p>
        </p:txBody>
      </p:sp>
      <p:sp>
        <p:nvSpPr>
          <p:cNvPr id="20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F923F566-476F-419E-BA1D-6B374B8D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48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28575">
            <a:solidFill>
              <a:srgbClr val="101D2D"/>
            </a:solidFill>
            <a:prstDash val="solid"/>
          </a:ln>
        </p:spPr>
      </p:sp>
      <p:sp>
        <p:nvSpPr>
          <p:cNvPr id="2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D6784B5B-F602-425D-B349-49641929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96EEACE4-773A-4829-873E-DBAFBDB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Progress</a:t>
            </a:r>
          </a:p>
        </p:txBody>
      </p:sp>
      <p:sp>
        <p:nvSpPr>
          <p:cNvPr id="23" name="step-4-body">
            <a:extLst xmlns:a="http://schemas.openxmlformats.org/drawingml/2006/main">
              <a:ext uri="{FF2B5EF4-FFF2-40B4-BE49-F238E27FC236}">
                <a16:creationId xmlns:a16="http://schemas.microsoft.com/office/drawing/2014/main" id="{20B19464-87A0-4C30-8B55-A7FED206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Promotion decisions</a:t>
            </a:r>
          </a:p>
          <a:p xmlns:a="http://schemas.openxmlformats.org/drawingml/2006/main">
            <a:pPr algn="l">
              <a:defRPr sz="157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and family visibility</a:t>
            </a:r>
          </a:p>
        </p:txBody>
      </p:sp>
      <p:sp>
        <p:nvSpPr>
          <p:cNvPr id="24" name="audience-rule">
            <a:extLst xmlns:a="http://schemas.openxmlformats.org/drawingml/2006/main">
              <a:ext uri="{FF2B5EF4-FFF2-40B4-BE49-F238E27FC236}">
                <a16:creationId xmlns:a16="http://schemas.microsoft.com/office/drawing/2014/main" id="{0D3FF506-75A4-41FF-B1E0-DDB0784B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25" name="audiences">
            <a:extLst xmlns:a="http://schemas.openxmlformats.org/drawingml/2006/main">
              <a:ext uri="{FF2B5EF4-FFF2-40B4-BE49-F238E27FC236}">
                <a16:creationId xmlns:a16="http://schemas.microsoft.com/office/drawing/2014/main" id="{95546567-0378-4D7D-9B01-5EDEC34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One shared school record for administrators, teachers, students and parents.</a:t>
            </a:r>
          </a:p>
        </p:txBody>
      </p:sp>
    </p:spTree>
    <p:extLst>
      <p:ext uri="{BB962C8B-B14F-4D97-AF65-F5344CB8AC3E}">
        <p14:creationId xmlns:p14="http://schemas.microsoft.com/office/powerpoint/2010/main" val="1051603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0778E8E4-2A16-41D4-B055-42E3AD0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3C8F52D-BA45-42DB-86AA-589C59B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884FC18C-5E24-477E-9C65-7B15489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2FA302-0C84-4043-8D9D-55472658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865043-4B4B-4E87-98CF-2F0B5D0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Each role sees the work they own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B0A6575-C630-4D90-8C1F-FC5BA062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One student record supports school administration, classroom work and family visibility.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2056E9-BD51-4A4A-8823-B99987B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C7DF0C-887A-455C-B924-349138A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role-1">
            <a:extLst xmlns:a="http://schemas.openxmlformats.org/drawingml/2006/main">
              <a:ext uri="{FF2B5EF4-FFF2-40B4-BE49-F238E27FC236}">
                <a16:creationId xmlns:a16="http://schemas.microsoft.com/office/drawing/2014/main" id="{CB6F5890-AF06-4FBC-8165-A98F99BC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sp>
        <p:nvSpPr>
          <p:cNvPr id="10" name="role-description-1">
            <a:extLst xmlns:a="http://schemas.openxmlformats.org/drawingml/2006/main">
              <a:ext uri="{FF2B5EF4-FFF2-40B4-BE49-F238E27FC236}">
                <a16:creationId xmlns:a16="http://schemas.microsoft.com/office/drawing/2014/main" id="{FA29B381-7FD8-4D6E-A89F-0AF925D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955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Set sessions and terms; manage users, classes, subjects and teacher assignments; review school reports, analytics and timetables.</a:t>
            </a:r>
          </a:p>
        </p:txBody>
      </p:sp>
      <p:sp>
        <p:nvSpPr>
          <p:cNvPr id="11" name="role-rule-1">
            <a:extLst xmlns:a="http://schemas.openxmlformats.org/drawingml/2006/main">
              <a:ext uri="{FF2B5EF4-FFF2-40B4-BE49-F238E27FC236}">
                <a16:creationId xmlns:a16="http://schemas.microsoft.com/office/drawing/2014/main" id="{7BBA53E5-5D9D-4A88-B59D-3FEEE3D2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2" name="role-2">
            <a:extLst xmlns:a="http://schemas.openxmlformats.org/drawingml/2006/main">
              <a:ext uri="{FF2B5EF4-FFF2-40B4-BE49-F238E27FC236}">
                <a16:creationId xmlns:a16="http://schemas.microsoft.com/office/drawing/2014/main" id="{F8BB762A-E4F2-4F40-A158-A1DC3D66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CLASS TEACHER</a:t>
            </a:r>
          </a:p>
        </p:txBody>
      </p:sp>
      <p:sp>
        <p:nvSpPr>
          <p:cNvPr id="13" name="role-description-2">
            <a:extLst xmlns:a="http://schemas.openxmlformats.org/drawingml/2006/main">
              <a:ext uri="{FF2B5EF4-FFF2-40B4-BE49-F238E27FC236}">
                <a16:creationId xmlns:a16="http://schemas.microsoft.com/office/drawing/2014/main" id="{7FE02098-ABA2-4AD0-B9D0-09EC8B66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Take attendance for the assigned class, view its roster and timetable, and add end-of-term class remarks.</a:t>
            </a:r>
          </a:p>
        </p:txBody>
      </p:sp>
      <p:sp>
        <p:nvSpPr>
          <p:cNvPr id="14" name="role-rule-2">
            <a:extLst xmlns:a="http://schemas.openxmlformats.org/drawingml/2006/main">
              <a:ext uri="{FF2B5EF4-FFF2-40B4-BE49-F238E27FC236}">
                <a16:creationId xmlns:a16="http://schemas.microsoft.com/office/drawing/2014/main" id="{44DC7169-422A-475B-B682-8F2905A5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5" name="role-3">
            <a:extLst xmlns:a="http://schemas.openxmlformats.org/drawingml/2006/main">
              <a:ext uri="{FF2B5EF4-FFF2-40B4-BE49-F238E27FC236}">
                <a16:creationId xmlns:a16="http://schemas.microsoft.com/office/drawing/2014/main" id="{637AA2CC-4C5A-488D-BCAE-FF83526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SUBJECT TEACHER</a:t>
            </a:r>
          </a:p>
        </p:txBody>
      </p:sp>
      <p:sp>
        <p:nvSpPr>
          <p:cNvPr id="16" name="role-description-3">
            <a:extLst xmlns:a="http://schemas.openxmlformats.org/drawingml/2006/main">
              <a:ext uri="{FF2B5EF4-FFF2-40B4-BE49-F238E27FC236}">
                <a16:creationId xmlns:a16="http://schemas.microsoft.com/office/drawing/2014/main" id="{E3B1D74D-ED14-46F9-98EB-EAA06238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Upload CA and exam scores for assigned subject–class pairs; manage assignments, lessons, quizzes and discussions.</a:t>
            </a:r>
          </a:p>
        </p:txBody>
      </p:sp>
      <p:sp>
        <p:nvSpPr>
          <p:cNvPr id="17" name="role-rule-3">
            <a:extLst xmlns:a="http://schemas.openxmlformats.org/drawingml/2006/main">
              <a:ext uri="{FF2B5EF4-FFF2-40B4-BE49-F238E27FC236}">
                <a16:creationId xmlns:a16="http://schemas.microsoft.com/office/drawing/2014/main" id="{103C0CAB-9107-442B-909C-EBDFBF9B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8" name="role-4">
            <a:extLst xmlns:a="http://schemas.openxmlformats.org/drawingml/2006/main">
              <a:ext uri="{FF2B5EF4-FFF2-40B4-BE49-F238E27FC236}">
                <a16:creationId xmlns:a16="http://schemas.microsoft.com/office/drawing/2014/main" id="{89F58964-99CA-4D8B-AA16-09B698A2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STUDENT + PARENT</a:t>
            </a:r>
          </a:p>
        </p:txBody>
      </p:sp>
      <p:sp>
        <p:nvSpPr>
          <p:cNvPr id="19" name="role-description-4">
            <a:extLst xmlns:a="http://schemas.openxmlformats.org/drawingml/2006/main">
              <a:ext uri="{FF2B5EF4-FFF2-40B4-BE49-F238E27FC236}">
                <a16:creationId xmlns:a16="http://schemas.microsoft.com/office/drawing/2014/main" id="{65E53F7D-CF3F-4E1D-9F4E-6AEC1BD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3872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Students see their own reports, attendance and learning. Parents see those records for linked children.</a:t>
            </a:r>
          </a:p>
        </p:txBody>
      </p:sp>
    </p:spTree>
    <p:extLst>
      <p:ext uri="{BB962C8B-B14F-4D97-AF65-F5344CB8AC3E}">
        <p14:creationId xmlns:p14="http://schemas.microsoft.com/office/powerpoint/2010/main" val="1090733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045D1D82-4516-4BE0-8EA7-5641E7C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346E8CE-B04F-47ED-B43D-F389278E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4DD9D58F-324B-4D1B-8E7D-A8C350F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122184-EDBC-4070-B4EF-51E8AC6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B0F66A3-DF25-42D3-9BD7-77DBF9A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Term records connect daily work to reports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7F13F9B-DAA1-4FDC-ACE2-D8B52E1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Attendance and subject scores stay organized by student, class, subject and term.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24814A-E709-45BD-BA3C-DB27217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B5EE33F-15D1-47AD-87DF-EBB15FB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term-step-no-0">
            <a:extLst xmlns:a="http://schemas.openxmlformats.org/drawingml/2006/main">
              <a:ext uri="{FF2B5EF4-FFF2-40B4-BE49-F238E27FC236}">
                <a16:creationId xmlns:a16="http://schemas.microsoft.com/office/drawing/2014/main" id="{984DD7DF-DA23-4499-9468-387E2D08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erm-step-title-0">
            <a:extLst xmlns:a="http://schemas.openxmlformats.org/drawingml/2006/main">
              <a:ext uri="{FF2B5EF4-FFF2-40B4-BE49-F238E27FC236}">
                <a16:creationId xmlns:a16="http://schemas.microsoft.com/office/drawing/2014/main" id="{3838E5DB-C8F5-4DA0-8986-9F0B5B2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Attendance</a:t>
            </a:r>
          </a:p>
        </p:txBody>
      </p:sp>
      <p:sp>
        <p:nvSpPr>
          <p:cNvPr id="11" name="term-step-body-0">
            <a:extLst xmlns:a="http://schemas.openxmlformats.org/drawingml/2006/main">
              <a:ext uri="{FF2B5EF4-FFF2-40B4-BE49-F238E27FC236}">
                <a16:creationId xmlns:a16="http://schemas.microsoft.com/office/drawing/2014/main" id="{4676A282-AB62-4542-A060-90C16B2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Class teachers record daily attendance for their own class, by date.</a:t>
            </a:r>
          </a:p>
        </p:txBody>
      </p:sp>
      <p:sp>
        <p:nvSpPr>
          <p:cNvPr id="12" name="term-step-no-1">
            <a:extLst xmlns:a="http://schemas.openxmlformats.org/drawingml/2006/main">
              <a:ext uri="{FF2B5EF4-FFF2-40B4-BE49-F238E27FC236}">
                <a16:creationId xmlns:a16="http://schemas.microsoft.com/office/drawing/2014/main" id="{3A6A8429-6FA5-4D91-9C1E-A514BCBF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rm-step-title-1">
            <a:extLst xmlns:a="http://schemas.openxmlformats.org/drawingml/2006/main">
              <a:ext uri="{FF2B5EF4-FFF2-40B4-BE49-F238E27FC236}">
                <a16:creationId xmlns:a16="http://schemas.microsoft.com/office/drawing/2014/main" id="{5A89B28D-7BAB-47AF-A075-C51C46A8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Assessment</a:t>
            </a:r>
          </a:p>
        </p:txBody>
      </p:sp>
      <p:sp>
        <p:nvSpPr>
          <p:cNvPr id="14" name="term-step-body-1">
            <a:extLst xmlns:a="http://schemas.openxmlformats.org/drawingml/2006/main">
              <a:ext uri="{FF2B5EF4-FFF2-40B4-BE49-F238E27FC236}">
                <a16:creationId xmlns:a16="http://schemas.microsoft.com/office/drawing/2014/main" id="{B7614A6B-C356-4EC6-9328-3DECAED8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Each subject grade combines continuous assessment and an exam, up to 100 points.</a:t>
            </a:r>
          </a:p>
        </p:txBody>
      </p:sp>
      <p:sp>
        <p:nvSpPr>
          <p:cNvPr id="15" name="term-step-no-2">
            <a:extLst xmlns:a="http://schemas.openxmlformats.org/drawingml/2006/main">
              <a:ext uri="{FF2B5EF4-FFF2-40B4-BE49-F238E27FC236}">
                <a16:creationId xmlns:a16="http://schemas.microsoft.com/office/drawing/2014/main" id="{B16E254F-79EB-4A03-9E1A-F69B1DBB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term-step-title-2">
            <a:extLst xmlns:a="http://schemas.openxmlformats.org/drawingml/2006/main">
              <a:ext uri="{FF2B5EF4-FFF2-40B4-BE49-F238E27FC236}">
                <a16:creationId xmlns:a16="http://schemas.microsoft.com/office/drawing/2014/main" id="{9038A203-7F83-47C5-A8ED-A753021F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17" name="term-step-body-2">
            <a:extLst xmlns:a="http://schemas.openxmlformats.org/drawingml/2006/main">
              <a:ext uri="{FF2B5EF4-FFF2-40B4-BE49-F238E27FC236}">
                <a16:creationId xmlns:a16="http://schemas.microsoft.com/office/drawing/2014/main" id="{46A1B3A3-25B9-4F15-9561-EF3D75D7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67125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Term reports bring subject marks and teacher remarks together for review.</a:t>
            </a:r>
          </a:p>
        </p:txBody>
      </p:sp>
      <p:sp>
        <p:nvSpPr>
          <p:cNvPr id="18" name="score-rule">
            <a:extLst xmlns:a="http://schemas.openxmlformats.org/drawingml/2006/main">
              <a:ext uri="{FF2B5EF4-FFF2-40B4-BE49-F238E27FC236}">
                <a16:creationId xmlns:a16="http://schemas.microsoft.com/office/drawing/2014/main" id="{A8B13BF7-1067-4309-8B83-9C78091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9" name="score-definition">
            <a:extLst xmlns:a="http://schemas.openxmlformats.org/drawingml/2006/main">
              <a:ext uri="{FF2B5EF4-FFF2-40B4-BE49-F238E27FC236}">
                <a16:creationId xmlns:a16="http://schemas.microsoft.com/office/drawing/2014/main" id="{72982FAF-C18E-4609-BAFE-96BF2E21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CA (max 40)  +  Exam (max 60)  =  Term score (max 100)</a:t>
            </a:r>
          </a:p>
        </p:txBody>
      </p:sp>
    </p:spTree>
    <p:extLst>
      <p:ext uri="{BB962C8B-B14F-4D97-AF65-F5344CB8AC3E}">
        <p14:creationId xmlns:p14="http://schemas.microsoft.com/office/powerpoint/2010/main" val="181704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dot">
            <a:extLst xmlns:a="http://schemas.openxmlformats.org/drawingml/2006/main">
              <a:ext uri="{FF2B5EF4-FFF2-40B4-BE49-F238E27FC236}">
                <a16:creationId xmlns:a16="http://schemas.microsoft.com/office/drawing/2014/main" id="{5662A3F5-7DBD-4603-8841-FE5DF1C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881AD0B-CFF1-4291-828A-2533328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7B473666-F43E-497D-A4E3-7BDF6600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325A9B-5287-43B0-8F93-DA5064A8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D187207-60C6-43B6-A0AB-3971B23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Promotion follows a defined academic rule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54A7C8B-6123-4342-9D5C-23CEBA53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The third-term report uses subject averages across the three-term session.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CBD288-D505-4432-9C46-61B6137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9F3B234-70C5-4E93-8DD9-F7FD1ED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romotion-label-0">
            <a:extLst xmlns:a="http://schemas.openxmlformats.org/drawingml/2006/main">
              <a:ext uri="{FF2B5EF4-FFF2-40B4-BE49-F238E27FC236}">
                <a16:creationId xmlns:a16="http://schemas.microsoft.com/office/drawing/2014/main" id="{8FB091A9-8BB8-45D3-918D-B3A5B442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MATHEMATICS</a:t>
            </a:r>
          </a:p>
        </p:txBody>
      </p:sp>
      <p:sp>
        <p:nvSpPr>
          <p:cNvPr id="10" name="promotion-detail-0">
            <a:extLst xmlns:a="http://schemas.openxmlformats.org/drawingml/2006/main">
              <a:ext uri="{FF2B5EF4-FFF2-40B4-BE49-F238E27FC236}">
                <a16:creationId xmlns:a16="http://schemas.microsoft.com/office/drawing/2014/main" id="{1F0975D1-BBB5-4243-9E92-F7411DC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Session average ≥ 50%</a:t>
            </a:r>
          </a:p>
        </p:txBody>
      </p:sp>
      <p:sp>
        <p:nvSpPr>
          <p:cNvPr id="11" name="promotion-rule-0">
            <a:extLst xmlns:a="http://schemas.openxmlformats.org/drawingml/2006/main">
              <a:ext uri="{FF2B5EF4-FFF2-40B4-BE49-F238E27FC236}">
                <a16:creationId xmlns:a16="http://schemas.microsoft.com/office/drawing/2014/main" id="{237AF0BF-64DB-4D3F-9942-B1FDAC0C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2" name="promotion-label-1">
            <a:extLst xmlns:a="http://schemas.openxmlformats.org/drawingml/2006/main">
              <a:ext uri="{FF2B5EF4-FFF2-40B4-BE49-F238E27FC236}">
                <a16:creationId xmlns:a16="http://schemas.microsoft.com/office/drawing/2014/main" id="{614B2B85-6D17-4BA9-A4D9-E9B1A1DF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  <p:sp>
        <p:nvSpPr>
          <p:cNvPr id="13" name="promotion-detail-1">
            <a:extLst xmlns:a="http://schemas.openxmlformats.org/drawingml/2006/main">
              <a:ext uri="{FF2B5EF4-FFF2-40B4-BE49-F238E27FC236}">
                <a16:creationId xmlns:a16="http://schemas.microsoft.com/office/drawing/2014/main" id="{085A0207-13B0-4F53-BB01-7FE4151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Session average ≥ 50%</a:t>
            </a:r>
          </a:p>
        </p:txBody>
      </p:sp>
      <p:sp>
        <p:nvSpPr>
          <p:cNvPr id="14" name="promotion-rule-1">
            <a:extLst xmlns:a="http://schemas.openxmlformats.org/drawingml/2006/main">
              <a:ext uri="{FF2B5EF4-FFF2-40B4-BE49-F238E27FC236}">
                <a16:creationId xmlns:a16="http://schemas.microsoft.com/office/drawing/2014/main" id="{865B1F0E-D2D5-4CB3-917B-CA00EB66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5" name="promotion-label-2">
            <a:extLst xmlns:a="http://schemas.openxmlformats.org/drawingml/2006/main">
              <a:ext uri="{FF2B5EF4-FFF2-40B4-BE49-F238E27FC236}">
                <a16:creationId xmlns:a16="http://schemas.microsoft.com/office/drawing/2014/main" id="{BF4547A6-214F-473F-BCDF-37FA24F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OVERALL AVERAGE</a:t>
            </a:r>
          </a:p>
        </p:txBody>
      </p:sp>
      <p:sp>
        <p:nvSpPr>
          <p:cNvPr id="16" name="promotion-detail-2">
            <a:extLst xmlns:a="http://schemas.openxmlformats.org/drawingml/2006/main">
              <a:ext uri="{FF2B5EF4-FFF2-40B4-BE49-F238E27FC236}">
                <a16:creationId xmlns:a16="http://schemas.microsoft.com/office/drawing/2014/main" id="{23EE7F58-330E-4613-AC75-ED901ED1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At least 50% across all subjects</a:t>
            </a:r>
          </a:p>
        </p:txBody>
      </p:sp>
      <p:sp>
        <p:nvSpPr>
          <p:cNvPr id="17" name="promotion-outcome">
            <a:extLst xmlns:a="http://schemas.openxmlformats.org/drawingml/2006/main">
              <a:ext uri="{FF2B5EF4-FFF2-40B4-BE49-F238E27FC236}">
                <a16:creationId xmlns:a16="http://schemas.microsoft.com/office/drawing/2014/main" id="{5E54A13E-CDCF-4979-8F2A-89AF668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Promoted when all three thresholds are met</a:t>
            </a:r>
          </a:p>
          <a:p xmlns:a="http://schemas.openxmlformats.org/drawingml/2006/main">
            <a:pPr algn="l">
              <a:defRPr sz="150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Otherwise → verdict includes the reason</a:t>
            </a:r>
          </a:p>
        </p:txBody>
      </p:sp>
    </p:spTree>
    <p:extLst>
      <p:ext uri="{BB962C8B-B14F-4D97-AF65-F5344CB8AC3E}">
        <p14:creationId xmlns:p14="http://schemas.microsoft.com/office/powerpoint/2010/main" val="847167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426FA7B1-65F6-4FEE-BD49-59B6DCC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A4307BE-BB07-4CF9-8E93-595E5D3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83F6B038-7A39-4E94-B9C4-C7C79FC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9A72F1-C837-4FEA-8074-2DC1FD99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8E2DA0-523F-44FD-82B5-F66821CE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Learning tools sit alongside school records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85C6138-CEBC-46CA-BDE5-1DA3C228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Classroom activity remains connected to the same roles, subjects and student context.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C1BFB52-171B-4150-A187-46120F9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B2CC71A-FA25-4F4E-90A9-41AC73D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learning-label-0">
            <a:extLst xmlns:a="http://schemas.openxmlformats.org/drawingml/2006/main">
              <a:ext uri="{FF2B5EF4-FFF2-40B4-BE49-F238E27FC236}">
                <a16:creationId xmlns:a16="http://schemas.microsoft.com/office/drawing/2014/main" id="{131BFD6B-ABF7-4D8B-B7F5-ACAECA8D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  <p:sp>
        <p:nvSpPr>
          <p:cNvPr id="10" name="learning-body-0">
            <a:extLst xmlns:a="http://schemas.openxmlformats.org/drawingml/2006/main">
              <a:ext uri="{FF2B5EF4-FFF2-40B4-BE49-F238E27FC236}">
                <a16:creationId xmlns:a16="http://schemas.microsoft.com/office/drawing/2014/main" id="{9492FF39-7629-4761-B163-CF10D608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Subject teachers create assignments and due dates; students and linked parents can review them.</a:t>
            </a:r>
          </a:p>
        </p:txBody>
      </p:sp>
      <p:sp>
        <p:nvSpPr>
          <p:cNvPr id="11" name="learning-rule-0">
            <a:extLst xmlns:a="http://schemas.openxmlformats.org/drawingml/2006/main">
              <a:ext uri="{FF2B5EF4-FFF2-40B4-BE49-F238E27FC236}">
                <a16:creationId xmlns:a16="http://schemas.microsoft.com/office/drawing/2014/main" id="{8A33B766-5A2C-4B9B-ADAF-961959D3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2" name="learning-label-1">
            <a:extLst xmlns:a="http://schemas.openxmlformats.org/drawingml/2006/main">
              <a:ext uri="{FF2B5EF4-FFF2-40B4-BE49-F238E27FC236}">
                <a16:creationId xmlns:a16="http://schemas.microsoft.com/office/drawing/2014/main" id="{AF7DF137-F12A-461F-8C36-012AE9E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LESSONS + QUIZZES</a:t>
            </a:r>
          </a:p>
        </p:txBody>
      </p:sp>
      <p:sp>
        <p:nvSpPr>
          <p:cNvPr id="13" name="learning-body-1">
            <a:extLst xmlns:a="http://schemas.openxmlformats.org/drawingml/2006/main">
              <a:ext uri="{FF2B5EF4-FFF2-40B4-BE49-F238E27FC236}">
                <a16:creationId xmlns:a16="http://schemas.microsoft.com/office/drawing/2014/main" id="{4B88AADC-B0DD-4881-9F4F-35ECCF68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Teachers publish learning material and quizzes; quiz attempts are scored on the server.</a:t>
            </a:r>
          </a:p>
        </p:txBody>
      </p:sp>
      <p:sp>
        <p:nvSpPr>
          <p:cNvPr id="14" name="learning-rule-1">
            <a:extLst xmlns:a="http://schemas.openxmlformats.org/drawingml/2006/main">
              <a:ext uri="{FF2B5EF4-FFF2-40B4-BE49-F238E27FC236}">
                <a16:creationId xmlns:a16="http://schemas.microsoft.com/office/drawing/2014/main" id="{97A8B722-BC06-4175-979B-42B6A410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5" name="learning-label-2">
            <a:extLst xmlns:a="http://schemas.openxmlformats.org/drawingml/2006/main">
              <a:ext uri="{FF2B5EF4-FFF2-40B4-BE49-F238E27FC236}">
                <a16:creationId xmlns:a16="http://schemas.microsoft.com/office/drawing/2014/main" id="{FC988613-B822-4FDF-ABCA-7232BCF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DISCUSSIONS</a:t>
            </a:r>
          </a:p>
        </p:txBody>
      </p:sp>
      <p:sp>
        <p:nvSpPr>
          <p:cNvPr id="16" name="learning-body-2">
            <a:extLst xmlns:a="http://schemas.openxmlformats.org/drawingml/2006/main">
              <a:ext uri="{FF2B5EF4-FFF2-40B4-BE49-F238E27FC236}">
                <a16:creationId xmlns:a16="http://schemas.microsoft.com/office/drawing/2014/main" id="{6764805D-B510-450E-8965-0AC3BB8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Students can participate in subject discussions alongside lessons and assessments.</a:t>
            </a:r>
          </a:p>
        </p:txBody>
      </p:sp>
      <p:sp>
        <p:nvSpPr>
          <p:cNvPr id="17" name="learning-rule-2">
            <a:extLst xmlns:a="http://schemas.openxmlformats.org/drawingml/2006/main">
              <a:ext uri="{FF2B5EF4-FFF2-40B4-BE49-F238E27FC236}">
                <a16:creationId xmlns:a16="http://schemas.microsoft.com/office/drawing/2014/main" id="{700DDD11-8EBC-4130-B582-F8FF6C82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8" name="learning-label-3">
            <a:extLst xmlns:a="http://schemas.openxmlformats.org/drawingml/2006/main">
              <a:ext uri="{FF2B5EF4-FFF2-40B4-BE49-F238E27FC236}">
                <a16:creationId xmlns:a16="http://schemas.microsoft.com/office/drawing/2014/main" id="{75F89698-05B2-4DAA-A8B2-AB682799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TIMETABLES</a:t>
            </a:r>
          </a:p>
        </p:txBody>
      </p:sp>
      <p:sp>
        <p:nvSpPr>
          <p:cNvPr id="19" name="learning-body-3">
            <a:extLst xmlns:a="http://schemas.openxmlformats.org/drawingml/2006/main">
              <a:ext uri="{FF2B5EF4-FFF2-40B4-BE49-F238E27FC236}">
                <a16:creationId xmlns:a16="http://schemas.microsoft.com/office/drawing/2014/main" id="{39E23AB5-A28E-4C31-915B-0348362D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798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Teachers, students and parents can check schedules for the relevant class or linked child.</a:t>
            </a:r>
          </a:p>
        </p:txBody>
      </p:sp>
    </p:spTree>
    <p:extLst>
      <p:ext uri="{BB962C8B-B14F-4D97-AF65-F5344CB8AC3E}">
        <p14:creationId xmlns:p14="http://schemas.microsoft.com/office/powerpoint/2010/main" val="977398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dot">
            <a:extLst xmlns:a="http://schemas.openxmlformats.org/drawingml/2006/main">
              <a:ext uri="{FF2B5EF4-FFF2-40B4-BE49-F238E27FC236}">
                <a16:creationId xmlns:a16="http://schemas.microsoft.com/office/drawing/2014/main" id="{B5C29FD1-0B4B-4A6D-918C-215A8FE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C8CDD99-7768-4651-88F9-B941A1F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FA1B8C04-4F4A-4F35-8D54-8FA2A81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SECONDARY SCHOOL MANAGEMENT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014BBC-8B94-424A-BB1F-15D91A2E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612B8B-DAB5-4B6F-939D-E880118A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3EA"/>
                </a:solidFill>
                <a:latin typeface="Aptos Display"/>
                <a:ea typeface="Aptos Display"/>
                <a:cs typeface="Aptos Display"/>
              </a:rPr>
              <a:t>Start with the school’s own rules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94B10E2-362A-4AB4-9ACE-85288E54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Suggested pilot: walk one class through a complete term workflow before expanding.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9389FC-4435-4A3B-BD63-D9C89CC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46395E2-B3F3-43B0-AD69-3378A700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6C2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6C2CE"/>
                </a:solidFill>
                <a:latin typeface="Aptos"/>
                <a:ea typeface="Aptos"/>
                <a:cs typeface="Aptos"/>
              </a:rPr>
              <a:t>SCHOOLDB  ·  NIGERIAN SECONDARY SCHOOLS</a:t>
            </a:r>
          </a:p>
        </p:txBody>
      </p:sp>
      <p:sp>
        <p:nvSpPr>
          <p:cNvPr id="9" name="pilot-phase-0">
            <a:extLst xmlns:a="http://schemas.openxmlformats.org/drawingml/2006/main">
              <a:ext uri="{FF2B5EF4-FFF2-40B4-BE49-F238E27FC236}">
                <a16:creationId xmlns:a16="http://schemas.microsoft.com/office/drawing/2014/main" id="{BC00AE6C-90BC-4D28-9BAB-21AB773C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01  SET UP</a:t>
            </a:r>
          </a:p>
        </p:txBody>
      </p:sp>
      <p:sp>
        <p:nvSpPr>
          <p:cNvPr id="10" name="pilot-description-0">
            <a:extLst xmlns:a="http://schemas.openxmlformats.org/drawingml/2006/main">
              <a:ext uri="{FF2B5EF4-FFF2-40B4-BE49-F238E27FC236}">
                <a16:creationId xmlns:a16="http://schemas.microsoft.com/office/drawing/2014/main" id="{B5EFF45C-386A-42AA-B080-47827AD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Confirm session, term dates, classes, subjects and grading rules.</a:t>
            </a:r>
          </a:p>
        </p:txBody>
      </p:sp>
      <p:sp>
        <p:nvSpPr>
          <p:cNvPr id="11" name="pilot-rule-0">
            <a:extLst xmlns:a="http://schemas.openxmlformats.org/drawingml/2006/main">
              <a:ext uri="{FF2B5EF4-FFF2-40B4-BE49-F238E27FC236}">
                <a16:creationId xmlns:a16="http://schemas.microsoft.com/office/drawing/2014/main" id="{5EA16E9A-C1CF-4165-9566-3ADC140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2" name="pilot-phase-1">
            <a:extLst xmlns:a="http://schemas.openxmlformats.org/drawingml/2006/main">
              <a:ext uri="{FF2B5EF4-FFF2-40B4-BE49-F238E27FC236}">
                <a16:creationId xmlns:a16="http://schemas.microsoft.com/office/drawing/2014/main" id="{1DE12391-5E01-4781-9039-AA27948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02  CONNECT</a:t>
            </a:r>
          </a:p>
        </p:txBody>
      </p:sp>
      <p:sp>
        <p:nvSpPr>
          <p:cNvPr id="13" name="pilot-description-1">
            <a:extLst xmlns:a="http://schemas.openxmlformats.org/drawingml/2006/main">
              <a:ext uri="{FF2B5EF4-FFF2-40B4-BE49-F238E27FC236}">
                <a16:creationId xmlns:a16="http://schemas.microsoft.com/office/drawing/2014/main" id="{218EFD32-A3C7-441D-BED0-A1F0A17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Check student records, teacher assignments and parent–student links.</a:t>
            </a:r>
          </a:p>
        </p:txBody>
      </p:sp>
      <p:sp>
        <p:nvSpPr>
          <p:cNvPr id="14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D36A8738-56F2-4CB0-9707-C7B60729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5" name="pilot-phase-2">
            <a:extLst xmlns:a="http://schemas.openxmlformats.org/drawingml/2006/main">
              <a:ext uri="{FF2B5EF4-FFF2-40B4-BE49-F238E27FC236}">
                <a16:creationId xmlns:a16="http://schemas.microsoft.com/office/drawing/2014/main" id="{762F6D0C-644A-40EF-83CB-0B2193CE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03  RUN</a:t>
            </a:r>
          </a:p>
        </p:txBody>
      </p:sp>
      <p:sp>
        <p:nvSpPr>
          <p:cNvPr id="16" name="pilot-description-2">
            <a:extLst xmlns:a="http://schemas.openxmlformats.org/drawingml/2006/main">
              <a:ext uri="{FF2B5EF4-FFF2-40B4-BE49-F238E27FC236}">
                <a16:creationId xmlns:a16="http://schemas.microsoft.com/office/drawing/2014/main" id="{97A9A1DF-481F-4B1A-99BD-FCB5F148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Use attendance, grade entry, assignments and learning tools with the pilot class.</a:t>
            </a:r>
          </a:p>
        </p:txBody>
      </p:sp>
      <p:sp>
        <p:nvSpPr>
          <p:cNvPr id="17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1139A1BC-0291-436B-B558-8BC0CFCE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65A"/>
            </a:solidFill>
            <a:prstDash val="solid"/>
          </a:ln>
        </p:spPr>
      </p:sp>
      <p:sp>
        <p:nvSpPr>
          <p:cNvPr id="18" name="pilot-phase-3">
            <a:extLst xmlns:a="http://schemas.openxmlformats.org/drawingml/2006/main">
              <a:ext uri="{FF2B5EF4-FFF2-40B4-BE49-F238E27FC236}">
                <a16:creationId xmlns:a16="http://schemas.microsoft.com/office/drawing/2014/main" id="{E1F44538-C243-444B-9097-FDE9D71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0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B84B"/>
                </a:solidFill>
                <a:latin typeface="Aptos"/>
                <a:ea typeface="Aptos"/>
                <a:cs typeface="Aptos"/>
              </a:rPr>
              <a:t>04  REVIEW</a:t>
            </a:r>
          </a:p>
        </p:txBody>
      </p:sp>
      <p:sp>
        <p:nvSpPr>
          <p:cNvPr id="19" name="pilot-description-3">
            <a:extLst xmlns:a="http://schemas.openxmlformats.org/drawingml/2006/main">
              <a:ext uri="{FF2B5EF4-FFF2-40B4-BE49-F238E27FC236}">
                <a16:creationId xmlns:a16="http://schemas.microsoft.com/office/drawing/2014/main" id="{DBAAF280-7BEF-4B77-9256-D6D86B5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0060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3E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3EA"/>
                </a:solidFill>
                <a:latin typeface="Aptos"/>
                <a:ea typeface="Aptos"/>
                <a:cs typeface="Aptos"/>
              </a:rPr>
              <a:t>Check report cards and year-end promotion outcomes against school policy.</a:t>
            </a:r>
          </a:p>
        </p:txBody>
      </p:sp>
    </p:spTree>
    <p:extLst>
      <p:ext uri="{BB962C8B-B14F-4D97-AF65-F5344CB8AC3E}">
        <p14:creationId xmlns:p14="http://schemas.microsoft.com/office/powerpoint/2010/main" val="1936957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2026-10-13T22:56:58.4300000Z</dcterms:created>
  <dcterms:modified xsi:type="dcterms:W3CDTF">2026-10-13T22:56:58.4300000Z</dcterms:modified>
</coreProperties>
</file>