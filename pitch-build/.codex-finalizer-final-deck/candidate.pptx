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0a80b938441b2" /><Relationship Type="http://schemas.openxmlformats.org/officeDocument/2006/relationships/extended-properties" Target="/docProps/app.xml" Id="R2f4cde0a716049de" /><Relationship Type="http://schemas.openxmlformats.org/officeDocument/2006/relationships/officeDocument" Target="/ppt/presentation.xml" Id="Rd287ea31b8fa40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c0a2eefba54a04"/>
  </p:sldMasterIdLst>
  <p:notesMasterIdLst>
    <p:notesMasterId xmlns:r="http://schemas.openxmlformats.org/officeDocument/2006/relationships" r:id="R6b5278d2161e4db3"/>
  </p:notesMasterIdLst>
  <p:sldIdLst>
    <p:sldId xmlns:r="http://schemas.openxmlformats.org/officeDocument/2006/relationships" id="256" r:id="Rd53df02dc49745e4"/>
    <p:sldId xmlns:r="http://schemas.openxmlformats.org/officeDocument/2006/relationships" id="257" r:id="R075550989e314c4e"/>
    <p:sldId xmlns:r="http://schemas.openxmlformats.org/officeDocument/2006/relationships" id="258" r:id="R3188d7a242c14129"/>
    <p:sldId xmlns:r="http://schemas.openxmlformats.org/officeDocument/2006/relationships" id="259" r:id="R6cca86f8ea724779"/>
    <p:sldId xmlns:r="http://schemas.openxmlformats.org/officeDocument/2006/relationships" id="260" r:id="Rcb8af426dc8e4bc4"/>
    <p:sldId xmlns:r="http://schemas.openxmlformats.org/officeDocument/2006/relationships" id="261" r:id="Rf56b6a67607744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c8ced2c7f5490d" /><Relationship Type="http://schemas.openxmlformats.org/officeDocument/2006/relationships/slideMaster" Target="/ppt/slideMasters/slideMaster1.xml" Id="Rccc0a2eefba54a04" /><Relationship Type="http://schemas.openxmlformats.org/officeDocument/2006/relationships/notesMaster" Target="/ppt/notesMasters/notesMaster1.xml" Id="R6b5278d2161e4db3" /><Relationship Type="http://schemas.openxmlformats.org/officeDocument/2006/relationships/presProps" Target="/ppt/presProps.xml" Id="Rae3c5e804f384049" /><Relationship Type="http://schemas.openxmlformats.org/officeDocument/2006/relationships/tableStyles" Target="/ppt/tableStyles.xml" Id="R61b55a343fd14871" /><Relationship Type="http://schemas.openxmlformats.org/officeDocument/2006/relationships/slide" Target="/ppt/slides/slide1.xml" Id="Rd53df02dc49745e4" /><Relationship Type="http://schemas.openxmlformats.org/officeDocument/2006/relationships/slide" Target="/ppt/slides/slide2.xml" Id="R075550989e314c4e" /><Relationship Type="http://schemas.openxmlformats.org/officeDocument/2006/relationships/slide" Target="/ppt/slides/slide3.xml" Id="R3188d7a242c14129" /><Relationship Type="http://schemas.openxmlformats.org/officeDocument/2006/relationships/slide" Target="/ppt/slides/slide4.xml" Id="R6cca86f8ea724779" /><Relationship Type="http://schemas.openxmlformats.org/officeDocument/2006/relationships/slide" Target="/ppt/slides/slide5.xml" Id="Rcb8af426dc8e4bc4" /><Relationship Type="http://schemas.openxmlformats.org/officeDocument/2006/relationships/slide" Target="/ppt/slides/slide6.xml" Id="Rf56b6a67607744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a04cfeb37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bf5ae4f0744e0" /><Relationship Type="http://schemas.openxmlformats.org/officeDocument/2006/relationships/notesMaster" Target="/ppt/notesMasters/notesMaster1.xml" Id="R7d0e3ebeb75443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02516612d946de" /><Relationship Type="http://schemas.openxmlformats.org/officeDocument/2006/relationships/notesMaster" Target="/ppt/notesMasters/notesMaster1.xml" Id="R0908fb20883c42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f6e004504542e2" /><Relationship Type="http://schemas.openxmlformats.org/officeDocument/2006/relationships/notesMaster" Target="/ppt/notesMasters/notesMaster1.xml" Id="R96c48381ca9d4b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793a517ce8436d" /><Relationship Type="http://schemas.openxmlformats.org/officeDocument/2006/relationships/notesMaster" Target="/ppt/notesMasters/notesMaster1.xml" Id="R39a54251cbf84f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a042794a434e62" /><Relationship Type="http://schemas.openxmlformats.org/officeDocument/2006/relationships/notesMaster" Target="/ppt/notesMasters/notesMaster1.xml" Id="R53a09684aea546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96bf37a85d49e7" /><Relationship Type="http://schemas.openxmlformats.org/officeDocument/2006/relationships/notesMaster" Target="/ppt/notesMasters/notesMaster1.xml" Id="R5e69077182234e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No outcome or savings metrics were supplied, so the slide makes no quantified impact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Role descriptions summarize the existing admin, teacher, student and parent capabilities. The project has no HOD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The 40-point continuous assessment and 60-point exam maxima come from the supplied project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Corrected promotion rule per the user: Mathematics session average must be at least 50%, English session average must be at least 50%, and the overall average across all subjects must be at least 50%.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Parent visibility is limited to children linked through the parent–student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This slide proposes an initial rollout sequence; pilot length, class selection and success measures should be agreed with the school.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0cfb761784b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9a49615e247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cf6e21e0b44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24a00a2904e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3745fa6dd4d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eab62c804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BA1AB5-02E3-489F-8B28-1E5ED4072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1888C2-2C62-4502-B6BC-76B10741E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2ADE71-A320-410C-B13E-B596D89D9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B3388C-310A-4FA4-A2A5-86BA14930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9F9C7A-1905-4B1C-BE2E-EF6A3F8320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654154-1F76-4E51-8F26-C454D6437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47F202-7B6A-47A5-9B49-37C015428C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231D9F-9AFC-459D-803F-948BBA005B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EDF265-EC8F-4B6B-AA13-BB9D51026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99CB5C-0F8E-4AAE-A83A-B0EECB60B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2a56c526b7419e" /><Relationship Type="http://schemas.openxmlformats.org/officeDocument/2006/relationships/slideLayout" Target="/ppt/slideLayouts/slideLayout1.xml" Id="R51356e13f4ed4f96" /><Relationship Type="http://schemas.openxmlformats.org/officeDocument/2006/relationships/slideLayout" Target="/ppt/slideLayouts/slideLayout2.xml" Id="R7bd04e65b3db4abc" /><Relationship Type="http://schemas.openxmlformats.org/officeDocument/2006/relationships/slideLayout" Target="/ppt/slideLayouts/slideLayout3.xml" Id="R0deba7ab56d04cbf" /><Relationship Type="http://schemas.openxmlformats.org/officeDocument/2006/relationships/slideLayout" Target="/ppt/slideLayouts/slideLayout4.xml" Id="Rf506b052865c4a32" /><Relationship Type="http://schemas.openxmlformats.org/officeDocument/2006/relationships/slideLayout" Target="/ppt/slideLayouts/slideLayout5.xml" Id="R8b10c260ab3047f7" /><Relationship Type="http://schemas.openxmlformats.org/officeDocument/2006/relationships/slideLayout" Target="/ppt/slideLayouts/slideLayout6.xml" Id="R2278fee5686a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356e13f4ed4f96"/>
    <p:sldLayoutId xmlns:r="http://schemas.openxmlformats.org/officeDocument/2006/relationships" id="2147483650" r:id="R7bd04e65b3db4abc"/>
    <p:sldLayoutId xmlns:r="http://schemas.openxmlformats.org/officeDocument/2006/relationships" id="2147483651" r:id="R0deba7ab56d04cbf"/>
    <p:sldLayoutId xmlns:r="http://schemas.openxmlformats.org/officeDocument/2006/relationships" id="2147483652" r:id="Rf506b052865c4a32"/>
    <p:sldLayoutId xmlns:r="http://schemas.openxmlformats.org/officeDocument/2006/relationships" id="2147483653" r:id="R8b10c260ab3047f7"/>
    <p:sldLayoutId xmlns:r="http://schemas.openxmlformats.org/officeDocument/2006/relationships" id="2147483654" r:id="R2278fee5686a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7844625c54188" /><Relationship Type="http://schemas.openxmlformats.org/officeDocument/2006/relationships/notesSlide" Target="/ppt/notesSlides/notesSlide1.xml" Id="R72659ede9ea549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c3fb2458e497e" /><Relationship Type="http://schemas.openxmlformats.org/officeDocument/2006/relationships/notesSlide" Target="/ppt/notesSlides/notesSlide2.xml" Id="R33aa330b845149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46b4a71ec4376" /><Relationship Type="http://schemas.openxmlformats.org/officeDocument/2006/relationships/notesSlide" Target="/ppt/notesSlides/notesSlide3.xml" Id="Rcba2bee3f09f48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6b0f45c8c404e" /><Relationship Type="http://schemas.openxmlformats.org/officeDocument/2006/relationships/notesSlide" Target="/ppt/notesSlides/notesSlide4.xml" Id="Rca9af29c301c4b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0c08d0c4244da" /><Relationship Type="http://schemas.openxmlformats.org/officeDocument/2006/relationships/notesSlide" Target="/ppt/notesSlides/notesSlide5.xml" Id="R7b3c25271d73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9fbe1a20c42a9" /><Relationship Type="http://schemas.openxmlformats.org/officeDocument/2006/relationships/notesSlide" Target="/ppt/notesSlides/notesSlide6.xml" Id="R75df50695e7540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dot">
            <a:extLst xmlns:a="http://schemas.openxmlformats.org/drawingml/2006/main">
              <a:ext uri="{FF2B5EF4-FFF2-40B4-BE49-F238E27FC236}">
                <a16:creationId xmlns:a16="http://schemas.microsoft.com/office/drawing/2014/main" id="{36AE8EE2-A5FF-4825-8580-1CC58581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92CA078-711F-4900-A275-B7D10E2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3888204C-8527-44AD-9306-D731F93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574125-32C0-4031-853A-E9E34DF3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38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One connected system</a:t>
            </a:r>
          </a:p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for the school year</a:t>
            </a:r>
          </a:p>
        </p:txBody>
      </p:sp>
      <p:sp>
        <p:nvSpPr>
          <p:cNvPr id="5" name="value-proposition">
            <a:extLst xmlns:a="http://schemas.openxmlformats.org/drawingml/2006/main">
              <a:ext uri="{FF2B5EF4-FFF2-40B4-BE49-F238E27FC236}">
                <a16:creationId xmlns:a16="http://schemas.microsoft.com/office/drawing/2014/main" id="{9557820A-ECDB-4991-BEAD-5FCCB51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776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brings academic records, classroom learning and family access into one workflow for Nigerian secondary schools.</a:t>
            </a:r>
          </a:p>
        </p:txBody>
      </p:sp>
      <p:sp>
        <p:nvSpPr>
          <p:cNvPr id="6" name="school-calendar-context">
            <a:extLst xmlns:a="http://schemas.openxmlformats.org/drawingml/2006/main">
              <a:ext uri="{FF2B5EF4-FFF2-40B4-BE49-F238E27FC236}">
                <a16:creationId xmlns:a16="http://schemas.microsoft.com/office/drawing/2014/main" id="{B160D08A-E777-498E-AB06-3FBD10F7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BUILT AROUND</a:t>
            </a:r>
          </a:p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NIGERIA’S 3-TERM YEAR</a:t>
            </a:r>
          </a:p>
        </p:txBody>
      </p:sp>
      <p:sp>
        <p:nvSpPr>
          <p:cNvPr id="7" name="academic-workflow-line">
            <a:extLst xmlns:a="http://schemas.openxmlformats.org/drawingml/2006/main">
              <a:ext uri="{FF2B5EF4-FFF2-40B4-BE49-F238E27FC236}">
                <a16:creationId xmlns:a16="http://schemas.microsoft.com/office/drawing/2014/main" id="{3B1B62C5-0457-4CEC-8E3A-326AE70B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49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D5DA"/>
            </a:solidFill>
            <a:prstDash val="solid"/>
          </a:ln>
        </p:spPr>
      </p:sp>
      <p:sp>
        <p:nvSpPr>
          <p:cNvPr id="8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45A33D12-53A9-46F1-B015-79B474D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27FD2F02-8EB7-4F37-BBCE-E9605B62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0EBDE99D-1ADA-4CDD-AB23-C5B24ED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D57B612F-B9E7-4375-B1BE-B937169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Daily attendance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CA and exam grades</a:t>
            </a:r>
          </a:p>
        </p:txBody>
      </p:sp>
      <p:sp>
        <p:nvSpPr>
          <p:cNvPr id="12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890B499C-CA07-4852-AAD2-53FB95B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3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F40F8D6C-9F9D-41BD-B163-82D103CA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34D5207B-0669-485D-90C7-66E2CA7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Teach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F1709689-F990-442C-BFB8-5271C45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Assignments, lessons,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quizzes and discussions</a:t>
            </a:r>
          </a:p>
        </p:txBody>
      </p:sp>
      <p:sp>
        <p:nvSpPr>
          <p:cNvPr id="16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DCF22C99-385A-45BA-B479-67CECC71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044D5DE6-E0BA-4D3B-9D46-E36E513A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4F8CEE26-E791-4B76-B588-4C13DEEE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DCA458F2-8F6C-4D3F-9DDE-7979B3C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Term reports, analytics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teacher remarks</a:t>
            </a:r>
          </a:p>
        </p:txBody>
      </p:sp>
      <p:sp>
        <p:nvSpPr>
          <p:cNvPr id="20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4A32F965-E93A-4EDF-AC0E-62726A66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2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2BA05DC9-28DE-4222-8C98-86CB6518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AADDB75E-2AE3-47BF-9527-C1C0D684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Progress</a:t>
            </a:r>
          </a:p>
        </p:txBody>
      </p:sp>
      <p:sp>
        <p:nvSpPr>
          <p:cNvPr id="23" name="step-4-body">
            <a:extLst xmlns:a="http://schemas.openxmlformats.org/drawingml/2006/main">
              <a:ext uri="{FF2B5EF4-FFF2-40B4-BE49-F238E27FC236}">
                <a16:creationId xmlns:a16="http://schemas.microsoft.com/office/drawing/2014/main" id="{F629CD45-E1E8-438B-A1BA-AC58693A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Promotion decisions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family visibility</a:t>
            </a:r>
          </a:p>
        </p:txBody>
      </p:sp>
      <p:sp>
        <p:nvSpPr>
          <p:cNvPr id="24" name="audience-rule">
            <a:extLst xmlns:a="http://schemas.openxmlformats.org/drawingml/2006/main">
              <a:ext uri="{FF2B5EF4-FFF2-40B4-BE49-F238E27FC236}">
                <a16:creationId xmlns:a16="http://schemas.microsoft.com/office/drawing/2014/main" id="{C15DAF60-F4E7-4576-8F77-047D52E7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25" name="audiences">
            <a:extLst xmlns:a="http://schemas.openxmlformats.org/drawingml/2006/main">
              <a:ext uri="{FF2B5EF4-FFF2-40B4-BE49-F238E27FC236}">
                <a16:creationId xmlns:a16="http://schemas.microsoft.com/office/drawing/2014/main" id="{1579BEE6-0B12-448F-9FEB-46DFD62F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One shared school record for administrators, teachers, students and parents.</a:t>
            </a:r>
          </a:p>
        </p:txBody>
      </p:sp>
    </p:spTree>
    <p:extLst>
      <p:ext uri="{BB962C8B-B14F-4D97-AF65-F5344CB8AC3E}">
        <p14:creationId xmlns:p14="http://schemas.microsoft.com/office/powerpoint/2010/main" val="1264593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A0AF457E-A566-481B-B9A5-7934784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66A8F65-B84E-4D89-8992-E22F133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3F58B1A9-125C-4FD4-B06D-DBFCFC8A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47D706-5888-425F-AAEC-55BB8859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D87B157-5394-4978-B591-00C9EA6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Each role sees the work they own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028450A-8EB4-4AD6-B3DD-973E85B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One student record supports school administration, classroom work and family visibility.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0969190-395A-4EE0-9D49-17EB468E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A5BA808-AD84-486D-ABF5-D59B7907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role-1">
            <a:extLst xmlns:a="http://schemas.openxmlformats.org/drawingml/2006/main">
              <a:ext uri="{FF2B5EF4-FFF2-40B4-BE49-F238E27FC236}">
                <a16:creationId xmlns:a16="http://schemas.microsoft.com/office/drawing/2014/main" id="{E68653C1-0131-43F9-A522-9058E6E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ADMINISTRATOR</a:t>
            </a:r>
          </a:p>
        </p:txBody>
      </p:sp>
      <p:sp>
        <p:nvSpPr>
          <p:cNvPr id="10" name="role-description-1">
            <a:extLst xmlns:a="http://schemas.openxmlformats.org/drawingml/2006/main">
              <a:ext uri="{FF2B5EF4-FFF2-40B4-BE49-F238E27FC236}">
                <a16:creationId xmlns:a16="http://schemas.microsoft.com/office/drawing/2014/main" id="{C7EC101B-62FA-450A-8636-00388F6A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955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Set sessions and terms; manage users, classes, subjects and teacher assignments; review school reports, analytics and timetables.</a:t>
            </a:r>
          </a:p>
        </p:txBody>
      </p:sp>
      <p:sp>
        <p:nvSpPr>
          <p:cNvPr id="11" name="role-rule-1">
            <a:extLst xmlns:a="http://schemas.openxmlformats.org/drawingml/2006/main">
              <a:ext uri="{FF2B5EF4-FFF2-40B4-BE49-F238E27FC236}">
                <a16:creationId xmlns:a16="http://schemas.microsoft.com/office/drawing/2014/main" id="{9A678829-CDCC-4086-959B-5BA7F96C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role-2">
            <a:extLst xmlns:a="http://schemas.openxmlformats.org/drawingml/2006/main">
              <a:ext uri="{FF2B5EF4-FFF2-40B4-BE49-F238E27FC236}">
                <a16:creationId xmlns:a16="http://schemas.microsoft.com/office/drawing/2014/main" id="{7C119209-9BD0-40F7-A619-196E7EB0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CLASS TEACHER</a:t>
            </a:r>
          </a:p>
        </p:txBody>
      </p:sp>
      <p:sp>
        <p:nvSpPr>
          <p:cNvPr id="13" name="role-description-2">
            <a:extLst xmlns:a="http://schemas.openxmlformats.org/drawingml/2006/main">
              <a:ext uri="{FF2B5EF4-FFF2-40B4-BE49-F238E27FC236}">
                <a16:creationId xmlns:a16="http://schemas.microsoft.com/office/drawing/2014/main" id="{8D74DD5E-9C56-4307-A56C-BBAA5B45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Take attendance for the assigned class, view its roster and timetable, and add end-of-term class remarks.</a:t>
            </a:r>
          </a:p>
        </p:txBody>
      </p:sp>
      <p:sp>
        <p:nvSpPr>
          <p:cNvPr id="14" name="role-rule-2">
            <a:extLst xmlns:a="http://schemas.openxmlformats.org/drawingml/2006/main">
              <a:ext uri="{FF2B5EF4-FFF2-40B4-BE49-F238E27FC236}">
                <a16:creationId xmlns:a16="http://schemas.microsoft.com/office/drawing/2014/main" id="{C8D118AA-C597-4F9C-A23B-074BD8D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role-3">
            <a:extLst xmlns:a="http://schemas.openxmlformats.org/drawingml/2006/main">
              <a:ext uri="{FF2B5EF4-FFF2-40B4-BE49-F238E27FC236}">
                <a16:creationId xmlns:a16="http://schemas.microsoft.com/office/drawing/2014/main" id="{E98004E0-19B8-4B2D-B1C3-34E12B5F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SUBJECT TEACHER</a:t>
            </a:r>
          </a:p>
        </p:txBody>
      </p:sp>
      <p:sp>
        <p:nvSpPr>
          <p:cNvPr id="16" name="role-description-3">
            <a:extLst xmlns:a="http://schemas.openxmlformats.org/drawingml/2006/main">
              <a:ext uri="{FF2B5EF4-FFF2-40B4-BE49-F238E27FC236}">
                <a16:creationId xmlns:a16="http://schemas.microsoft.com/office/drawing/2014/main" id="{89AA7666-94BC-4297-8DB0-06F0A08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Upload CA and exam scores for assigned subject–class pairs; manage assignments, lessons, quizzes and discussions.</a:t>
            </a:r>
          </a:p>
        </p:txBody>
      </p:sp>
      <p:sp>
        <p:nvSpPr>
          <p:cNvPr id="17" name="role-rule-3">
            <a:extLst xmlns:a="http://schemas.openxmlformats.org/drawingml/2006/main">
              <a:ext uri="{FF2B5EF4-FFF2-40B4-BE49-F238E27FC236}">
                <a16:creationId xmlns:a16="http://schemas.microsoft.com/office/drawing/2014/main" id="{52D176A3-4039-4F9F-B75E-01730D9C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role-4">
            <a:extLst xmlns:a="http://schemas.openxmlformats.org/drawingml/2006/main">
              <a:ext uri="{FF2B5EF4-FFF2-40B4-BE49-F238E27FC236}">
                <a16:creationId xmlns:a16="http://schemas.microsoft.com/office/drawing/2014/main" id="{44A1ADCC-87D7-4CE4-A100-04ACE0E4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STUDENT + PARENT</a:t>
            </a:r>
          </a:p>
        </p:txBody>
      </p:sp>
      <p:sp>
        <p:nvSpPr>
          <p:cNvPr id="19" name="role-description-4">
            <a:extLst xmlns:a="http://schemas.openxmlformats.org/drawingml/2006/main">
              <a:ext uri="{FF2B5EF4-FFF2-40B4-BE49-F238E27FC236}">
                <a16:creationId xmlns:a16="http://schemas.microsoft.com/office/drawing/2014/main" id="{C00D6D93-B3FD-4BE4-AD84-EFFB8288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387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Students see their own reports, attendance and learning. Parents see those records for linked children.</a:t>
            </a:r>
          </a:p>
        </p:txBody>
      </p:sp>
    </p:spTree>
    <p:extLst>
      <p:ext uri="{BB962C8B-B14F-4D97-AF65-F5344CB8AC3E}">
        <p14:creationId xmlns:p14="http://schemas.microsoft.com/office/powerpoint/2010/main" val="1793898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DFD594F4-4763-4B87-8152-E8579768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7C7E0AE-35F7-45BD-B291-E56A2B3C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6B965FB9-5493-40BD-9707-3FA3EEEF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AF53EF-D21F-4061-98E5-7E32241E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618492D-FD33-46EB-A221-1B4F4B59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Term records connect daily work to reports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83A22FD-C3F0-4A00-8195-67129F00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Attendance and subject scores stay organized by student, class, subject and term.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B4069C4-3785-4D93-B08E-B1E04EF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700510D-865A-49C4-AD77-2646F04A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term-step-no-0">
            <a:extLst xmlns:a="http://schemas.openxmlformats.org/drawingml/2006/main">
              <a:ext uri="{FF2B5EF4-FFF2-40B4-BE49-F238E27FC236}">
                <a16:creationId xmlns:a16="http://schemas.microsoft.com/office/drawing/2014/main" id="{15C9400C-6DF2-4BC0-BA6B-5CDAB28F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erm-step-title-0">
            <a:extLst xmlns:a="http://schemas.openxmlformats.org/drawingml/2006/main">
              <a:ext uri="{FF2B5EF4-FFF2-40B4-BE49-F238E27FC236}">
                <a16:creationId xmlns:a16="http://schemas.microsoft.com/office/drawing/2014/main" id="{867071EF-9433-4A49-8052-50AE01E7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Attendance</a:t>
            </a:r>
          </a:p>
        </p:txBody>
      </p:sp>
      <p:sp>
        <p:nvSpPr>
          <p:cNvPr id="11" name="term-step-body-0">
            <a:extLst xmlns:a="http://schemas.openxmlformats.org/drawingml/2006/main">
              <a:ext uri="{FF2B5EF4-FFF2-40B4-BE49-F238E27FC236}">
                <a16:creationId xmlns:a16="http://schemas.microsoft.com/office/drawing/2014/main" id="{BE2DB689-EC5D-47F5-B5E9-091706B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Class teachers record daily attendance for their own class, by date.</a:t>
            </a:r>
          </a:p>
        </p:txBody>
      </p:sp>
      <p:sp>
        <p:nvSpPr>
          <p:cNvPr id="12" name="term-step-no-1">
            <a:extLst xmlns:a="http://schemas.openxmlformats.org/drawingml/2006/main">
              <a:ext uri="{FF2B5EF4-FFF2-40B4-BE49-F238E27FC236}">
                <a16:creationId xmlns:a16="http://schemas.microsoft.com/office/drawing/2014/main" id="{9298FAC3-63E2-456A-AB98-877EDAF9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rm-step-title-1">
            <a:extLst xmlns:a="http://schemas.openxmlformats.org/drawingml/2006/main">
              <a:ext uri="{FF2B5EF4-FFF2-40B4-BE49-F238E27FC236}">
                <a16:creationId xmlns:a16="http://schemas.microsoft.com/office/drawing/2014/main" id="{26BB5F3D-6BEC-4E5A-A439-9C8F2804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Assessment</a:t>
            </a:r>
          </a:p>
        </p:txBody>
      </p:sp>
      <p:sp>
        <p:nvSpPr>
          <p:cNvPr id="14" name="term-step-body-1">
            <a:extLst xmlns:a="http://schemas.openxmlformats.org/drawingml/2006/main">
              <a:ext uri="{FF2B5EF4-FFF2-40B4-BE49-F238E27FC236}">
                <a16:creationId xmlns:a16="http://schemas.microsoft.com/office/drawing/2014/main" id="{7AF0124D-3376-49C6-BB1F-4CF4E532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Each subject grade combines continuous assessment and an exam, up to 100 points.</a:t>
            </a:r>
          </a:p>
        </p:txBody>
      </p:sp>
      <p:sp>
        <p:nvSpPr>
          <p:cNvPr id="15" name="term-step-no-2">
            <a:extLst xmlns:a="http://schemas.openxmlformats.org/drawingml/2006/main">
              <a:ext uri="{FF2B5EF4-FFF2-40B4-BE49-F238E27FC236}">
                <a16:creationId xmlns:a16="http://schemas.microsoft.com/office/drawing/2014/main" id="{33F0BA47-DD92-423B-95A5-2CAAABC8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term-step-title-2">
            <a:extLst xmlns:a="http://schemas.openxmlformats.org/drawingml/2006/main">
              <a:ext uri="{FF2B5EF4-FFF2-40B4-BE49-F238E27FC236}">
                <a16:creationId xmlns:a16="http://schemas.microsoft.com/office/drawing/2014/main" id="{996728AE-07FA-4DB9-80FD-6591816E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17" name="term-step-body-2">
            <a:extLst xmlns:a="http://schemas.openxmlformats.org/drawingml/2006/main">
              <a:ext uri="{FF2B5EF4-FFF2-40B4-BE49-F238E27FC236}">
                <a16:creationId xmlns:a16="http://schemas.microsoft.com/office/drawing/2014/main" id="{C361233A-C38F-4D44-82C4-7FB2F8BA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Term reports bring subject marks and teacher remarks together for review.</a:t>
            </a:r>
          </a:p>
        </p:txBody>
      </p:sp>
      <p:sp>
        <p:nvSpPr>
          <p:cNvPr id="18" name="score-rule">
            <a:extLst xmlns:a="http://schemas.openxmlformats.org/drawingml/2006/main">
              <a:ext uri="{FF2B5EF4-FFF2-40B4-BE49-F238E27FC236}">
                <a16:creationId xmlns:a16="http://schemas.microsoft.com/office/drawing/2014/main" id="{C845AC61-E423-48DC-A958-9F966A4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9" name="score-definition">
            <a:extLst xmlns:a="http://schemas.openxmlformats.org/drawingml/2006/main">
              <a:ext uri="{FF2B5EF4-FFF2-40B4-BE49-F238E27FC236}">
                <a16:creationId xmlns:a16="http://schemas.microsoft.com/office/drawing/2014/main" id="{AE567FB5-D6BF-404B-A69D-53327CA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CA (max 40)  +  Exam (max 60)  =  Term score (max 100)</a:t>
            </a:r>
          </a:p>
        </p:txBody>
      </p:sp>
    </p:spTree>
    <p:extLst>
      <p:ext uri="{BB962C8B-B14F-4D97-AF65-F5344CB8AC3E}">
        <p14:creationId xmlns:p14="http://schemas.microsoft.com/office/powerpoint/2010/main" val="2094494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dot">
            <a:extLst xmlns:a="http://schemas.openxmlformats.org/drawingml/2006/main">
              <a:ext uri="{FF2B5EF4-FFF2-40B4-BE49-F238E27FC236}">
                <a16:creationId xmlns:a16="http://schemas.microsoft.com/office/drawing/2014/main" id="{956E47F4-F837-4F1C-AD3B-7C2EEC4D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60BF4C9-B8A4-42C1-B983-C66883D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0881784E-9C6E-426A-9C1A-D4E5543B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A2E3B0-BE87-484F-A7E7-23E5347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D05C1D-20E0-4822-88BA-8AB8970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Promotion follows a defined academic rule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C195FD6-6BFD-42FF-82F6-351F174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The third-term report uses subject averages across the three-term session.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C4C0DF-B261-44A6-9A28-431D318E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4DF460B-3BD1-4373-AFF7-0C45A869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romotion-label-0">
            <a:extLst xmlns:a="http://schemas.openxmlformats.org/drawingml/2006/main">
              <a:ext uri="{FF2B5EF4-FFF2-40B4-BE49-F238E27FC236}">
                <a16:creationId xmlns:a16="http://schemas.microsoft.com/office/drawing/2014/main" id="{8FACA4C0-921E-42A7-890E-ECCFDD7E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MATHEMATICS</a:t>
            </a:r>
          </a:p>
        </p:txBody>
      </p:sp>
      <p:sp>
        <p:nvSpPr>
          <p:cNvPr id="10" name="promotion-detail-0">
            <a:extLst xmlns:a="http://schemas.openxmlformats.org/drawingml/2006/main">
              <a:ext uri="{FF2B5EF4-FFF2-40B4-BE49-F238E27FC236}">
                <a16:creationId xmlns:a16="http://schemas.microsoft.com/office/drawing/2014/main" id="{06D52473-77AE-491A-B732-981D198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Session average ≥ 50%</a:t>
            </a:r>
          </a:p>
        </p:txBody>
      </p:sp>
      <p:sp>
        <p:nvSpPr>
          <p:cNvPr id="11" name="promotion-rule-0">
            <a:extLst xmlns:a="http://schemas.openxmlformats.org/drawingml/2006/main">
              <a:ext uri="{FF2B5EF4-FFF2-40B4-BE49-F238E27FC236}">
                <a16:creationId xmlns:a16="http://schemas.microsoft.com/office/drawing/2014/main" id="{DEAF282F-51B6-4169-B3EC-3B7E910A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promotion-label-1">
            <a:extLst xmlns:a="http://schemas.openxmlformats.org/drawingml/2006/main">
              <a:ext uri="{FF2B5EF4-FFF2-40B4-BE49-F238E27FC236}">
                <a16:creationId xmlns:a16="http://schemas.microsoft.com/office/drawing/2014/main" id="{3642A0A7-21A0-4A02-98E6-4E06DBED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  <p:sp>
        <p:nvSpPr>
          <p:cNvPr id="13" name="promotion-detail-1">
            <a:extLst xmlns:a="http://schemas.openxmlformats.org/drawingml/2006/main">
              <a:ext uri="{FF2B5EF4-FFF2-40B4-BE49-F238E27FC236}">
                <a16:creationId xmlns:a16="http://schemas.microsoft.com/office/drawing/2014/main" id="{954B2375-F3D6-4A1E-AC47-C7482AF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623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Session average ≥ 50%</a:t>
            </a:r>
          </a:p>
        </p:txBody>
      </p:sp>
      <p:sp>
        <p:nvSpPr>
          <p:cNvPr id="14" name="promotion-rule-1">
            <a:extLst xmlns:a="http://schemas.openxmlformats.org/drawingml/2006/main">
              <a:ext uri="{FF2B5EF4-FFF2-40B4-BE49-F238E27FC236}">
                <a16:creationId xmlns:a16="http://schemas.microsoft.com/office/drawing/2014/main" id="{7135AA76-4EA4-4282-9079-8BBBC03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promotion-label-2">
            <a:extLst xmlns:a="http://schemas.openxmlformats.org/drawingml/2006/main">
              <a:ext uri="{FF2B5EF4-FFF2-40B4-BE49-F238E27FC236}">
                <a16:creationId xmlns:a16="http://schemas.microsoft.com/office/drawing/2014/main" id="{BFCEEA92-837C-46DE-AC95-CE65003E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OVERALL AVERAGE</a:t>
            </a:r>
          </a:p>
        </p:txBody>
      </p:sp>
      <p:sp>
        <p:nvSpPr>
          <p:cNvPr id="16" name="promotion-detail-2">
            <a:extLst xmlns:a="http://schemas.openxmlformats.org/drawingml/2006/main">
              <a:ext uri="{FF2B5EF4-FFF2-40B4-BE49-F238E27FC236}">
                <a16:creationId xmlns:a16="http://schemas.microsoft.com/office/drawing/2014/main" id="{834BEC9D-3672-473B-B0E8-B8B3C7EE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At least 50% across all subjects</a:t>
            </a:r>
          </a:p>
        </p:txBody>
      </p:sp>
      <p:sp>
        <p:nvSpPr>
          <p:cNvPr id="17" name="promotion-outcome">
            <a:extLst xmlns:a="http://schemas.openxmlformats.org/drawingml/2006/main">
              <a:ext uri="{FF2B5EF4-FFF2-40B4-BE49-F238E27FC236}">
                <a16:creationId xmlns:a16="http://schemas.microsoft.com/office/drawing/2014/main" id="{1278586A-16C9-4059-AA91-18C5DFB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Promoted when all three thresholds are met</a:t>
            </a:r>
          </a:p>
          <a:p xmlns:a="http://schemas.openxmlformats.org/drawingml/2006/main">
            <a: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Otherwise → verdict includes the reason</a:t>
            </a:r>
          </a:p>
        </p:txBody>
      </p:sp>
    </p:spTree>
    <p:extLst>
      <p:ext uri="{BB962C8B-B14F-4D97-AF65-F5344CB8AC3E}">
        <p14:creationId xmlns:p14="http://schemas.microsoft.com/office/powerpoint/2010/main" val="2032296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60D44638-0E0E-4113-90BB-64C010FA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6443C85-B9F0-4E21-B569-FD866C96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E29E2DA8-28FF-49AD-B79E-A1EF628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D1FFF6-1ED4-45DD-B092-C03689A7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5F3E9B-8AF4-40B6-8695-F3479710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Learning tools sit alongside school records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1DD9722-8437-40EC-9B7D-ED54F3A5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Classroom activity remains connected to the same roles, subjects and student context.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45AB1A-7704-4C20-9720-D5455FC7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AC0B11B-2089-4ECE-B328-3482921E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learning-label-0">
            <a:extLst xmlns:a="http://schemas.openxmlformats.org/drawingml/2006/main">
              <a:ext uri="{FF2B5EF4-FFF2-40B4-BE49-F238E27FC236}">
                <a16:creationId xmlns:a16="http://schemas.microsoft.com/office/drawing/2014/main" id="{4622BF5D-8CDB-43F7-A049-9B0F0873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ASSIGNMENTS</a:t>
            </a:r>
          </a:p>
        </p:txBody>
      </p:sp>
      <p:sp>
        <p:nvSpPr>
          <p:cNvPr id="10" name="learning-body-0">
            <a:extLst xmlns:a="http://schemas.openxmlformats.org/drawingml/2006/main">
              <a:ext uri="{FF2B5EF4-FFF2-40B4-BE49-F238E27FC236}">
                <a16:creationId xmlns:a16="http://schemas.microsoft.com/office/drawing/2014/main" id="{67E0C244-DA73-4518-8584-5CC00D5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Subject teachers create assignments and due dates; students and linked parents can review them.</a:t>
            </a:r>
          </a:p>
        </p:txBody>
      </p:sp>
      <p:sp>
        <p:nvSpPr>
          <p:cNvPr id="11" name="learning-rule-0">
            <a:extLst xmlns:a="http://schemas.openxmlformats.org/drawingml/2006/main">
              <a:ext uri="{FF2B5EF4-FFF2-40B4-BE49-F238E27FC236}">
                <a16:creationId xmlns:a16="http://schemas.microsoft.com/office/drawing/2014/main" id="{1C13E743-5A6C-40A2-9915-467419E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learning-label-1">
            <a:extLst xmlns:a="http://schemas.openxmlformats.org/drawingml/2006/main">
              <a:ext uri="{FF2B5EF4-FFF2-40B4-BE49-F238E27FC236}">
                <a16:creationId xmlns:a16="http://schemas.microsoft.com/office/drawing/2014/main" id="{5FEC1BAB-C79D-4FC4-A349-AA4C0011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LESSONS + QUIZZES</a:t>
            </a:r>
          </a:p>
        </p:txBody>
      </p:sp>
      <p:sp>
        <p:nvSpPr>
          <p:cNvPr id="13" name="learning-body-1">
            <a:extLst xmlns:a="http://schemas.openxmlformats.org/drawingml/2006/main">
              <a:ext uri="{FF2B5EF4-FFF2-40B4-BE49-F238E27FC236}">
                <a16:creationId xmlns:a16="http://schemas.microsoft.com/office/drawing/2014/main" id="{07B853CA-36D3-419A-AB07-BD3CF74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Teachers publish learning material and quizzes; quiz attempts are scored on the server.</a:t>
            </a:r>
          </a:p>
        </p:txBody>
      </p:sp>
      <p:sp>
        <p:nvSpPr>
          <p:cNvPr id="14" name="learning-rule-1">
            <a:extLst xmlns:a="http://schemas.openxmlformats.org/drawingml/2006/main">
              <a:ext uri="{FF2B5EF4-FFF2-40B4-BE49-F238E27FC236}">
                <a16:creationId xmlns:a16="http://schemas.microsoft.com/office/drawing/2014/main" id="{40ED373B-C61A-4A49-B37D-C30F966A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learning-label-2">
            <a:extLst xmlns:a="http://schemas.openxmlformats.org/drawingml/2006/main">
              <a:ext uri="{FF2B5EF4-FFF2-40B4-BE49-F238E27FC236}">
                <a16:creationId xmlns:a16="http://schemas.microsoft.com/office/drawing/2014/main" id="{0611E4BD-E2A0-4456-8ACB-4EE52CFA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DISCUSSIONS</a:t>
            </a:r>
          </a:p>
        </p:txBody>
      </p:sp>
      <p:sp>
        <p:nvSpPr>
          <p:cNvPr id="16" name="learning-body-2">
            <a:extLst xmlns:a="http://schemas.openxmlformats.org/drawingml/2006/main">
              <a:ext uri="{FF2B5EF4-FFF2-40B4-BE49-F238E27FC236}">
                <a16:creationId xmlns:a16="http://schemas.microsoft.com/office/drawing/2014/main" id="{5DD1DE7D-B1A7-4CF2-B887-C1A8F356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Students can participate in subject discussions alongside lessons and assessments.</a:t>
            </a:r>
          </a:p>
        </p:txBody>
      </p:sp>
      <p:sp>
        <p:nvSpPr>
          <p:cNvPr id="17" name="learning-rule-2">
            <a:extLst xmlns:a="http://schemas.openxmlformats.org/drawingml/2006/main">
              <a:ext uri="{FF2B5EF4-FFF2-40B4-BE49-F238E27FC236}">
                <a16:creationId xmlns:a16="http://schemas.microsoft.com/office/drawing/2014/main" id="{82D584D4-A724-4386-A623-DD817EF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learning-label-3">
            <a:extLst xmlns:a="http://schemas.openxmlformats.org/drawingml/2006/main">
              <a:ext uri="{FF2B5EF4-FFF2-40B4-BE49-F238E27FC236}">
                <a16:creationId xmlns:a16="http://schemas.microsoft.com/office/drawing/2014/main" id="{3EA036A2-91A4-4A57-94F9-0C66858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TIMETABLES</a:t>
            </a:r>
          </a:p>
        </p:txBody>
      </p:sp>
      <p:sp>
        <p:nvSpPr>
          <p:cNvPr id="19" name="learning-body-3">
            <a:extLst xmlns:a="http://schemas.openxmlformats.org/drawingml/2006/main">
              <a:ext uri="{FF2B5EF4-FFF2-40B4-BE49-F238E27FC236}">
                <a16:creationId xmlns:a16="http://schemas.microsoft.com/office/drawing/2014/main" id="{2886ED6D-E295-49DF-A919-C9E45C7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Teachers, students and parents can check schedules for the relevant class or linked child.</a:t>
            </a:r>
          </a:p>
        </p:txBody>
      </p:sp>
    </p:spTree>
    <p:extLst>
      <p:ext uri="{BB962C8B-B14F-4D97-AF65-F5344CB8AC3E}">
        <p14:creationId xmlns:p14="http://schemas.microsoft.com/office/powerpoint/2010/main" val="1184066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4231FB18-3178-42DF-A033-85BCB49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31209C8-88BA-429E-A31F-3B433BAB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8BCC3400-234A-4E2D-A74F-A21762EC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F3527A-D1AE-4D55-80EB-9B71A7FB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593C49-1AE4-4969-B72D-5EE12D22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Start with the school’s own rules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F371762-A177-4919-BD75-3346B103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Suggested pilot: walk one class through a complete term workflow before expanding.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EB55ED1-E683-4D21-AA9D-CA70ED57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B7D433E-A5DF-44FC-99A6-665DCB27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ilot-phase-0">
            <a:extLst xmlns:a="http://schemas.openxmlformats.org/drawingml/2006/main">
              <a:ext uri="{FF2B5EF4-FFF2-40B4-BE49-F238E27FC236}">
                <a16:creationId xmlns:a16="http://schemas.microsoft.com/office/drawing/2014/main" id="{53272406-2FB3-418F-B323-707D019E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  SET UP</a:t>
            </a:r>
          </a:p>
        </p:txBody>
      </p:sp>
      <p:sp>
        <p:nvSpPr>
          <p:cNvPr id="10" name="pilot-description-0">
            <a:extLst xmlns:a="http://schemas.openxmlformats.org/drawingml/2006/main">
              <a:ext uri="{FF2B5EF4-FFF2-40B4-BE49-F238E27FC236}">
                <a16:creationId xmlns:a16="http://schemas.microsoft.com/office/drawing/2014/main" id="{CD0FEC23-8FE5-4908-81ED-2AB15D94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Confirm session, term dates, classes, subjects and grading rules.</a:t>
            </a:r>
          </a:p>
        </p:txBody>
      </p:sp>
      <p:sp>
        <p:nvSpPr>
          <p:cNvPr id="11" name="pilot-rule-0">
            <a:extLst xmlns:a="http://schemas.openxmlformats.org/drawingml/2006/main">
              <a:ext uri="{FF2B5EF4-FFF2-40B4-BE49-F238E27FC236}">
                <a16:creationId xmlns:a16="http://schemas.microsoft.com/office/drawing/2014/main" id="{C47DE60E-B9A4-4F49-AD27-A16DA04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pilot-phase-1">
            <a:extLst xmlns:a="http://schemas.openxmlformats.org/drawingml/2006/main">
              <a:ext uri="{FF2B5EF4-FFF2-40B4-BE49-F238E27FC236}">
                <a16:creationId xmlns:a16="http://schemas.microsoft.com/office/drawing/2014/main" id="{3419C40C-F189-4D10-8A4A-9519E27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  CONNECT</a:t>
            </a:r>
          </a:p>
        </p:txBody>
      </p:sp>
      <p:sp>
        <p:nvSpPr>
          <p:cNvPr id="13" name="pilot-description-1">
            <a:extLst xmlns:a="http://schemas.openxmlformats.org/drawingml/2006/main">
              <a:ext uri="{FF2B5EF4-FFF2-40B4-BE49-F238E27FC236}">
                <a16:creationId xmlns:a16="http://schemas.microsoft.com/office/drawing/2014/main" id="{DCEC3856-3F0B-4766-839A-37A0AE32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Check student records, teacher assignments and parent–student links.</a:t>
            </a:r>
          </a:p>
        </p:txBody>
      </p:sp>
      <p:sp>
        <p:nvSpPr>
          <p:cNvPr id="14" name="pilot-rule-1">
            <a:extLst xmlns:a="http://schemas.openxmlformats.org/drawingml/2006/main">
              <a:ext uri="{FF2B5EF4-FFF2-40B4-BE49-F238E27FC236}">
                <a16:creationId xmlns:a16="http://schemas.microsoft.com/office/drawing/2014/main" id="{0CE49D8F-399E-4C8C-9353-7C9096EE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pilot-phase-2">
            <a:extLst xmlns:a="http://schemas.openxmlformats.org/drawingml/2006/main">
              <a:ext uri="{FF2B5EF4-FFF2-40B4-BE49-F238E27FC236}">
                <a16:creationId xmlns:a16="http://schemas.microsoft.com/office/drawing/2014/main" id="{71052A79-A0B6-402D-B4EC-A83B74F0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  RUN</a:t>
            </a:r>
          </a:p>
        </p:txBody>
      </p:sp>
      <p:sp>
        <p:nvSpPr>
          <p:cNvPr id="16" name="pilot-description-2">
            <a:extLst xmlns:a="http://schemas.openxmlformats.org/drawingml/2006/main">
              <a:ext uri="{FF2B5EF4-FFF2-40B4-BE49-F238E27FC236}">
                <a16:creationId xmlns:a16="http://schemas.microsoft.com/office/drawing/2014/main" id="{86B8EB88-1A85-4E4E-BD96-6F8DA9E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Use attendance, grade entry, assignments and learning tools with the pilot class.</a:t>
            </a:r>
          </a:p>
        </p:txBody>
      </p:sp>
      <p:sp>
        <p:nvSpPr>
          <p:cNvPr id="17" name="pilot-rule-2">
            <a:extLst xmlns:a="http://schemas.openxmlformats.org/drawingml/2006/main">
              <a:ext uri="{FF2B5EF4-FFF2-40B4-BE49-F238E27FC236}">
                <a16:creationId xmlns:a16="http://schemas.microsoft.com/office/drawing/2014/main" id="{C793CD1E-ADB6-43CF-80F1-116457FB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pilot-phase-3">
            <a:extLst xmlns:a="http://schemas.openxmlformats.org/drawingml/2006/main">
              <a:ext uri="{FF2B5EF4-FFF2-40B4-BE49-F238E27FC236}">
                <a16:creationId xmlns:a16="http://schemas.microsoft.com/office/drawing/2014/main" id="{F1D58E76-8343-4303-BCA5-DBDDC99A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04  REVIEW</a:t>
            </a:r>
          </a:p>
        </p:txBody>
      </p:sp>
      <p:sp>
        <p:nvSpPr>
          <p:cNvPr id="19" name="pilot-description-3">
            <a:extLst xmlns:a="http://schemas.openxmlformats.org/drawingml/2006/main">
              <a:ext uri="{FF2B5EF4-FFF2-40B4-BE49-F238E27FC236}">
                <a16:creationId xmlns:a16="http://schemas.microsoft.com/office/drawing/2014/main" id="{121B1487-BCA8-4F87-8620-2E6CA5F6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006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Check report cards and year-end promotion outcomes against school policy.</a:t>
            </a:r>
          </a:p>
        </p:txBody>
      </p:sp>
    </p:spTree>
    <p:extLst>
      <p:ext uri="{BB962C8B-B14F-4D97-AF65-F5344CB8AC3E}">
        <p14:creationId xmlns:p14="http://schemas.microsoft.com/office/powerpoint/2010/main" val="1600899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2026-10-13T22:49:43.4230000Z</dcterms:created>
  <dcterms:modified xsi:type="dcterms:W3CDTF">2026-10-13T22:49:43.4230000Z</dcterms:modified>
</coreProperties>
</file>