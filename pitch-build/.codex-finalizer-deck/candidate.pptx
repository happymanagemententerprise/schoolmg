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688d52df514b7e" /><Relationship Type="http://schemas.openxmlformats.org/officeDocument/2006/relationships/extended-properties" Target="/docProps/app.xml" Id="R2deee2b77a974475" /><Relationship Type="http://schemas.openxmlformats.org/officeDocument/2006/relationships/officeDocument" Target="/ppt/presentation.xml" Id="R7868bbf6500f41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7db4c3c76249b0"/>
  </p:sldMasterIdLst>
  <p:notesMasterIdLst>
    <p:notesMasterId xmlns:r="http://schemas.openxmlformats.org/officeDocument/2006/relationships" r:id="R5633a8d19263440b"/>
  </p:notesMasterIdLst>
  <p:sldIdLst>
    <p:sldId xmlns:r="http://schemas.openxmlformats.org/officeDocument/2006/relationships" id="256" r:id="Rb04f1734a25b4aba"/>
    <p:sldId xmlns:r="http://schemas.openxmlformats.org/officeDocument/2006/relationships" id="257" r:id="R422808922fc94771"/>
    <p:sldId xmlns:r="http://schemas.openxmlformats.org/officeDocument/2006/relationships" id="258" r:id="R5ed3aabb8cc14280"/>
    <p:sldId xmlns:r="http://schemas.openxmlformats.org/officeDocument/2006/relationships" id="259" r:id="R5c2577ea88864a09"/>
    <p:sldId xmlns:r="http://schemas.openxmlformats.org/officeDocument/2006/relationships" id="260" r:id="Ra1cd01bbaebb4000"/>
    <p:sldId xmlns:r="http://schemas.openxmlformats.org/officeDocument/2006/relationships" id="261" r:id="R5a0a45ecc0e14ca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390b653b3a4922" /><Relationship Type="http://schemas.openxmlformats.org/officeDocument/2006/relationships/slideMaster" Target="/ppt/slideMasters/slideMaster1.xml" Id="Rb47db4c3c76249b0" /><Relationship Type="http://schemas.openxmlformats.org/officeDocument/2006/relationships/notesMaster" Target="/ppt/notesMasters/notesMaster1.xml" Id="R5633a8d19263440b" /><Relationship Type="http://schemas.openxmlformats.org/officeDocument/2006/relationships/presProps" Target="/ppt/presProps.xml" Id="R39f86e1f1a7b4b6a" /><Relationship Type="http://schemas.openxmlformats.org/officeDocument/2006/relationships/tableStyles" Target="/ppt/tableStyles.xml" Id="R97cf8cb27f3d49ed" /><Relationship Type="http://schemas.openxmlformats.org/officeDocument/2006/relationships/slide" Target="/ppt/slides/slide1.xml" Id="Rb04f1734a25b4aba" /><Relationship Type="http://schemas.openxmlformats.org/officeDocument/2006/relationships/slide" Target="/ppt/slides/slide2.xml" Id="R422808922fc94771" /><Relationship Type="http://schemas.openxmlformats.org/officeDocument/2006/relationships/slide" Target="/ppt/slides/slide3.xml" Id="R5ed3aabb8cc14280" /><Relationship Type="http://schemas.openxmlformats.org/officeDocument/2006/relationships/slide" Target="/ppt/slides/slide4.xml" Id="R5c2577ea88864a09" /><Relationship Type="http://schemas.openxmlformats.org/officeDocument/2006/relationships/slide" Target="/ppt/slides/slide5.xml" Id="Ra1cd01bbaebb4000" /><Relationship Type="http://schemas.openxmlformats.org/officeDocument/2006/relationships/slide" Target="/ppt/slides/slide6.xml" Id="R5a0a45ecc0e14c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d134487f7748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e208135d424f86" /><Relationship Type="http://schemas.openxmlformats.org/officeDocument/2006/relationships/notesMaster" Target="/ppt/notesMasters/notesMaster1.xml" Id="Rff4474a24f944b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e3b36cc2294aa8" /><Relationship Type="http://schemas.openxmlformats.org/officeDocument/2006/relationships/notesMaster" Target="/ppt/notesMasters/notesMaster1.xml" Id="Ra45772b119ed40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951abd44d643d2" /><Relationship Type="http://schemas.openxmlformats.org/officeDocument/2006/relationships/notesMaster" Target="/ppt/notesMasters/notesMaster1.xml" Id="R60774fc1b13a4b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dfc18b6d2b493c" /><Relationship Type="http://schemas.openxmlformats.org/officeDocument/2006/relationships/notesMaster" Target="/ppt/notesMasters/notesMaster1.xml" Id="R7b3138971b3c4c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20bcea585d4bd0" /><Relationship Type="http://schemas.openxmlformats.org/officeDocument/2006/relationships/notesMaster" Target="/ppt/notesMasters/notesMaster1.xml" Id="Rfbac91a484b341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1a1d537c984cfa" /><Relationship Type="http://schemas.openxmlformats.org/officeDocument/2006/relationships/notesMaster" Target="/ppt/notesMasters/notesMaster1.xml" Id="Rd2e274aeb4d74e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Schooldb project analysis in this conversation. The attached sales-discovery deck is an unfilled template and contains no account-specific findings or quantified impact. No outcome or savings metrics were supplied, so the slide makes no quantified impact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Schooldb project analysis in this conversation. The attached sales-discovery deck is an unfilled template and contains no account-specific findings or quantified impact. Role descriptions summarize the existing admin, teacher, student and parent capabilities. The project has no HOD role.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Schooldb project analysis in this conversation. The attached sales-discovery deck is an unfilled template and contains no account-specific findings or quantified impact. The 40-point continuous assessment and 60-point exam maxima come from the supplied project analysis.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Schooldb project analysis in this conversation. The attached sales-discovery deck is an unfilled template and contains no account-specific findings or quantified impact. Corrected promotion rule per the user: promotion requires an overall average of at least 50% across all subjects, not separate thresholds for Mathematics, English or a count of other subjects.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Schooldb project analysis in this conversation. The attached sales-discovery deck is an unfilled template and contains no account-specific findings or quantified impact. Parent visibility is limited to children linked through the parent–student relationship.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Schooldb project analysis in this conversation. The attached sales-discovery deck is an unfilled template and contains no account-specific findings or quantified impact. This slide proposes an initial rollout sequence; pilot length, class selection and success measures should be agreed with the school.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e97b4b1b724e8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f998cfa17247f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d891c1d0dd4db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4d961a987341b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90b061030a4e3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fd8fe040904d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AB80864-93D8-4BDD-A247-99F24D76BC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9B0099B-1008-4C88-AC2D-585D0D19C11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F0A980B-2658-49BD-9BDD-2E4DC7204F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7B6F0D-C4DE-4C63-85A9-A5AF41764A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FDB1991-1085-4270-A310-934AD96186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6BCA906-DB96-4A2D-A26E-18DCBC7B70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819DC3-3965-42FB-B2CE-BCE46241B8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C7E7744-25BF-46A9-9F68-BF01FD78651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29A5283-B662-495F-9E89-BE27EE0A74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ACCB194-64BE-415C-A2A1-45CAF596F5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2d1bdddff24438" /><Relationship Type="http://schemas.openxmlformats.org/officeDocument/2006/relationships/slideLayout" Target="/ppt/slideLayouts/slideLayout1.xml" Id="Rec47384635594bb3" /><Relationship Type="http://schemas.openxmlformats.org/officeDocument/2006/relationships/slideLayout" Target="/ppt/slideLayouts/slideLayout2.xml" Id="Rf868178cbdd64ff0" /><Relationship Type="http://schemas.openxmlformats.org/officeDocument/2006/relationships/slideLayout" Target="/ppt/slideLayouts/slideLayout3.xml" Id="R26e511b0ee4d45a6" /><Relationship Type="http://schemas.openxmlformats.org/officeDocument/2006/relationships/slideLayout" Target="/ppt/slideLayouts/slideLayout4.xml" Id="R4d3abd2cbf4740d6" /><Relationship Type="http://schemas.openxmlformats.org/officeDocument/2006/relationships/slideLayout" Target="/ppt/slideLayouts/slideLayout5.xml" Id="R850f1f188ae94b8a" /><Relationship Type="http://schemas.openxmlformats.org/officeDocument/2006/relationships/slideLayout" Target="/ppt/slideLayouts/slideLayout6.xml" Id="R48ced53a0e764f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47384635594bb3"/>
    <p:sldLayoutId xmlns:r="http://schemas.openxmlformats.org/officeDocument/2006/relationships" id="2147483650" r:id="Rf868178cbdd64ff0"/>
    <p:sldLayoutId xmlns:r="http://schemas.openxmlformats.org/officeDocument/2006/relationships" id="2147483651" r:id="R26e511b0ee4d45a6"/>
    <p:sldLayoutId xmlns:r="http://schemas.openxmlformats.org/officeDocument/2006/relationships" id="2147483652" r:id="R4d3abd2cbf4740d6"/>
    <p:sldLayoutId xmlns:r="http://schemas.openxmlformats.org/officeDocument/2006/relationships" id="2147483653" r:id="R850f1f188ae94b8a"/>
    <p:sldLayoutId xmlns:r="http://schemas.openxmlformats.org/officeDocument/2006/relationships" id="2147483654" r:id="R48ced53a0e764f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7366d85b1044d7" /><Relationship Type="http://schemas.openxmlformats.org/officeDocument/2006/relationships/notesSlide" Target="/ppt/notesSlides/notesSlide1.xml" Id="Re7db012e32a242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4ce19389af45c6" /><Relationship Type="http://schemas.openxmlformats.org/officeDocument/2006/relationships/notesSlide" Target="/ppt/notesSlides/notesSlide2.xml" Id="R302d925a1ead40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dbcf43b23e4ee7" /><Relationship Type="http://schemas.openxmlformats.org/officeDocument/2006/relationships/notesSlide" Target="/ppt/notesSlides/notesSlide3.xml" Id="R87c965a737614a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da8790c9ed4307" /><Relationship Type="http://schemas.openxmlformats.org/officeDocument/2006/relationships/notesSlide" Target="/ppt/notesSlides/notesSlide4.xml" Id="Ra314356048924b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6a29b8fbc3457d" /><Relationship Type="http://schemas.openxmlformats.org/officeDocument/2006/relationships/notesSlide" Target="/ppt/notesSlides/notesSlide5.xml" Id="Re2910a9e57084a9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9da2d71407409c" /><Relationship Type="http://schemas.openxmlformats.org/officeDocument/2006/relationships/notesSlide" Target="/ppt/notesSlides/notesSlide6.xml" Id="Rca6abd8793ab4c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E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brand-dot">
            <a:extLst xmlns:a="http://schemas.openxmlformats.org/drawingml/2006/main">
              <a:ext uri="{FF2B5EF4-FFF2-40B4-BE49-F238E27FC236}">
                <a16:creationId xmlns:a16="http://schemas.microsoft.com/office/drawing/2014/main" id="{844B6E3B-9F52-4D29-BA7B-CE389425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2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C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F0B58929-2B16-43B3-930B-83EB5032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242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B6B72"/>
                </a:solidFill>
                <a:latin typeface="Aptos"/>
                <a:ea typeface="Aptos"/>
                <a:cs typeface="Aptos"/>
              </a:rPr>
              <a:t>SCHOOLDB</a:t>
            </a:r>
          </a:p>
        </p:txBody>
      </p:sp>
      <p:sp>
        <p:nvSpPr>
          <p:cNvPr id="3" name="category">
            <a:extLst xmlns:a="http://schemas.openxmlformats.org/drawingml/2006/main">
              <a:ext uri="{FF2B5EF4-FFF2-40B4-BE49-F238E27FC236}">
                <a16:creationId xmlns:a16="http://schemas.microsoft.com/office/drawing/2014/main" id="{79698C1E-5442-4706-88F4-DB5C7C05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524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SECONDARY SCHOOL MANAGEMENT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2585EE8-7D2A-42AA-9285-6389D034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8382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rPr>
              <a:t>One connected system</a:t>
            </a:r>
          </a:p>
          <a:p xmlns:a="http://schemas.openxmlformats.org/drawingml/2006/main">
            <a:pPr algn="l">
              <a:defRPr sz="37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rPr>
              <a:t>for the school year</a:t>
            </a:r>
          </a:p>
        </p:txBody>
      </p:sp>
      <p:sp>
        <p:nvSpPr>
          <p:cNvPr id="5" name="value-proposition">
            <a:extLst xmlns:a="http://schemas.openxmlformats.org/drawingml/2006/main">
              <a:ext uri="{FF2B5EF4-FFF2-40B4-BE49-F238E27FC236}">
                <a16:creationId xmlns:a16="http://schemas.microsoft.com/office/drawing/2014/main" id="{F10E8F07-050A-4D68-A474-532C0770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57425"/>
            <a:ext cx="7762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Schooldb brings academic records, classroom learning and family access into one workflow for Nigerian secondary schools.</a:t>
            </a:r>
          </a:p>
        </p:txBody>
      </p:sp>
      <p:sp>
        <p:nvSpPr>
          <p:cNvPr id="6" name="school-calendar-context">
            <a:extLst xmlns:a="http://schemas.openxmlformats.org/drawingml/2006/main">
              <a:ext uri="{FF2B5EF4-FFF2-40B4-BE49-F238E27FC236}">
                <a16:creationId xmlns:a16="http://schemas.microsoft.com/office/drawing/2014/main" id="{EE0F5AF7-A6E2-4E47-8A0F-20F14FAA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19350"/>
            <a:ext cx="2419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BUILT AROUND</a:t>
            </a:r>
          </a:p>
          <a:p xmlns:a="http://schemas.openxmlformats.org/drawingml/2006/main">
            <a: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NIGERIA’S 3-TERM YEAR</a:t>
            </a:r>
          </a:p>
        </p:txBody>
      </p:sp>
      <p:sp>
        <p:nvSpPr>
          <p:cNvPr id="7" name="academic-workflow-line">
            <a:extLst xmlns:a="http://schemas.openxmlformats.org/drawingml/2006/main">
              <a:ext uri="{FF2B5EF4-FFF2-40B4-BE49-F238E27FC236}">
                <a16:creationId xmlns:a16="http://schemas.microsoft.com/office/drawing/2014/main" id="{A97F6E6E-45D8-4874-BED8-B7A7B6BF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849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CD5DA"/>
            </a:solidFill>
            <a:prstDash val="solid"/>
          </a:ln>
        </p:spPr>
      </p:sp>
      <p:sp>
        <p:nvSpPr>
          <p:cNvPr id="8" name="workflow-step-1">
            <a:extLst xmlns:a="http://schemas.openxmlformats.org/drawingml/2006/main">
              <a:ext uri="{FF2B5EF4-FFF2-40B4-BE49-F238E27FC236}">
                <a16:creationId xmlns:a16="http://schemas.microsoft.com/office/drawing/2014/main" id="{0ABE9252-9751-47EA-AFBA-B46AA897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48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C88"/>
          </a:solidFill>
          <a:ln xmlns:a="http://schemas.openxmlformats.org/drawingml/2006/main" w="28575">
            <a:solidFill>
              <a:srgbClr val="EEF5F7"/>
            </a:solidFill>
            <a:prstDash val="solid"/>
          </a:ln>
        </p:spPr>
      </p:sp>
      <p:sp>
        <p:nvSpPr>
          <p:cNvPr id="9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EF192D9D-2EAD-4452-BB0C-B838458F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432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D89CC4B5-2956-4082-9CF6-600BEB11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576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rPr>
              <a:t>Record</a:t>
            </a:r>
          </a:p>
        </p:txBody>
      </p:sp>
      <p:sp>
        <p:nvSpPr>
          <p:cNvPr id="11" name="step-1-body">
            <a:extLst xmlns:a="http://schemas.openxmlformats.org/drawingml/2006/main">
              <a:ext uri="{FF2B5EF4-FFF2-40B4-BE49-F238E27FC236}">
                <a16:creationId xmlns:a16="http://schemas.microsoft.com/office/drawing/2014/main" id="{1B076EFD-E7E7-4D27-9920-16803F21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67225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Daily attendance</a:t>
            </a:r>
          </a:p>
          <a:p xmlns:a="http://schemas.openxmlformats.org/drawingml/2006/main">
            <a:pPr algn="l">
              <a:defRPr sz="157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CA and exam grades</a:t>
            </a:r>
          </a:p>
        </p:txBody>
      </p:sp>
      <p:sp>
        <p:nvSpPr>
          <p:cNvPr id="12" name="workflow-step-2">
            <a:extLst xmlns:a="http://schemas.openxmlformats.org/drawingml/2006/main">
              <a:ext uri="{FF2B5EF4-FFF2-40B4-BE49-F238E27FC236}">
                <a16:creationId xmlns:a16="http://schemas.microsoft.com/office/drawing/2014/main" id="{4D948EE5-4BFD-485F-9CC9-4938C33E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48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C88"/>
          </a:solidFill>
          <a:ln xmlns:a="http://schemas.openxmlformats.org/drawingml/2006/main" w="28575">
            <a:solidFill>
              <a:srgbClr val="EEF5F7"/>
            </a:solidFill>
            <a:prstDash val="solid"/>
          </a:ln>
        </p:spPr>
      </p:sp>
      <p:sp>
        <p:nvSpPr>
          <p:cNvPr id="13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23DB10B5-B0EE-4CB6-AEA8-EA928C51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432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0D96325D-6E7F-43C7-830B-3C104B4A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576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rPr>
              <a:t>Teach</a:t>
            </a:r>
          </a:p>
        </p:txBody>
      </p:sp>
      <p:sp>
        <p:nvSpPr>
          <p:cNvPr id="15" name="step-2-body">
            <a:extLst xmlns:a="http://schemas.openxmlformats.org/drawingml/2006/main">
              <a:ext uri="{FF2B5EF4-FFF2-40B4-BE49-F238E27FC236}">
                <a16:creationId xmlns:a16="http://schemas.microsoft.com/office/drawing/2014/main" id="{01F56AFE-9D69-41A0-9B18-D8735E9F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467225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Assignments, lessons,</a:t>
            </a:r>
          </a:p>
          <a:p xmlns:a="http://schemas.openxmlformats.org/drawingml/2006/main">
            <a:pPr algn="l">
              <a:defRPr sz="157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quizzes and discussions</a:t>
            </a:r>
          </a:p>
        </p:txBody>
      </p:sp>
      <p:sp>
        <p:nvSpPr>
          <p:cNvPr id="16" name="workflow-step-3">
            <a:extLst xmlns:a="http://schemas.openxmlformats.org/drawingml/2006/main">
              <a:ext uri="{FF2B5EF4-FFF2-40B4-BE49-F238E27FC236}">
                <a16:creationId xmlns:a16="http://schemas.microsoft.com/office/drawing/2014/main" id="{D99990E4-2C1D-4D67-B813-059CC29E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48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C88"/>
          </a:solidFill>
          <a:ln xmlns:a="http://schemas.openxmlformats.org/drawingml/2006/main" w="28575">
            <a:solidFill>
              <a:srgbClr val="EEF5F7"/>
            </a:solidFill>
            <a:prstDash val="solid"/>
          </a:ln>
        </p:spPr>
      </p:sp>
      <p:sp>
        <p:nvSpPr>
          <p:cNvPr id="17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31333074-FDE3-4ADE-A88B-E31761AA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432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CF9D400B-285D-46D6-880E-18044255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576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rPr>
              <a:t>Review</a:t>
            </a:r>
          </a:p>
        </p:txBody>
      </p:sp>
      <p:sp>
        <p:nvSpPr>
          <p:cNvPr id="19" name="step-3-body">
            <a:extLst xmlns:a="http://schemas.openxmlformats.org/drawingml/2006/main">
              <a:ext uri="{FF2B5EF4-FFF2-40B4-BE49-F238E27FC236}">
                <a16:creationId xmlns:a16="http://schemas.microsoft.com/office/drawing/2014/main" id="{A029B2D6-38E4-47C3-AD73-F4047E78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67225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Term reports, analytics</a:t>
            </a:r>
          </a:p>
          <a:p xmlns:a="http://schemas.openxmlformats.org/drawingml/2006/main">
            <a:pPr algn="l">
              <a:defRPr sz="157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and teacher remarks</a:t>
            </a:r>
          </a:p>
        </p:txBody>
      </p:sp>
      <p:sp>
        <p:nvSpPr>
          <p:cNvPr id="20" name="workflow-step-4">
            <a:extLst xmlns:a="http://schemas.openxmlformats.org/drawingml/2006/main">
              <a:ext uri="{FF2B5EF4-FFF2-40B4-BE49-F238E27FC236}">
                <a16:creationId xmlns:a16="http://schemas.microsoft.com/office/drawing/2014/main" id="{C84A81E3-78D1-4719-B15C-152CA178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48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C88"/>
          </a:solidFill>
          <a:ln xmlns:a="http://schemas.openxmlformats.org/drawingml/2006/main" w="28575">
            <a:solidFill>
              <a:srgbClr val="EEF5F7"/>
            </a:solidFill>
            <a:prstDash val="solid"/>
          </a:ln>
        </p:spPr>
      </p:sp>
      <p:sp>
        <p:nvSpPr>
          <p:cNvPr id="21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0CA4D637-6F40-4F23-9C25-6D6C8CD9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432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step-4-title">
            <a:extLst xmlns:a="http://schemas.openxmlformats.org/drawingml/2006/main">
              <a:ext uri="{FF2B5EF4-FFF2-40B4-BE49-F238E27FC236}">
                <a16:creationId xmlns:a16="http://schemas.microsoft.com/office/drawing/2014/main" id="{86B42A2D-D497-4B14-B713-7E6B8C0B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0576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rPr>
              <a:t>Progress</a:t>
            </a:r>
          </a:p>
        </p:txBody>
      </p:sp>
      <p:sp>
        <p:nvSpPr>
          <p:cNvPr id="23" name="step-4-body">
            <a:extLst xmlns:a="http://schemas.openxmlformats.org/drawingml/2006/main">
              <a:ext uri="{FF2B5EF4-FFF2-40B4-BE49-F238E27FC236}">
                <a16:creationId xmlns:a16="http://schemas.microsoft.com/office/drawing/2014/main" id="{2285B8DE-CACF-4584-A5D0-AF87FCED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467225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Promotion decisions</a:t>
            </a:r>
          </a:p>
          <a:p xmlns:a="http://schemas.openxmlformats.org/drawingml/2006/main">
            <a:pPr algn="l">
              <a:defRPr sz="157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and family visibility</a:t>
            </a:r>
          </a:p>
        </p:txBody>
      </p:sp>
      <p:sp>
        <p:nvSpPr>
          <p:cNvPr id="24" name="audience-rule">
            <a:extLst xmlns:a="http://schemas.openxmlformats.org/drawingml/2006/main">
              <a:ext uri="{FF2B5EF4-FFF2-40B4-BE49-F238E27FC236}">
                <a16:creationId xmlns:a16="http://schemas.microsoft.com/office/drawing/2014/main" id="{FBA90DDE-97E9-472B-8544-A039D761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5DA"/>
            </a:solidFill>
            <a:prstDash val="solid"/>
          </a:ln>
        </p:spPr>
      </p:sp>
      <p:sp>
        <p:nvSpPr>
          <p:cNvPr id="25" name="audiences">
            <a:extLst xmlns:a="http://schemas.openxmlformats.org/drawingml/2006/main">
              <a:ext uri="{FF2B5EF4-FFF2-40B4-BE49-F238E27FC236}">
                <a16:creationId xmlns:a16="http://schemas.microsoft.com/office/drawing/2014/main" id="{D79BB3BF-7CCC-4B99-9D13-03C04FF8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055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One shared school record for administrators, teachers, students and parents.</a:t>
            </a:r>
          </a:p>
        </p:txBody>
      </p:sp>
    </p:spTree>
    <p:extLst>
      <p:ext uri="{BB962C8B-B14F-4D97-AF65-F5344CB8AC3E}">
        <p14:creationId xmlns:p14="http://schemas.microsoft.com/office/powerpoint/2010/main" val="16924428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E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brand-dot">
            <a:extLst xmlns:a="http://schemas.openxmlformats.org/drawingml/2006/main">
              <a:ext uri="{FF2B5EF4-FFF2-40B4-BE49-F238E27FC236}">
                <a16:creationId xmlns:a16="http://schemas.microsoft.com/office/drawing/2014/main" id="{F21518CA-27D2-4191-ADDA-A2160304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C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D8EA2418-B1B1-4092-9F97-3E534B1B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B6B72"/>
                </a:solidFill>
                <a:latin typeface="Aptos"/>
                <a:ea typeface="Aptos"/>
                <a:cs typeface="Aptos"/>
              </a:rPr>
              <a:t>SCHOOLDB</a:t>
            </a:r>
          </a:p>
        </p:txBody>
      </p:sp>
      <p:sp>
        <p:nvSpPr>
          <p:cNvPr id="3" name="category">
            <a:extLst xmlns:a="http://schemas.openxmlformats.org/drawingml/2006/main">
              <a:ext uri="{FF2B5EF4-FFF2-40B4-BE49-F238E27FC236}">
                <a16:creationId xmlns:a16="http://schemas.microsoft.com/office/drawing/2014/main" id="{BBA30DE7-EAD9-435C-B0C4-00C25FBB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524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SECONDARY SCHOOL MANAGEMENT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BE26D11-05DC-4AA7-AD18-09066665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1949BA3-3424-4223-8506-45FD326A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rPr>
              <a:t>Each role sees the work they own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550882CF-98CB-45A6-97E6-5D363204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One student record supports school administration, classroom work and family visibility.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31CF597-72C6-42E8-8FB7-D86D3941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5DA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CE6706B1-989D-4F5E-A839-79164470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SCHOOLDB  ·  NIGERIAN SECONDARY SCHOOLS</a:t>
            </a:r>
          </a:p>
        </p:txBody>
      </p:sp>
      <p:sp>
        <p:nvSpPr>
          <p:cNvPr id="9" name="role-1">
            <a:extLst xmlns:a="http://schemas.openxmlformats.org/drawingml/2006/main">
              <a:ext uri="{FF2B5EF4-FFF2-40B4-BE49-F238E27FC236}">
                <a16:creationId xmlns:a16="http://schemas.microsoft.com/office/drawing/2014/main" id="{FABEFFE1-CC5C-459A-894B-83131B5D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ADMINISTRATOR</a:t>
            </a:r>
          </a:p>
        </p:txBody>
      </p:sp>
      <p:sp>
        <p:nvSpPr>
          <p:cNvPr id="10" name="role-description-1">
            <a:extLst xmlns:a="http://schemas.openxmlformats.org/drawingml/2006/main">
              <a:ext uri="{FF2B5EF4-FFF2-40B4-BE49-F238E27FC236}">
                <a16:creationId xmlns:a16="http://schemas.microsoft.com/office/drawing/2014/main" id="{7A35DC47-0499-452C-8523-4061BF7D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95525"/>
            <a:ext cx="800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27"/>
                </a:solidFill>
                <a:latin typeface="Aptos"/>
                <a:ea typeface="Aptos"/>
                <a:cs typeface="Aptos"/>
              </a:rPr>
              <a:t>Set sessions and terms; manage users, classes, subjects and teacher assignments; review school reports, analytics and timetables.</a:t>
            </a:r>
          </a:p>
        </p:txBody>
      </p:sp>
      <p:sp>
        <p:nvSpPr>
          <p:cNvPr id="11" name="role-rule-1">
            <a:extLst xmlns:a="http://schemas.openxmlformats.org/drawingml/2006/main">
              <a:ext uri="{FF2B5EF4-FFF2-40B4-BE49-F238E27FC236}">
                <a16:creationId xmlns:a16="http://schemas.microsoft.com/office/drawing/2014/main" id="{2960C6CB-24BB-4D66-B66A-41F458DA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1070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5DA"/>
            </a:solidFill>
            <a:prstDash val="solid"/>
          </a:ln>
        </p:spPr>
      </p:sp>
      <p:sp>
        <p:nvSpPr>
          <p:cNvPr id="12" name="role-2">
            <a:extLst xmlns:a="http://schemas.openxmlformats.org/drawingml/2006/main">
              <a:ext uri="{FF2B5EF4-FFF2-40B4-BE49-F238E27FC236}">
                <a16:creationId xmlns:a16="http://schemas.microsoft.com/office/drawing/2014/main" id="{6F97D93C-035A-4716-AEBF-5C32A738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CLASS TEACHER</a:t>
            </a:r>
          </a:p>
        </p:txBody>
      </p:sp>
      <p:sp>
        <p:nvSpPr>
          <p:cNvPr id="13" name="role-description-2">
            <a:extLst xmlns:a="http://schemas.openxmlformats.org/drawingml/2006/main">
              <a:ext uri="{FF2B5EF4-FFF2-40B4-BE49-F238E27FC236}">
                <a16:creationId xmlns:a16="http://schemas.microsoft.com/office/drawing/2014/main" id="{FD30377B-E10E-48FA-A9BD-BAD175C9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09925"/>
            <a:ext cx="800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27"/>
                </a:solidFill>
                <a:latin typeface="Aptos"/>
                <a:ea typeface="Aptos"/>
                <a:cs typeface="Aptos"/>
              </a:rPr>
              <a:t>Take attendance for the assigned class, view its roster and timetable, and add end-of-term class remarks.</a:t>
            </a:r>
          </a:p>
        </p:txBody>
      </p:sp>
      <p:sp>
        <p:nvSpPr>
          <p:cNvPr id="14" name="role-rule-2">
            <a:extLst xmlns:a="http://schemas.openxmlformats.org/drawingml/2006/main">
              <a:ext uri="{FF2B5EF4-FFF2-40B4-BE49-F238E27FC236}">
                <a16:creationId xmlns:a16="http://schemas.microsoft.com/office/drawing/2014/main" id="{E879A818-1564-4A14-B74C-537B062F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070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5DA"/>
            </a:solidFill>
            <a:prstDash val="solid"/>
          </a:ln>
        </p:spPr>
      </p:sp>
      <p:sp>
        <p:nvSpPr>
          <p:cNvPr id="15" name="role-3">
            <a:extLst xmlns:a="http://schemas.openxmlformats.org/drawingml/2006/main">
              <a:ext uri="{FF2B5EF4-FFF2-40B4-BE49-F238E27FC236}">
                <a16:creationId xmlns:a16="http://schemas.microsoft.com/office/drawing/2014/main" id="{BE15C5AD-1361-4F8E-99AD-02EF8072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5290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SUBJECT TEACHER</a:t>
            </a:r>
          </a:p>
        </p:txBody>
      </p:sp>
      <p:sp>
        <p:nvSpPr>
          <p:cNvPr id="16" name="role-description-3">
            <a:extLst xmlns:a="http://schemas.openxmlformats.org/drawingml/2006/main">
              <a:ext uri="{FF2B5EF4-FFF2-40B4-BE49-F238E27FC236}">
                <a16:creationId xmlns:a16="http://schemas.microsoft.com/office/drawing/2014/main" id="{BE7F1BDC-1D60-491F-8B0E-60EBA71F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24325"/>
            <a:ext cx="800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27"/>
                </a:solidFill>
                <a:latin typeface="Aptos"/>
                <a:ea typeface="Aptos"/>
                <a:cs typeface="Aptos"/>
              </a:rPr>
              <a:t>Upload CA and exam scores for assigned subject–class pairs; manage assignments, lessons, quizzes and discussions.</a:t>
            </a:r>
          </a:p>
        </p:txBody>
      </p:sp>
      <p:sp>
        <p:nvSpPr>
          <p:cNvPr id="17" name="role-rule-3">
            <a:extLst xmlns:a="http://schemas.openxmlformats.org/drawingml/2006/main">
              <a:ext uri="{FF2B5EF4-FFF2-40B4-BE49-F238E27FC236}">
                <a16:creationId xmlns:a16="http://schemas.microsoft.com/office/drawing/2014/main" id="{5E01E4C6-DE5B-4797-8BD1-A5395350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70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5DA"/>
            </a:solidFill>
            <a:prstDash val="solid"/>
          </a:ln>
        </p:spPr>
      </p:sp>
      <p:sp>
        <p:nvSpPr>
          <p:cNvPr id="18" name="role-4">
            <a:extLst xmlns:a="http://schemas.openxmlformats.org/drawingml/2006/main">
              <a:ext uri="{FF2B5EF4-FFF2-40B4-BE49-F238E27FC236}">
                <a16:creationId xmlns:a16="http://schemas.microsoft.com/office/drawing/2014/main" id="{A403697A-4AAA-46F2-A761-AE3BAEE8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STUDENT + PARENT</a:t>
            </a:r>
          </a:p>
        </p:txBody>
      </p:sp>
      <p:sp>
        <p:nvSpPr>
          <p:cNvPr id="19" name="role-description-4">
            <a:extLst xmlns:a="http://schemas.openxmlformats.org/drawingml/2006/main">
              <a:ext uri="{FF2B5EF4-FFF2-40B4-BE49-F238E27FC236}">
                <a16:creationId xmlns:a16="http://schemas.microsoft.com/office/drawing/2014/main" id="{4777540D-7E94-4FC7-BC79-4FBEBF51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38725"/>
            <a:ext cx="800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27"/>
                </a:solidFill>
                <a:latin typeface="Aptos"/>
                <a:ea typeface="Aptos"/>
                <a:cs typeface="Aptos"/>
              </a:rPr>
              <a:t>Students see their own reports, attendance and learning. Parents see those records for linked children.</a:t>
            </a:r>
          </a:p>
        </p:txBody>
      </p:sp>
    </p:spTree>
    <p:extLst>
      <p:ext uri="{BB962C8B-B14F-4D97-AF65-F5344CB8AC3E}">
        <p14:creationId xmlns:p14="http://schemas.microsoft.com/office/powerpoint/2010/main" val="4473297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E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brand-dot">
            <a:extLst xmlns:a="http://schemas.openxmlformats.org/drawingml/2006/main">
              <a:ext uri="{FF2B5EF4-FFF2-40B4-BE49-F238E27FC236}">
                <a16:creationId xmlns:a16="http://schemas.microsoft.com/office/drawing/2014/main" id="{2266F68B-37D2-47F6-8BCF-634FAC68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C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9C217246-0C12-42E2-B9C2-170E96CC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B6B72"/>
                </a:solidFill>
                <a:latin typeface="Aptos"/>
                <a:ea typeface="Aptos"/>
                <a:cs typeface="Aptos"/>
              </a:rPr>
              <a:t>SCHOOLDB</a:t>
            </a:r>
          </a:p>
        </p:txBody>
      </p:sp>
      <p:sp>
        <p:nvSpPr>
          <p:cNvPr id="3" name="category">
            <a:extLst xmlns:a="http://schemas.openxmlformats.org/drawingml/2006/main">
              <a:ext uri="{FF2B5EF4-FFF2-40B4-BE49-F238E27FC236}">
                <a16:creationId xmlns:a16="http://schemas.microsoft.com/office/drawing/2014/main" id="{121121DA-AE96-45AD-9426-551BA471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524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SECONDARY SCHOOL MANAGEMENT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839A8BE-39A6-4F29-8D80-CA460929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90D127E-9ECE-4212-BAC6-14F90B54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rPr>
              <a:t>Term records connect daily work to reports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CACDE7AA-4D77-4ACD-AB37-8B91EC03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Attendance and subject scores stay organized by student, class, subject and term.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72517E8-0654-4771-AB77-ADABE4C0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5DA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8B3C3EA8-1B50-4662-B41E-6F799272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SCHOOLDB  ·  NIGERIAN SECONDARY SCHOOLS</a:t>
            </a:r>
          </a:p>
        </p:txBody>
      </p:sp>
      <p:sp>
        <p:nvSpPr>
          <p:cNvPr id="9" name="term-step-no-0">
            <a:extLst xmlns:a="http://schemas.openxmlformats.org/drawingml/2006/main">
              <a:ext uri="{FF2B5EF4-FFF2-40B4-BE49-F238E27FC236}">
                <a16:creationId xmlns:a16="http://schemas.microsoft.com/office/drawing/2014/main" id="{D5FF5C34-CD48-454F-B24C-2CA33687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term-step-title-0">
            <a:extLst xmlns:a="http://schemas.openxmlformats.org/drawingml/2006/main">
              <a:ext uri="{FF2B5EF4-FFF2-40B4-BE49-F238E27FC236}">
                <a16:creationId xmlns:a16="http://schemas.microsoft.com/office/drawing/2014/main" id="{1EF9F924-723C-4A1A-AA75-8F71ACAC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rPr>
              <a:t>Attendance</a:t>
            </a:r>
          </a:p>
        </p:txBody>
      </p:sp>
      <p:sp>
        <p:nvSpPr>
          <p:cNvPr id="11" name="term-step-body-0">
            <a:extLst xmlns:a="http://schemas.openxmlformats.org/drawingml/2006/main">
              <a:ext uri="{FF2B5EF4-FFF2-40B4-BE49-F238E27FC236}">
                <a16:creationId xmlns:a16="http://schemas.microsoft.com/office/drawing/2014/main" id="{316B9E68-C3C9-4982-8517-136CA030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67125"/>
            <a:ext cx="30289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Class teachers record daily attendance for their own class, by date.</a:t>
            </a:r>
          </a:p>
        </p:txBody>
      </p:sp>
      <p:sp>
        <p:nvSpPr>
          <p:cNvPr id="12" name="term-step-no-1">
            <a:extLst xmlns:a="http://schemas.openxmlformats.org/drawingml/2006/main">
              <a:ext uri="{FF2B5EF4-FFF2-40B4-BE49-F238E27FC236}">
                <a16:creationId xmlns:a16="http://schemas.microsoft.com/office/drawing/2014/main" id="{4A2A75EE-3454-45D6-A492-921D70A3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47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term-step-title-1">
            <a:extLst xmlns:a="http://schemas.openxmlformats.org/drawingml/2006/main">
              <a:ext uri="{FF2B5EF4-FFF2-40B4-BE49-F238E27FC236}">
                <a16:creationId xmlns:a16="http://schemas.microsoft.com/office/drawing/2014/main" id="{478B4457-680D-4C6E-9866-9EFC9C7F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242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rPr>
              <a:t>Assessment</a:t>
            </a:r>
          </a:p>
        </p:txBody>
      </p:sp>
      <p:sp>
        <p:nvSpPr>
          <p:cNvPr id="14" name="term-step-body-1">
            <a:extLst xmlns:a="http://schemas.openxmlformats.org/drawingml/2006/main">
              <a:ext uri="{FF2B5EF4-FFF2-40B4-BE49-F238E27FC236}">
                <a16:creationId xmlns:a16="http://schemas.microsoft.com/office/drawing/2014/main" id="{242380CF-A6C4-48D3-A718-5A1E91D5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67125"/>
            <a:ext cx="30289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Each subject grade combines continuous assessment and an exam, up to 100 points.</a:t>
            </a:r>
          </a:p>
        </p:txBody>
      </p:sp>
      <p:sp>
        <p:nvSpPr>
          <p:cNvPr id="15" name="term-step-no-2">
            <a:extLst xmlns:a="http://schemas.openxmlformats.org/drawingml/2006/main">
              <a:ext uri="{FF2B5EF4-FFF2-40B4-BE49-F238E27FC236}">
                <a16:creationId xmlns:a16="http://schemas.microsoft.com/office/drawing/2014/main" id="{90D12DBF-8D0E-4CE3-ACD6-6C7DB0AB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47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term-step-title-2">
            <a:extLst xmlns:a="http://schemas.openxmlformats.org/drawingml/2006/main">
              <a:ext uri="{FF2B5EF4-FFF2-40B4-BE49-F238E27FC236}">
                <a16:creationId xmlns:a16="http://schemas.microsoft.com/office/drawing/2014/main" id="{99A165A9-569F-48D8-8DD6-6EF0B0C3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242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rPr>
              <a:t>Reporting</a:t>
            </a:r>
          </a:p>
        </p:txBody>
      </p:sp>
      <p:sp>
        <p:nvSpPr>
          <p:cNvPr id="17" name="term-step-body-2">
            <a:extLst xmlns:a="http://schemas.openxmlformats.org/drawingml/2006/main">
              <a:ext uri="{FF2B5EF4-FFF2-40B4-BE49-F238E27FC236}">
                <a16:creationId xmlns:a16="http://schemas.microsoft.com/office/drawing/2014/main" id="{0EA2597C-A252-49BD-B852-193717C8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67125"/>
            <a:ext cx="30289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Term reports bring subject marks and teacher remarks together for review.</a:t>
            </a:r>
          </a:p>
        </p:txBody>
      </p:sp>
      <p:sp>
        <p:nvSpPr>
          <p:cNvPr id="18" name="score-rule">
            <a:extLst xmlns:a="http://schemas.openxmlformats.org/drawingml/2006/main">
              <a:ext uri="{FF2B5EF4-FFF2-40B4-BE49-F238E27FC236}">
                <a16:creationId xmlns:a16="http://schemas.microsoft.com/office/drawing/2014/main" id="{8AE7B8DC-28C0-4D99-931F-6AC4EDE4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05400"/>
            <a:ext cx="1070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5DA"/>
            </a:solidFill>
            <a:prstDash val="solid"/>
          </a:ln>
        </p:spPr>
      </p:sp>
      <p:sp>
        <p:nvSpPr>
          <p:cNvPr id="19" name="score-definition">
            <a:extLst xmlns:a="http://schemas.openxmlformats.org/drawingml/2006/main">
              <a:ext uri="{FF2B5EF4-FFF2-40B4-BE49-F238E27FC236}">
                <a16:creationId xmlns:a16="http://schemas.microsoft.com/office/drawing/2014/main" id="{E99F10C9-2EFC-4B0B-BBE2-705807D1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530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rPr>
              <a:t>CA (max 40)  +  Exam (max 60)  =  Term score (max 100)</a:t>
            </a:r>
          </a:p>
        </p:txBody>
      </p:sp>
    </p:spTree>
    <p:extLst>
      <p:ext uri="{BB962C8B-B14F-4D97-AF65-F5344CB8AC3E}">
        <p14:creationId xmlns:p14="http://schemas.microsoft.com/office/powerpoint/2010/main" val="13896400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E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brand-dot">
            <a:extLst xmlns:a="http://schemas.openxmlformats.org/drawingml/2006/main">
              <a:ext uri="{FF2B5EF4-FFF2-40B4-BE49-F238E27FC236}">
                <a16:creationId xmlns:a16="http://schemas.microsoft.com/office/drawing/2014/main" id="{D97227F4-7522-4FE7-952A-ACD9DD47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C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593AD001-79B2-4959-A093-BDCAF3FD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B6B72"/>
                </a:solidFill>
                <a:latin typeface="Aptos"/>
                <a:ea typeface="Aptos"/>
                <a:cs typeface="Aptos"/>
              </a:rPr>
              <a:t>SCHOOLDB</a:t>
            </a:r>
          </a:p>
        </p:txBody>
      </p:sp>
      <p:sp>
        <p:nvSpPr>
          <p:cNvPr id="3" name="category">
            <a:extLst xmlns:a="http://schemas.openxmlformats.org/drawingml/2006/main">
              <a:ext uri="{FF2B5EF4-FFF2-40B4-BE49-F238E27FC236}">
                <a16:creationId xmlns:a16="http://schemas.microsoft.com/office/drawing/2014/main" id="{9633C69A-B1E7-42C9-8087-298A738A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524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SECONDARY SCHOOL MANAGEMENT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F5878FA-3784-4F2A-B658-A6757142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0A06729-BBF0-4F54-919D-1868CDD1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rPr>
              <a:t>Promotion follows a defined academic rule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9BF7045F-3D44-4DD1-9DA6-EAEA5CEA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The third-term report uses subject averages across the three-term session.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230C743-0138-4A1E-BE0C-16046607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5DA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E0512B8C-A681-49AC-B2BF-C8AA66C9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SCHOOLDB  ·  NIGERIAN SECONDARY SCHOOLS</a:t>
            </a:r>
          </a:p>
        </p:txBody>
      </p:sp>
      <p:sp>
        <p:nvSpPr>
          <p:cNvPr id="9" name="promotion-label-0">
            <a:extLst xmlns:a="http://schemas.openxmlformats.org/drawingml/2006/main">
              <a:ext uri="{FF2B5EF4-FFF2-40B4-BE49-F238E27FC236}">
                <a16:creationId xmlns:a16="http://schemas.microsoft.com/office/drawing/2014/main" id="{91FEB097-AE4B-4174-9D97-DE10D5F7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SESSION AVERAGE</a:t>
            </a:r>
          </a:p>
        </p:txBody>
      </p:sp>
      <p:sp>
        <p:nvSpPr>
          <p:cNvPr id="10" name="promotion-detail-0">
            <a:extLst xmlns:a="http://schemas.openxmlformats.org/drawingml/2006/main">
              <a:ext uri="{FF2B5EF4-FFF2-40B4-BE49-F238E27FC236}">
                <a16:creationId xmlns:a16="http://schemas.microsoft.com/office/drawing/2014/main" id="{CED1F287-E622-473D-80A1-8C9CD150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57175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rPr>
              <a:t>Across all subjects</a:t>
            </a:r>
          </a:p>
        </p:txBody>
      </p:sp>
      <p:sp>
        <p:nvSpPr>
          <p:cNvPr id="11" name="promotion-rule-0">
            <a:extLst xmlns:a="http://schemas.openxmlformats.org/drawingml/2006/main">
              <a:ext uri="{FF2B5EF4-FFF2-40B4-BE49-F238E27FC236}">
                <a16:creationId xmlns:a16="http://schemas.microsoft.com/office/drawing/2014/main" id="{E06B1DCE-A089-4FC9-99FB-B81645DF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9925"/>
            <a:ext cx="1000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5DA"/>
            </a:solidFill>
            <a:prstDash val="solid"/>
          </a:ln>
        </p:spPr>
      </p:sp>
      <p:sp>
        <p:nvSpPr>
          <p:cNvPr id="12" name="promotion-label-1">
            <a:extLst xmlns:a="http://schemas.openxmlformats.org/drawingml/2006/main">
              <a:ext uri="{FF2B5EF4-FFF2-40B4-BE49-F238E27FC236}">
                <a16:creationId xmlns:a16="http://schemas.microsoft.com/office/drawing/2014/main" id="{904B219C-CF68-4FA9-8C40-66E82D81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PROMOTION THRESHOLD</a:t>
            </a:r>
          </a:p>
        </p:txBody>
      </p:sp>
      <p:sp>
        <p:nvSpPr>
          <p:cNvPr id="13" name="promotion-detail-1">
            <a:extLst xmlns:a="http://schemas.openxmlformats.org/drawingml/2006/main">
              <a:ext uri="{FF2B5EF4-FFF2-40B4-BE49-F238E27FC236}">
                <a16:creationId xmlns:a16="http://schemas.microsoft.com/office/drawing/2014/main" id="{623CA9B6-4B49-45E2-BDF5-0DCAEF3B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56235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rPr>
              <a:t>Overall average ≥ 50%</a:t>
            </a:r>
          </a:p>
        </p:txBody>
      </p:sp>
      <p:sp>
        <p:nvSpPr>
          <p:cNvPr id="14" name="promotion-rule-1">
            <a:extLst xmlns:a="http://schemas.openxmlformats.org/drawingml/2006/main">
              <a:ext uri="{FF2B5EF4-FFF2-40B4-BE49-F238E27FC236}">
                <a16:creationId xmlns:a16="http://schemas.microsoft.com/office/drawing/2014/main" id="{42A9087A-B570-490E-852A-727EF832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00525"/>
            <a:ext cx="1000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5DA"/>
            </a:solidFill>
            <a:prstDash val="solid"/>
          </a:ln>
        </p:spPr>
      </p:sp>
      <p:sp>
        <p:nvSpPr>
          <p:cNvPr id="15" name="promotion-label-2">
            <a:extLst xmlns:a="http://schemas.openxmlformats.org/drawingml/2006/main">
              <a:ext uri="{FF2B5EF4-FFF2-40B4-BE49-F238E27FC236}">
                <a16:creationId xmlns:a16="http://schemas.microsoft.com/office/drawing/2014/main" id="{3CB4ED18-9735-4837-A429-3652FE18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910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CALCULATION</a:t>
            </a:r>
          </a:p>
        </p:txBody>
      </p:sp>
      <p:sp>
        <p:nvSpPr>
          <p:cNvPr id="16" name="promotion-detail-2">
            <a:extLst xmlns:a="http://schemas.openxmlformats.org/drawingml/2006/main">
              <a:ext uri="{FF2B5EF4-FFF2-40B4-BE49-F238E27FC236}">
                <a16:creationId xmlns:a16="http://schemas.microsoft.com/office/drawing/2014/main" id="{F2A30C2E-383A-4F59-B02B-FFDBA4FD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5295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rPr>
              <a:t>Use the subject averages for the session</a:t>
            </a:r>
          </a:p>
        </p:txBody>
      </p:sp>
      <p:sp>
        <p:nvSpPr>
          <p:cNvPr id="17" name="promotion-outcome">
            <a:extLst xmlns:a="http://schemas.openxmlformats.org/drawingml/2006/main">
              <a:ext uri="{FF2B5EF4-FFF2-40B4-BE49-F238E27FC236}">
                <a16:creationId xmlns:a16="http://schemas.microsoft.com/office/drawing/2014/main" id="{D79A2C4C-57BA-48EC-8D64-52852768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02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Average ≥ 50% → promoted</a:t>
            </a:r>
          </a:p>
          <a:p xmlns:a="http://schemas.openxmlformats.org/drawingml/2006/main">
            <a:pPr algn="l">
              <a:defRPr sz="150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Below 50% → verdict includes the reason</a:t>
            </a:r>
          </a:p>
        </p:txBody>
      </p:sp>
    </p:spTree>
    <p:extLst>
      <p:ext uri="{BB962C8B-B14F-4D97-AF65-F5344CB8AC3E}">
        <p14:creationId xmlns:p14="http://schemas.microsoft.com/office/powerpoint/2010/main" val="20846078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E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brand-dot">
            <a:extLst xmlns:a="http://schemas.openxmlformats.org/drawingml/2006/main">
              <a:ext uri="{FF2B5EF4-FFF2-40B4-BE49-F238E27FC236}">
                <a16:creationId xmlns:a16="http://schemas.microsoft.com/office/drawing/2014/main" id="{78082F74-22E1-4717-B614-5C3623E8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C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927831AD-38D9-489C-AE44-186FE56A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B6B72"/>
                </a:solidFill>
                <a:latin typeface="Aptos"/>
                <a:ea typeface="Aptos"/>
                <a:cs typeface="Aptos"/>
              </a:rPr>
              <a:t>SCHOOLDB</a:t>
            </a:r>
          </a:p>
        </p:txBody>
      </p:sp>
      <p:sp>
        <p:nvSpPr>
          <p:cNvPr id="3" name="category">
            <a:extLst xmlns:a="http://schemas.openxmlformats.org/drawingml/2006/main">
              <a:ext uri="{FF2B5EF4-FFF2-40B4-BE49-F238E27FC236}">
                <a16:creationId xmlns:a16="http://schemas.microsoft.com/office/drawing/2014/main" id="{D2AD824E-34B5-4618-9823-C7CB5D0C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524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SECONDARY SCHOOL MANAGEMENT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36B1E65-841B-4D0D-8760-DCB05BDC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83DB248-8968-44E8-A8A1-1C936EC9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rPr>
              <a:t>Learning tools sit alongside school records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33B33F8E-7816-4EEA-9DFE-48476E6E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Classroom activity remains connected to the same roles, subjects and student context.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60C426A-FFCA-4759-A225-A1EA274B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5DA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72BB8E41-9F46-4650-9192-BA894EFD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SCHOOLDB  ·  NIGERIAN SECONDARY SCHOOLS</a:t>
            </a:r>
          </a:p>
        </p:txBody>
      </p:sp>
      <p:sp>
        <p:nvSpPr>
          <p:cNvPr id="9" name="learning-label-0">
            <a:extLst xmlns:a="http://schemas.openxmlformats.org/drawingml/2006/main">
              <a:ext uri="{FF2B5EF4-FFF2-40B4-BE49-F238E27FC236}">
                <a16:creationId xmlns:a16="http://schemas.microsoft.com/office/drawing/2014/main" id="{FE603A3B-BC0D-4013-ACA2-7D1C664E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ASSIGNMENTS</a:t>
            </a:r>
          </a:p>
        </p:txBody>
      </p:sp>
      <p:sp>
        <p:nvSpPr>
          <p:cNvPr id="10" name="learning-body-0">
            <a:extLst xmlns:a="http://schemas.openxmlformats.org/drawingml/2006/main">
              <a:ext uri="{FF2B5EF4-FFF2-40B4-BE49-F238E27FC236}">
                <a16:creationId xmlns:a16="http://schemas.microsoft.com/office/drawing/2014/main" id="{9A17C18B-A716-4993-9571-88EBF4DC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05050"/>
            <a:ext cx="7981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27"/>
                </a:solidFill>
                <a:latin typeface="Aptos"/>
                <a:ea typeface="Aptos"/>
                <a:cs typeface="Aptos"/>
              </a:rPr>
              <a:t>Subject teachers create assignments and due dates; students and linked parents can review them.</a:t>
            </a:r>
          </a:p>
        </p:txBody>
      </p:sp>
      <p:sp>
        <p:nvSpPr>
          <p:cNvPr id="11" name="learning-rule-0">
            <a:extLst xmlns:a="http://schemas.openxmlformats.org/drawingml/2006/main">
              <a:ext uri="{FF2B5EF4-FFF2-40B4-BE49-F238E27FC236}">
                <a16:creationId xmlns:a16="http://schemas.microsoft.com/office/drawing/2014/main" id="{F58E8A34-5B8A-4A95-B484-02169E39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43225"/>
            <a:ext cx="1070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5DA"/>
            </a:solidFill>
            <a:prstDash val="solid"/>
          </a:ln>
        </p:spPr>
      </p:sp>
      <p:sp>
        <p:nvSpPr>
          <p:cNvPr id="12" name="learning-label-1">
            <a:extLst xmlns:a="http://schemas.openxmlformats.org/drawingml/2006/main">
              <a:ext uri="{FF2B5EF4-FFF2-40B4-BE49-F238E27FC236}">
                <a16:creationId xmlns:a16="http://schemas.microsoft.com/office/drawing/2014/main" id="{D3665B57-631E-48C0-8230-12D68FEE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LESSONS + QUIZZES</a:t>
            </a:r>
          </a:p>
        </p:txBody>
      </p:sp>
      <p:sp>
        <p:nvSpPr>
          <p:cNvPr id="13" name="learning-body-1">
            <a:extLst xmlns:a="http://schemas.openxmlformats.org/drawingml/2006/main">
              <a:ext uri="{FF2B5EF4-FFF2-40B4-BE49-F238E27FC236}">
                <a16:creationId xmlns:a16="http://schemas.microsoft.com/office/drawing/2014/main" id="{2D21CE1B-A1DB-44F6-ADBA-41074E73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43250"/>
            <a:ext cx="7981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27"/>
                </a:solidFill>
                <a:latin typeface="Aptos"/>
                <a:ea typeface="Aptos"/>
                <a:cs typeface="Aptos"/>
              </a:rPr>
              <a:t>Teachers publish learning material and quizzes; quiz attempts are scored on the server.</a:t>
            </a:r>
          </a:p>
        </p:txBody>
      </p:sp>
      <p:sp>
        <p:nvSpPr>
          <p:cNvPr id="14" name="learning-rule-1">
            <a:extLst xmlns:a="http://schemas.openxmlformats.org/drawingml/2006/main">
              <a:ext uri="{FF2B5EF4-FFF2-40B4-BE49-F238E27FC236}">
                <a16:creationId xmlns:a16="http://schemas.microsoft.com/office/drawing/2014/main" id="{600A4D2C-79BA-45A2-B606-7DDFC9DD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81425"/>
            <a:ext cx="1070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5DA"/>
            </a:solidFill>
            <a:prstDash val="solid"/>
          </a:ln>
        </p:spPr>
      </p:sp>
      <p:sp>
        <p:nvSpPr>
          <p:cNvPr id="15" name="learning-label-2">
            <a:extLst xmlns:a="http://schemas.openxmlformats.org/drawingml/2006/main">
              <a:ext uri="{FF2B5EF4-FFF2-40B4-BE49-F238E27FC236}">
                <a16:creationId xmlns:a16="http://schemas.microsoft.com/office/drawing/2014/main" id="{ADE54296-5167-4E07-8C3E-E87D6EC4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DISCUSSIONS</a:t>
            </a:r>
          </a:p>
        </p:txBody>
      </p:sp>
      <p:sp>
        <p:nvSpPr>
          <p:cNvPr id="16" name="learning-body-2">
            <a:extLst xmlns:a="http://schemas.openxmlformats.org/drawingml/2006/main">
              <a:ext uri="{FF2B5EF4-FFF2-40B4-BE49-F238E27FC236}">
                <a16:creationId xmlns:a16="http://schemas.microsoft.com/office/drawing/2014/main" id="{354CAC28-D696-4F0A-99C5-FB7E402B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81450"/>
            <a:ext cx="7981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27"/>
                </a:solidFill>
                <a:latin typeface="Aptos"/>
                <a:ea typeface="Aptos"/>
                <a:cs typeface="Aptos"/>
              </a:rPr>
              <a:t>Students can participate in subject discussions alongside lessons and assessments.</a:t>
            </a:r>
          </a:p>
        </p:txBody>
      </p:sp>
      <p:sp>
        <p:nvSpPr>
          <p:cNvPr id="17" name="learning-rule-2">
            <a:extLst xmlns:a="http://schemas.openxmlformats.org/drawingml/2006/main">
              <a:ext uri="{FF2B5EF4-FFF2-40B4-BE49-F238E27FC236}">
                <a16:creationId xmlns:a16="http://schemas.microsoft.com/office/drawing/2014/main" id="{FAFC5388-E858-435F-9570-5B17CAB9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9625"/>
            <a:ext cx="1070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5DA"/>
            </a:solidFill>
            <a:prstDash val="solid"/>
          </a:ln>
        </p:spPr>
      </p:sp>
      <p:sp>
        <p:nvSpPr>
          <p:cNvPr id="18" name="learning-label-3">
            <a:extLst xmlns:a="http://schemas.openxmlformats.org/drawingml/2006/main">
              <a:ext uri="{FF2B5EF4-FFF2-40B4-BE49-F238E27FC236}">
                <a16:creationId xmlns:a16="http://schemas.microsoft.com/office/drawing/2014/main" id="{0EBF4ADC-7FAD-46E9-B437-589B1C5F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TIMETABLES</a:t>
            </a:r>
          </a:p>
        </p:txBody>
      </p:sp>
      <p:sp>
        <p:nvSpPr>
          <p:cNvPr id="19" name="learning-body-3">
            <a:extLst xmlns:a="http://schemas.openxmlformats.org/drawingml/2006/main">
              <a:ext uri="{FF2B5EF4-FFF2-40B4-BE49-F238E27FC236}">
                <a16:creationId xmlns:a16="http://schemas.microsoft.com/office/drawing/2014/main" id="{0F729987-A302-40D5-8D37-97351C92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9650"/>
            <a:ext cx="7981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27"/>
                </a:solidFill>
                <a:latin typeface="Aptos"/>
                <a:ea typeface="Aptos"/>
                <a:cs typeface="Aptos"/>
              </a:rPr>
              <a:t>Teachers, students and parents can check schedules for the relevant class or linked child.</a:t>
            </a:r>
          </a:p>
        </p:txBody>
      </p:sp>
    </p:spTree>
    <p:extLst>
      <p:ext uri="{BB962C8B-B14F-4D97-AF65-F5344CB8AC3E}">
        <p14:creationId xmlns:p14="http://schemas.microsoft.com/office/powerpoint/2010/main" val="7398435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E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brand-dot">
            <a:extLst xmlns:a="http://schemas.openxmlformats.org/drawingml/2006/main">
              <a:ext uri="{FF2B5EF4-FFF2-40B4-BE49-F238E27FC236}">
                <a16:creationId xmlns:a16="http://schemas.microsoft.com/office/drawing/2014/main" id="{9A0911FF-967D-4016-8532-339A05DD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C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E46D6E39-04FE-47CB-A78E-82D0D788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B6B72"/>
                </a:solidFill>
                <a:latin typeface="Aptos"/>
                <a:ea typeface="Aptos"/>
                <a:cs typeface="Aptos"/>
              </a:rPr>
              <a:t>SCHOOLDB</a:t>
            </a:r>
          </a:p>
        </p:txBody>
      </p:sp>
      <p:sp>
        <p:nvSpPr>
          <p:cNvPr id="3" name="category">
            <a:extLst xmlns:a="http://schemas.openxmlformats.org/drawingml/2006/main">
              <a:ext uri="{FF2B5EF4-FFF2-40B4-BE49-F238E27FC236}">
                <a16:creationId xmlns:a16="http://schemas.microsoft.com/office/drawing/2014/main" id="{3E60DC83-9879-4C1A-93D1-4414F597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524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SECONDARY SCHOOL MANAGEMENT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A04E6F4-B55C-45EC-8DB9-9313F660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8E29B70-1996-456D-9420-152E7598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22027"/>
                </a:solidFill>
                <a:latin typeface="Aptos Display"/>
                <a:ea typeface="Aptos Display"/>
                <a:cs typeface="Aptos Display"/>
              </a:rPr>
              <a:t>Start with the school’s own rules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3792A189-1F4B-4235-9033-0B2E2832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Suggested pilot: walk one class through a complete term workflow before expanding.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9C63A58-06F3-4DF4-AD9F-F76D1AEF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5DA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7BCA933A-372C-4A96-83C9-323E46F4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5B6B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B72"/>
                </a:solidFill>
                <a:latin typeface="Aptos"/>
                <a:ea typeface="Aptos"/>
                <a:cs typeface="Aptos"/>
              </a:rPr>
              <a:t>SCHOOLDB  ·  NIGERIAN SECONDARY SCHOOLS</a:t>
            </a:r>
          </a:p>
        </p:txBody>
      </p:sp>
      <p:sp>
        <p:nvSpPr>
          <p:cNvPr id="9" name="pilot-phase-0">
            <a:extLst xmlns:a="http://schemas.openxmlformats.org/drawingml/2006/main">
              <a:ext uri="{FF2B5EF4-FFF2-40B4-BE49-F238E27FC236}">
                <a16:creationId xmlns:a16="http://schemas.microsoft.com/office/drawing/2014/main" id="{9EDA4BD6-7747-431F-854D-D561E22D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01  SET UP</a:t>
            </a:r>
          </a:p>
        </p:txBody>
      </p:sp>
      <p:sp>
        <p:nvSpPr>
          <p:cNvPr id="10" name="pilot-description-0">
            <a:extLst xmlns:a="http://schemas.openxmlformats.org/drawingml/2006/main">
              <a:ext uri="{FF2B5EF4-FFF2-40B4-BE49-F238E27FC236}">
                <a16:creationId xmlns:a16="http://schemas.microsoft.com/office/drawing/2014/main" id="{AEE1D61A-BA3B-4472-81F0-8570FBA1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86000"/>
            <a:ext cx="7858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27"/>
                </a:solidFill>
                <a:latin typeface="Aptos"/>
                <a:ea typeface="Aptos"/>
                <a:cs typeface="Aptos"/>
              </a:rPr>
              <a:t>Confirm session, term dates, classes, subjects and grading rules.</a:t>
            </a:r>
          </a:p>
        </p:txBody>
      </p:sp>
      <p:sp>
        <p:nvSpPr>
          <p:cNvPr id="11" name="pilot-rule-0">
            <a:extLst xmlns:a="http://schemas.openxmlformats.org/drawingml/2006/main">
              <a:ext uri="{FF2B5EF4-FFF2-40B4-BE49-F238E27FC236}">
                <a16:creationId xmlns:a16="http://schemas.microsoft.com/office/drawing/2014/main" id="{311AD7FD-D6F0-43B8-844A-598469F9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14650"/>
            <a:ext cx="10610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5DA"/>
            </a:solidFill>
            <a:prstDash val="solid"/>
          </a:ln>
        </p:spPr>
      </p:sp>
      <p:sp>
        <p:nvSpPr>
          <p:cNvPr id="12" name="pilot-phase-1">
            <a:extLst xmlns:a="http://schemas.openxmlformats.org/drawingml/2006/main">
              <a:ext uri="{FF2B5EF4-FFF2-40B4-BE49-F238E27FC236}">
                <a16:creationId xmlns:a16="http://schemas.microsoft.com/office/drawing/2014/main" id="{7B15FB17-AAC4-4730-87CE-94E98F16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02  CONNECT</a:t>
            </a:r>
          </a:p>
        </p:txBody>
      </p:sp>
      <p:sp>
        <p:nvSpPr>
          <p:cNvPr id="13" name="pilot-description-1">
            <a:extLst xmlns:a="http://schemas.openxmlformats.org/drawingml/2006/main">
              <a:ext uri="{FF2B5EF4-FFF2-40B4-BE49-F238E27FC236}">
                <a16:creationId xmlns:a16="http://schemas.microsoft.com/office/drawing/2014/main" id="{2A936CAE-3E47-48DD-B22B-F3BDFC4D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24200"/>
            <a:ext cx="7858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27"/>
                </a:solidFill>
                <a:latin typeface="Aptos"/>
                <a:ea typeface="Aptos"/>
                <a:cs typeface="Aptos"/>
              </a:rPr>
              <a:t>Check student records, teacher assignments and parent–student links.</a:t>
            </a:r>
          </a:p>
        </p:txBody>
      </p:sp>
      <p:sp>
        <p:nvSpPr>
          <p:cNvPr id="14" name="pilot-rule-1">
            <a:extLst xmlns:a="http://schemas.openxmlformats.org/drawingml/2006/main">
              <a:ext uri="{FF2B5EF4-FFF2-40B4-BE49-F238E27FC236}">
                <a16:creationId xmlns:a16="http://schemas.microsoft.com/office/drawing/2014/main" id="{83C69EFE-1C81-4D12-88A2-A7C27351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10610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5DA"/>
            </a:solidFill>
            <a:prstDash val="solid"/>
          </a:ln>
        </p:spPr>
      </p:sp>
      <p:sp>
        <p:nvSpPr>
          <p:cNvPr id="15" name="pilot-phase-2">
            <a:extLst xmlns:a="http://schemas.openxmlformats.org/drawingml/2006/main">
              <a:ext uri="{FF2B5EF4-FFF2-40B4-BE49-F238E27FC236}">
                <a16:creationId xmlns:a16="http://schemas.microsoft.com/office/drawing/2014/main" id="{4CADC3C2-5D29-48EE-BBFB-9D248E5B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03  RUN</a:t>
            </a:r>
          </a:p>
        </p:txBody>
      </p:sp>
      <p:sp>
        <p:nvSpPr>
          <p:cNvPr id="16" name="pilot-description-2">
            <a:extLst xmlns:a="http://schemas.openxmlformats.org/drawingml/2006/main">
              <a:ext uri="{FF2B5EF4-FFF2-40B4-BE49-F238E27FC236}">
                <a16:creationId xmlns:a16="http://schemas.microsoft.com/office/drawing/2014/main" id="{A6CD8D17-4A97-445F-82C7-BB06D739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962400"/>
            <a:ext cx="7858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27"/>
                </a:solidFill>
                <a:latin typeface="Aptos"/>
                <a:ea typeface="Aptos"/>
                <a:cs typeface="Aptos"/>
              </a:rPr>
              <a:t>Use attendance, grade entry, assignments and learning tools with the pilot class.</a:t>
            </a:r>
          </a:p>
        </p:txBody>
      </p:sp>
      <p:sp>
        <p:nvSpPr>
          <p:cNvPr id="17" name="pilot-rule-2">
            <a:extLst xmlns:a="http://schemas.openxmlformats.org/drawingml/2006/main">
              <a:ext uri="{FF2B5EF4-FFF2-40B4-BE49-F238E27FC236}">
                <a16:creationId xmlns:a16="http://schemas.microsoft.com/office/drawing/2014/main" id="{CF566DFE-6632-4161-80DB-1A45B5BF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10610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5DA"/>
            </a:solidFill>
            <a:prstDash val="solid"/>
          </a:ln>
        </p:spPr>
      </p:sp>
      <p:sp>
        <p:nvSpPr>
          <p:cNvPr id="18" name="pilot-phase-3">
            <a:extLst xmlns:a="http://schemas.openxmlformats.org/drawingml/2006/main">
              <a:ext uri="{FF2B5EF4-FFF2-40B4-BE49-F238E27FC236}">
                <a16:creationId xmlns:a16="http://schemas.microsoft.com/office/drawing/2014/main" id="{BBCD6B84-CCB8-4C3E-B256-8102A8EF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87C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87C88"/>
                </a:solidFill>
                <a:latin typeface="Aptos"/>
                <a:ea typeface="Aptos"/>
                <a:cs typeface="Aptos"/>
              </a:rPr>
              <a:t>04  REVIEW</a:t>
            </a:r>
          </a:p>
        </p:txBody>
      </p:sp>
      <p:sp>
        <p:nvSpPr>
          <p:cNvPr id="19" name="pilot-description-3">
            <a:extLst xmlns:a="http://schemas.openxmlformats.org/drawingml/2006/main">
              <a:ext uri="{FF2B5EF4-FFF2-40B4-BE49-F238E27FC236}">
                <a16:creationId xmlns:a16="http://schemas.microsoft.com/office/drawing/2014/main" id="{293B9CEB-8682-4641-9997-2D41B139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800600"/>
            <a:ext cx="7858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220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27"/>
                </a:solidFill>
                <a:latin typeface="Aptos"/>
                <a:ea typeface="Aptos"/>
                <a:cs typeface="Aptos"/>
              </a:rPr>
              <a:t>Check report cards and year-end promotion outcomes against school policy.</a:t>
            </a:r>
          </a:p>
        </p:txBody>
      </p:sp>
    </p:spTree>
    <p:extLst>
      <p:ext uri="{BB962C8B-B14F-4D97-AF65-F5344CB8AC3E}">
        <p14:creationId xmlns:p14="http://schemas.microsoft.com/office/powerpoint/2010/main" val="4816836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2026-10-13T22:43:02.9360000Z</dcterms:created>
  <dcterms:modified xsi:type="dcterms:W3CDTF">2026-10-13T22:43:02.9360000Z</dcterms:modified>
</coreProperties>
</file>