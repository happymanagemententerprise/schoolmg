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b8c1eb98184e87" /><Relationship Type="http://schemas.openxmlformats.org/officeDocument/2006/relationships/extended-properties" Target="/docProps/app.xml" Id="R6329533feedb48ad" /><Relationship Type="http://schemas.openxmlformats.org/officeDocument/2006/relationships/officeDocument" Target="/ppt/presentation.xml" Id="R85233389d26247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a8180cc0da48da"/>
  </p:sldMasterIdLst>
  <p:notesMasterIdLst>
    <p:notesMasterId xmlns:r="http://schemas.openxmlformats.org/officeDocument/2006/relationships" r:id="R18f8f7dd277b420c"/>
  </p:notesMasterIdLst>
  <p:sldIdLst>
    <p:sldId xmlns:r="http://schemas.openxmlformats.org/officeDocument/2006/relationships" id="256" r:id="R0831c3125c7747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433d49892941be" /><Relationship Type="http://schemas.openxmlformats.org/officeDocument/2006/relationships/slideMaster" Target="/ppt/slideMasters/slideMaster1.xml" Id="R4aa8180cc0da48da" /><Relationship Type="http://schemas.openxmlformats.org/officeDocument/2006/relationships/notesMaster" Target="/ppt/notesMasters/notesMaster1.xml" Id="R18f8f7dd277b420c" /><Relationship Type="http://schemas.openxmlformats.org/officeDocument/2006/relationships/presProps" Target="/ppt/presProps.xml" Id="R83704ecea1fd451f" /><Relationship Type="http://schemas.openxmlformats.org/officeDocument/2006/relationships/tableStyles" Target="/ppt/tableStyles.xml" Id="R9b6adf681d7b447f" /><Relationship Type="http://schemas.openxmlformats.org/officeDocument/2006/relationships/slide" Target="/ppt/slides/slide1.xml" Id="R0831c3125c7747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81099bb81540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d3ea7e941e4a02" /><Relationship Type="http://schemas.openxmlformats.org/officeDocument/2006/relationships/notesMaster" Target="/ppt/notesMasters/notesMaster1.xml" Id="R18d56e2ba3ea41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the user-provided Schooldb project analysis in this conversation. The attached sales-discovery deck is an unfilled template with no account-specific findings or quantified impact. This slide therefore makes no savings, growth, or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c4ca6820b04ca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daa40a56fc4e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62ff8b88d843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21f81c1c4f4a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a74c437ff04e7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7d83fc99e641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CA4861-26AA-464A-B1C8-3D1DC2F2C2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20F2CE8-36DB-4F8E-94AC-2645E66B75C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762C576-F50E-4CD6-8CFE-DBFFD062AB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93F850-43A1-428F-A4E4-509E8049B3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A573A4B-49A4-4298-824B-4AF096E84F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885A398-B12D-4252-8A10-1024D7A58B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6F0BBE-1C26-4A33-98B2-752F74EC49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B3D367B-F6BA-400E-9169-92BB3741EA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83364C-568B-46AD-8A65-596E671AEF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323EE0-982C-4BAC-87A1-727238FE30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8e4ad7121c4652" /><Relationship Type="http://schemas.openxmlformats.org/officeDocument/2006/relationships/slideLayout" Target="/ppt/slideLayouts/slideLayout1.xml" Id="R69255e672e154129" /><Relationship Type="http://schemas.openxmlformats.org/officeDocument/2006/relationships/slideLayout" Target="/ppt/slideLayouts/slideLayout2.xml" Id="Rc83c87599c4742c2" /><Relationship Type="http://schemas.openxmlformats.org/officeDocument/2006/relationships/slideLayout" Target="/ppt/slideLayouts/slideLayout3.xml" Id="Re01ab8e5b68c4b1a" /><Relationship Type="http://schemas.openxmlformats.org/officeDocument/2006/relationships/slideLayout" Target="/ppt/slideLayouts/slideLayout4.xml" Id="Re93803491b3949bb" /><Relationship Type="http://schemas.openxmlformats.org/officeDocument/2006/relationships/slideLayout" Target="/ppt/slideLayouts/slideLayout5.xml" Id="Rfc633d3851644087" /><Relationship Type="http://schemas.openxmlformats.org/officeDocument/2006/relationships/slideLayout" Target="/ppt/slideLayouts/slideLayout6.xml" Id="R5d4c96907b2c4c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255e672e154129"/>
    <p:sldLayoutId xmlns:r="http://schemas.openxmlformats.org/officeDocument/2006/relationships" id="2147483650" r:id="Rc83c87599c4742c2"/>
    <p:sldLayoutId xmlns:r="http://schemas.openxmlformats.org/officeDocument/2006/relationships" id="2147483651" r:id="Re01ab8e5b68c4b1a"/>
    <p:sldLayoutId xmlns:r="http://schemas.openxmlformats.org/officeDocument/2006/relationships" id="2147483652" r:id="Re93803491b3949bb"/>
    <p:sldLayoutId xmlns:r="http://schemas.openxmlformats.org/officeDocument/2006/relationships" id="2147483653" r:id="Rfc633d3851644087"/>
    <p:sldLayoutId xmlns:r="http://schemas.openxmlformats.org/officeDocument/2006/relationships" id="2147483654" r:id="R5d4c96907b2c4c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b9a6e94e814a79" /><Relationship Type="http://schemas.openxmlformats.org/officeDocument/2006/relationships/notesSlide" Target="/ppt/notesSlides/notesSlide1.xml" Id="R0384fc0a3b9e4a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chooldb-mark">
            <a:extLst xmlns:a="http://schemas.openxmlformats.org/drawingml/2006/main">
              <a:ext uri="{FF2B5EF4-FFF2-40B4-BE49-F238E27FC236}">
                <a16:creationId xmlns:a16="http://schemas.microsoft.com/office/drawing/2014/main" id="{0303CFF3-7B20-48F0-8B75-1FDAFFA7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2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318F4332-5CC2-497C-A57D-1DF6DD63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24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</a:t>
            </a:r>
          </a:p>
        </p:txBody>
      </p:sp>
      <p:sp>
        <p:nvSpPr>
          <p:cNvPr id="3" name="category">
            <a:extLst xmlns:a="http://schemas.openxmlformats.org/drawingml/2006/main">
              <a:ext uri="{FF2B5EF4-FFF2-40B4-BE49-F238E27FC236}">
                <a16:creationId xmlns:a16="http://schemas.microsoft.com/office/drawing/2014/main" id="{58E530CC-E0D9-49DD-AADD-1CBFC9AF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2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SECONDARY SCHOOL MANAGEMENT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90C7A5B-A105-4795-9C9F-BB73DA65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382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One connected system</a:t>
            </a:r>
          </a:p>
          <a:p xmlns:a="http://schemas.openxmlformats.org/drawingml/2006/main">
            <a:pPr algn="l">
              <a:defRPr sz="37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for the school year</a:t>
            </a:r>
          </a:p>
        </p:txBody>
      </p:sp>
      <p:sp>
        <p:nvSpPr>
          <p:cNvPr id="5" name="value-proposition">
            <a:extLst xmlns:a="http://schemas.openxmlformats.org/drawingml/2006/main">
              <a:ext uri="{FF2B5EF4-FFF2-40B4-BE49-F238E27FC236}">
                <a16:creationId xmlns:a16="http://schemas.microsoft.com/office/drawing/2014/main" id="{986D5167-1F63-4C61-8F7E-B6A12D0D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57425"/>
            <a:ext cx="7762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 brings academic records, classroom learning and family access into one workflow for Nigerian secondary schools.</a:t>
            </a:r>
          </a:p>
        </p:txBody>
      </p:sp>
      <p:sp>
        <p:nvSpPr>
          <p:cNvPr id="6" name="school-calendar-context">
            <a:extLst xmlns:a="http://schemas.openxmlformats.org/drawingml/2006/main">
              <a:ext uri="{FF2B5EF4-FFF2-40B4-BE49-F238E27FC236}">
                <a16:creationId xmlns:a16="http://schemas.microsoft.com/office/drawing/2014/main" id="{4D499207-392E-4651-A3B5-4F9090A5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19350"/>
            <a:ext cx="2419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BUILT AROUND</a:t>
            </a:r>
          </a:p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NIGERIA’S 3-TERM YEAR</a:t>
            </a:r>
          </a:p>
        </p:txBody>
      </p:sp>
      <p:sp>
        <p:nvSpPr>
          <p:cNvPr id="7" name="academic-workflow-line">
            <a:extLst xmlns:a="http://schemas.openxmlformats.org/drawingml/2006/main">
              <a:ext uri="{FF2B5EF4-FFF2-40B4-BE49-F238E27FC236}">
                <a16:creationId xmlns:a16="http://schemas.microsoft.com/office/drawing/2014/main" id="{B8689E41-992A-4465-8223-763598E6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8391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CD5DA"/>
            </a:solidFill>
            <a:prstDash val="solid"/>
          </a:ln>
        </p:spPr>
      </p:sp>
      <p:sp>
        <p:nvSpPr>
          <p:cNvPr id="8" name="workflow-step-1">
            <a:extLst xmlns:a="http://schemas.openxmlformats.org/drawingml/2006/main">
              <a:ext uri="{FF2B5EF4-FFF2-40B4-BE49-F238E27FC236}">
                <a16:creationId xmlns:a16="http://schemas.microsoft.com/office/drawing/2014/main" id="{C8C0E6C6-4953-4D28-801B-B8A488F6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48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28575">
            <a:solidFill>
              <a:srgbClr val="EEF5F7"/>
            </a:solidFill>
            <a:prstDash val="solid"/>
          </a:ln>
        </p:spPr>
      </p:sp>
      <p:sp>
        <p:nvSpPr>
          <p:cNvPr id="9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2F6C35DE-5698-4910-AA38-55480ED0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43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EF2E579D-F959-4B6E-BD67-9F64D118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Record</a:t>
            </a:r>
          </a:p>
        </p:txBody>
      </p:sp>
      <p:sp>
        <p:nvSpPr>
          <p:cNvPr id="11" name="step-1-body">
            <a:extLst xmlns:a="http://schemas.openxmlformats.org/drawingml/2006/main">
              <a:ext uri="{FF2B5EF4-FFF2-40B4-BE49-F238E27FC236}">
                <a16:creationId xmlns:a16="http://schemas.microsoft.com/office/drawing/2014/main" id="{86B27B2E-140E-4CDE-B5D1-5086FEBA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72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Daily attendance</a:t>
            </a:r>
          </a:p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CA and exam grades</a:t>
            </a:r>
          </a:p>
        </p:txBody>
      </p:sp>
      <p:sp>
        <p:nvSpPr>
          <p:cNvPr id="12" name="workflow-step-2">
            <a:extLst xmlns:a="http://schemas.openxmlformats.org/drawingml/2006/main">
              <a:ext uri="{FF2B5EF4-FFF2-40B4-BE49-F238E27FC236}">
                <a16:creationId xmlns:a16="http://schemas.microsoft.com/office/drawing/2014/main" id="{E4A2EBA0-B12C-407C-A553-D65FDDF8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48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28575">
            <a:solidFill>
              <a:srgbClr val="EEF5F7"/>
            </a:solidFill>
            <a:prstDash val="solid"/>
          </a:ln>
        </p:spPr>
      </p:sp>
      <p:sp>
        <p:nvSpPr>
          <p:cNvPr id="13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9BECFECE-0812-4BA2-AEF2-476D4A7F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43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A06947B7-EDA5-4051-9064-32724E3E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576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Teach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B75BB349-3B17-4193-BB9E-EC6C1E0B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672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Assignments, lessons,</a:t>
            </a:r>
          </a:p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quizzes and discussions</a:t>
            </a:r>
          </a:p>
        </p:txBody>
      </p:sp>
      <p:sp>
        <p:nvSpPr>
          <p:cNvPr id="16" name="workflow-step-3">
            <a:extLst xmlns:a="http://schemas.openxmlformats.org/drawingml/2006/main">
              <a:ext uri="{FF2B5EF4-FFF2-40B4-BE49-F238E27FC236}">
                <a16:creationId xmlns:a16="http://schemas.microsoft.com/office/drawing/2014/main" id="{AAAB9B15-9270-49F4-9073-3BB629C6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48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28575">
            <a:solidFill>
              <a:srgbClr val="EEF5F7"/>
            </a:solidFill>
            <a:prstDash val="solid"/>
          </a:ln>
        </p:spPr>
      </p:sp>
      <p:sp>
        <p:nvSpPr>
          <p:cNvPr id="17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B8ADED03-CAA1-402B-915C-1B7C685C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43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20F3F894-7335-4678-A1AB-8F013EA3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576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Review</a:t>
            </a:r>
          </a:p>
        </p:txBody>
      </p:sp>
      <p:sp>
        <p:nvSpPr>
          <p:cNvPr id="1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97E1EB5F-161A-48BD-AB2E-1561801E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672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Term reports, analytics</a:t>
            </a:r>
          </a:p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and teacher remarks</a:t>
            </a:r>
          </a:p>
        </p:txBody>
      </p:sp>
      <p:sp>
        <p:nvSpPr>
          <p:cNvPr id="20" name="workflow-step-4">
            <a:extLst xmlns:a="http://schemas.openxmlformats.org/drawingml/2006/main">
              <a:ext uri="{FF2B5EF4-FFF2-40B4-BE49-F238E27FC236}">
                <a16:creationId xmlns:a16="http://schemas.microsoft.com/office/drawing/2014/main" id="{3C5281D1-5C72-4010-A3EC-873F37C0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48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28575">
            <a:solidFill>
              <a:srgbClr val="EEF5F7"/>
            </a:solidFill>
            <a:prstDash val="solid"/>
          </a:ln>
        </p:spPr>
      </p:sp>
      <p:sp>
        <p:nvSpPr>
          <p:cNvPr id="21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ED3C0735-CAE3-444B-B858-DAA8384E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43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98DA6277-7C93-472C-96BF-AECBD1B9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576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Progress</a:t>
            </a:r>
          </a:p>
        </p:txBody>
      </p:sp>
      <p:sp>
        <p:nvSpPr>
          <p:cNvPr id="23" name="step-4-body">
            <a:extLst xmlns:a="http://schemas.openxmlformats.org/drawingml/2006/main">
              <a:ext uri="{FF2B5EF4-FFF2-40B4-BE49-F238E27FC236}">
                <a16:creationId xmlns:a16="http://schemas.microsoft.com/office/drawing/2014/main" id="{41760BB4-4E48-4D44-8E1E-E743F94E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672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Promotion decisions</a:t>
            </a:r>
          </a:p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and family visibility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E7F43A5-2B4F-490F-94B2-9F961AD2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25" name="audiences">
            <a:extLst xmlns:a="http://schemas.openxmlformats.org/drawingml/2006/main">
              <a:ext uri="{FF2B5EF4-FFF2-40B4-BE49-F238E27FC236}">
                <a16:creationId xmlns:a16="http://schemas.microsoft.com/office/drawing/2014/main" id="{A386E1A1-ACC7-46EB-9EF7-462D78AD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One shared school record for administrators, teachers, students and parents.</a:t>
            </a:r>
          </a:p>
        </p:txBody>
      </p:sp>
    </p:spTree>
    <p:extLst>
      <p:ext uri="{BB962C8B-B14F-4D97-AF65-F5344CB8AC3E}">
        <p14:creationId xmlns:p14="http://schemas.microsoft.com/office/powerpoint/2010/main" val="20219677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2026-10-13T10:05:52.9550000Z</dcterms:created>
  <dcterms:modified xsi:type="dcterms:W3CDTF">2026-10-13T10:05:52.9550000Z</dcterms:modified>
</coreProperties>
</file>