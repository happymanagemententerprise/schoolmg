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2373929ac44db" /><Relationship Type="http://schemas.openxmlformats.org/officeDocument/2006/relationships/extended-properties" Target="/docProps/app.xml" Id="Rd7645c3555d14663" /><Relationship Type="http://schemas.openxmlformats.org/officeDocument/2006/relationships/officeDocument" Target="/ppt/presentation.xml" Id="R26bd46d0b916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b5f829d9cc4c28"/>
  </p:sldMasterIdLst>
  <p:notesMasterIdLst>
    <p:notesMasterId xmlns:r="http://schemas.openxmlformats.org/officeDocument/2006/relationships" r:id="R0d40697c087a4934"/>
  </p:notesMasterIdLst>
  <p:sldIdLst>
    <p:sldId xmlns:r="http://schemas.openxmlformats.org/officeDocument/2006/relationships" id="256" r:id="Ra194a0c7462341a2"/>
    <p:sldId xmlns:r="http://schemas.openxmlformats.org/officeDocument/2006/relationships" id="257" r:id="Rd4b54e8628874294"/>
    <p:sldId xmlns:r="http://schemas.openxmlformats.org/officeDocument/2006/relationships" id="258" r:id="R7b109dd806584796"/>
    <p:sldId xmlns:r="http://schemas.openxmlformats.org/officeDocument/2006/relationships" id="259" r:id="R696d398caaf34928"/>
    <p:sldId xmlns:r="http://schemas.openxmlformats.org/officeDocument/2006/relationships" id="260" r:id="R80cfe919cce544f1"/>
    <p:sldId xmlns:r="http://schemas.openxmlformats.org/officeDocument/2006/relationships" id="261" r:id="R440a4d3a160243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e913ad1c4c42f7" /><Relationship Type="http://schemas.openxmlformats.org/officeDocument/2006/relationships/slideMaster" Target="/ppt/slideMasters/slideMaster1.xml" Id="R28b5f829d9cc4c28" /><Relationship Type="http://schemas.openxmlformats.org/officeDocument/2006/relationships/notesMaster" Target="/ppt/notesMasters/notesMaster1.xml" Id="R0d40697c087a4934" /><Relationship Type="http://schemas.openxmlformats.org/officeDocument/2006/relationships/presProps" Target="/ppt/presProps.xml" Id="Rdb59d1a43a354386" /><Relationship Type="http://schemas.openxmlformats.org/officeDocument/2006/relationships/tableStyles" Target="/ppt/tableStyles.xml" Id="R91c1ee639c2542e9" /><Relationship Type="http://schemas.openxmlformats.org/officeDocument/2006/relationships/slide" Target="/ppt/slides/slide1.xml" Id="Ra194a0c7462341a2" /><Relationship Type="http://schemas.openxmlformats.org/officeDocument/2006/relationships/slide" Target="/ppt/slides/slide2.xml" Id="Rd4b54e8628874294" /><Relationship Type="http://schemas.openxmlformats.org/officeDocument/2006/relationships/slide" Target="/ppt/slides/slide3.xml" Id="R7b109dd806584796" /><Relationship Type="http://schemas.openxmlformats.org/officeDocument/2006/relationships/slide" Target="/ppt/slides/slide4.xml" Id="R696d398caaf34928" /><Relationship Type="http://schemas.openxmlformats.org/officeDocument/2006/relationships/slide" Target="/ppt/slides/slide5.xml" Id="R80cfe919cce544f1" /><Relationship Type="http://schemas.openxmlformats.org/officeDocument/2006/relationships/slide" Target="/ppt/slides/slide6.xml" Id="R440a4d3a160243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41a7792e12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fe092d3b014112" /><Relationship Type="http://schemas.openxmlformats.org/officeDocument/2006/relationships/notesMaster" Target="/ppt/notesMasters/notesMaster1.xml" Id="R47f5643e455d4b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0c97e1854d4bbc" /><Relationship Type="http://schemas.openxmlformats.org/officeDocument/2006/relationships/notesMaster" Target="/ppt/notesMasters/notesMaster1.xml" Id="R0942f86e3247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22d1a3144b4cb7" /><Relationship Type="http://schemas.openxmlformats.org/officeDocument/2006/relationships/notesMaster" Target="/ppt/notesMasters/notesMaster1.xml" Id="R881c32b14de445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c93ba0567d4ade" /><Relationship Type="http://schemas.openxmlformats.org/officeDocument/2006/relationships/notesMaster" Target="/ppt/notesMasters/notesMaster1.xml" Id="R753b0744a19147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cf175a04d5438f" /><Relationship Type="http://schemas.openxmlformats.org/officeDocument/2006/relationships/notesMaster" Target="/ppt/notesMasters/notesMaster1.xml" Id="R510ab8de0b4c40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36f45106d8436a" /><Relationship Type="http://schemas.openxmlformats.org/officeDocument/2006/relationships/notesMaster" Target="/ppt/notesMasters/notesMaster1.xml" Id="R0262ff62a8be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No outcome or savings metrics were supplied, so the slide makes no quantified impact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Role descriptions summarize the existing admin, teacher, student and parent capabilities. The project has no HOD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The 40-point continuous assessment and 60-point exam maxima come from the supplied project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Corrected promotion rule per the user: promotion requires an overall average of at least 50% across all subjects, not separate thresholds for Mathematics, English or a count of other subjects.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Parent visibility is limited to children linked through the parent–student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This slide proposes an initial rollout sequence; pilot length, class selection and success measures should be agreed with the school.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efcfb091642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c6a43c74f40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c323949554e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3795503d949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d1589f7d549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0ec95412f41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715DC3-71CA-4EB8-B1B0-AAEF4CF5B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67EEF-0C55-4C5C-9CAA-43D081D056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BC4B66-A819-4D7C-AEF2-E28492183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740FE0-7B17-49A1-ADEA-D5BD8A66E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B538A9-419F-428F-AD6D-DF6BDEF3D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134F00-414F-43CC-AFDE-266A77256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7F73E-6976-4100-93D3-808E1F48BD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642AB-680E-497E-94B7-80436C0EC1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22F55F-6075-4358-90EE-1E541E604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CDF8D1-E240-4F26-8B01-56D22CCF47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48d25495f64a7a" /><Relationship Type="http://schemas.openxmlformats.org/officeDocument/2006/relationships/slideLayout" Target="/ppt/slideLayouts/slideLayout1.xml" Id="Rfea6d391a39446f3" /><Relationship Type="http://schemas.openxmlformats.org/officeDocument/2006/relationships/slideLayout" Target="/ppt/slideLayouts/slideLayout2.xml" Id="Re52b2b1ac5c4471e" /><Relationship Type="http://schemas.openxmlformats.org/officeDocument/2006/relationships/slideLayout" Target="/ppt/slideLayouts/slideLayout3.xml" Id="R6d87506681824079" /><Relationship Type="http://schemas.openxmlformats.org/officeDocument/2006/relationships/slideLayout" Target="/ppt/slideLayouts/slideLayout4.xml" Id="Rdeb505f1a31a447c" /><Relationship Type="http://schemas.openxmlformats.org/officeDocument/2006/relationships/slideLayout" Target="/ppt/slideLayouts/slideLayout5.xml" Id="Rc696ee3fdf7b46b2" /><Relationship Type="http://schemas.openxmlformats.org/officeDocument/2006/relationships/slideLayout" Target="/ppt/slideLayouts/slideLayout6.xml" Id="R77576b5652374e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a6d391a39446f3"/>
    <p:sldLayoutId xmlns:r="http://schemas.openxmlformats.org/officeDocument/2006/relationships" id="2147483650" r:id="Re52b2b1ac5c4471e"/>
    <p:sldLayoutId xmlns:r="http://schemas.openxmlformats.org/officeDocument/2006/relationships" id="2147483651" r:id="R6d87506681824079"/>
    <p:sldLayoutId xmlns:r="http://schemas.openxmlformats.org/officeDocument/2006/relationships" id="2147483652" r:id="Rdeb505f1a31a447c"/>
    <p:sldLayoutId xmlns:r="http://schemas.openxmlformats.org/officeDocument/2006/relationships" id="2147483653" r:id="Rc696ee3fdf7b46b2"/>
    <p:sldLayoutId xmlns:r="http://schemas.openxmlformats.org/officeDocument/2006/relationships" id="2147483654" r:id="R77576b565237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c80cab42d4b83" /><Relationship Type="http://schemas.openxmlformats.org/officeDocument/2006/relationships/notesSlide" Target="/ppt/notesSlides/notesSlide1.xml" Id="Rfcc5f784513e41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0f0527e6e49b0" /><Relationship Type="http://schemas.openxmlformats.org/officeDocument/2006/relationships/notesSlide" Target="/ppt/notesSlides/notesSlide2.xml" Id="Ra2392fb0077a47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d9900a62f4b0b" /><Relationship Type="http://schemas.openxmlformats.org/officeDocument/2006/relationships/notesSlide" Target="/ppt/notesSlides/notesSlide3.xml" Id="R0cc18a79a47c4b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50d3187194fcf" /><Relationship Type="http://schemas.openxmlformats.org/officeDocument/2006/relationships/notesSlide" Target="/ppt/notesSlides/notesSlide4.xml" Id="Rea571edb4046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95741854c4dbd" /><Relationship Type="http://schemas.openxmlformats.org/officeDocument/2006/relationships/notesSlide" Target="/ppt/notesSlides/notesSlide5.xml" Id="R30bc2e79f4034a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b86ee8cb84299" /><Relationship Type="http://schemas.openxmlformats.org/officeDocument/2006/relationships/notesSlide" Target="/ppt/notesSlides/notesSlide6.xml" Id="R93424858e75147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dot">
            <a:extLst xmlns:a="http://schemas.openxmlformats.org/drawingml/2006/main">
              <a:ext uri="{FF2B5EF4-FFF2-40B4-BE49-F238E27FC236}">
                <a16:creationId xmlns:a16="http://schemas.microsoft.com/office/drawing/2014/main" id="{DADC5C61-50CC-4697-80DD-165B2E66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53CD10C-2EEC-4AD8-8C30-A5D40D45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822377D8-B624-4362-97C3-A1A709AE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E78523-E404-41EF-BDA5-8D488DF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38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One connected system</a:t>
            </a:r>
          </a:p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for the school year</a:t>
            </a:r>
          </a:p>
        </p:txBody>
      </p:sp>
      <p:sp>
        <p:nvSpPr>
          <p:cNvPr id="5" name="value-proposition">
            <a:extLst xmlns:a="http://schemas.openxmlformats.org/drawingml/2006/main">
              <a:ext uri="{FF2B5EF4-FFF2-40B4-BE49-F238E27FC236}">
                <a16:creationId xmlns:a16="http://schemas.microsoft.com/office/drawing/2014/main" id="{AF4EF32A-5300-4AE2-BC08-CF31173E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776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brings academic records, classroom learning and family access into one workflow for Nigerian secondary schools.</a:t>
            </a:r>
          </a:p>
        </p:txBody>
      </p:sp>
      <p:sp>
        <p:nvSpPr>
          <p:cNvPr id="6" name="school-calendar-context">
            <a:extLst xmlns:a="http://schemas.openxmlformats.org/drawingml/2006/main">
              <a:ext uri="{FF2B5EF4-FFF2-40B4-BE49-F238E27FC236}">
                <a16:creationId xmlns:a16="http://schemas.microsoft.com/office/drawing/2014/main" id="{65A91442-7852-4DC2-8C50-4B21156D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BUILT AROUND</a:t>
            </a:r>
          </a:p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NIGERIA’S 3-TERM YEAR</a:t>
            </a:r>
          </a:p>
        </p:txBody>
      </p:sp>
      <p:sp>
        <p:nvSpPr>
          <p:cNvPr id="7" name="academic-workflow-line">
            <a:extLst xmlns:a="http://schemas.openxmlformats.org/drawingml/2006/main">
              <a:ext uri="{FF2B5EF4-FFF2-40B4-BE49-F238E27FC236}">
                <a16:creationId xmlns:a16="http://schemas.microsoft.com/office/drawing/2014/main" id="{9E4E142A-D334-4092-95BD-3272449D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49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D5DA"/>
            </a:solidFill>
            <a:prstDash val="solid"/>
          </a:ln>
        </p:spPr>
      </p:sp>
      <p:sp>
        <p:nvSpPr>
          <p:cNvPr id="8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C459934E-EC7B-414E-9326-A92BC94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726F3F3F-9C7F-4A38-A81C-AE81542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7D556C07-30A3-4E6A-BC50-1B097E31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CABEA77-901F-4906-9606-1FA0128D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Daily attendance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CA and exam grades</a:t>
            </a:r>
          </a:p>
        </p:txBody>
      </p:sp>
      <p:sp>
        <p:nvSpPr>
          <p:cNvPr id="12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8235FA6C-B0B6-47DA-89FB-4875CE23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3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246CC04-E12F-4E27-9FDA-D3FB92FA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218258FC-FDB0-4756-8FAA-43225FBE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Teach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6C74230-4207-4B47-AB01-E2CA51A4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Assignments, lessons,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quizzes and discussions</a:t>
            </a:r>
          </a:p>
        </p:txBody>
      </p:sp>
      <p:sp>
        <p:nvSpPr>
          <p:cNvPr id="16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231F10B6-F2EA-4520-830C-D1EC0C9B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BE7C688-0B36-4C09-AC20-9FBAB30B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6C6AFF9-61B4-4604-9581-C510F70E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0E9F8622-8757-4A12-8446-C31E06E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Term reports, analytics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teacher remarks</a:t>
            </a:r>
          </a:p>
        </p:txBody>
      </p:sp>
      <p:sp>
        <p:nvSpPr>
          <p:cNvPr id="20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846571B8-8387-4042-9ABC-351FFA0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2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B2FB204A-66C5-4EC9-8F2B-80D89DD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1DD76FED-AA7B-4414-A831-357D397F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Progress</a:t>
            </a:r>
          </a:p>
        </p:txBody>
      </p:sp>
      <p:sp>
        <p:nvSpPr>
          <p:cNvPr id="23" name="step-4-body">
            <a:extLst xmlns:a="http://schemas.openxmlformats.org/drawingml/2006/main">
              <a:ext uri="{FF2B5EF4-FFF2-40B4-BE49-F238E27FC236}">
                <a16:creationId xmlns:a16="http://schemas.microsoft.com/office/drawing/2014/main" id="{698E2792-B1E7-48B2-95AE-325805E8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Promotion decisions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family visibility</a:t>
            </a:r>
          </a:p>
        </p:txBody>
      </p:sp>
      <p:sp>
        <p:nvSpPr>
          <p:cNvPr id="24" name="audience-rule">
            <a:extLst xmlns:a="http://schemas.openxmlformats.org/drawingml/2006/main">
              <a:ext uri="{FF2B5EF4-FFF2-40B4-BE49-F238E27FC236}">
                <a16:creationId xmlns:a16="http://schemas.microsoft.com/office/drawing/2014/main" id="{22C93AFB-2038-4854-AEB2-091B289A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25" name="audiences">
            <a:extLst xmlns:a="http://schemas.openxmlformats.org/drawingml/2006/main">
              <a:ext uri="{FF2B5EF4-FFF2-40B4-BE49-F238E27FC236}">
                <a16:creationId xmlns:a16="http://schemas.microsoft.com/office/drawing/2014/main" id="{2748ECC9-032E-4A30-9BED-6410D22F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One shared school record for administrators, teachers, students and parents.</a:t>
            </a:r>
          </a:p>
        </p:txBody>
      </p:sp>
    </p:spTree>
    <p:extLst>
      <p:ext uri="{BB962C8B-B14F-4D97-AF65-F5344CB8AC3E}">
        <p14:creationId xmlns:p14="http://schemas.microsoft.com/office/powerpoint/2010/main" val="2056844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66A3EFFA-9201-4631-9276-A98C11F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8634040-B069-4082-A5C2-BB09EBF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45CD544C-5A00-486B-A2E1-7B42D11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37D7A-AF01-4778-BC3E-99EE7373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FB7B53A-2D4C-4F2E-97A4-96AD13FF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Each role sees the work they own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BFAA321-B6C3-4B30-8B86-832C9185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One student record supports school administration, classroom work and family visibility.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192C6C-9B04-41C1-AF9B-A2FDDC0A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BE7D5BD-F713-41BB-BF56-043A0027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role-1">
            <a:extLst xmlns:a="http://schemas.openxmlformats.org/drawingml/2006/main">
              <a:ext uri="{FF2B5EF4-FFF2-40B4-BE49-F238E27FC236}">
                <a16:creationId xmlns:a16="http://schemas.microsoft.com/office/drawing/2014/main" id="{BDE273EE-D0DD-42EF-B13C-94BFC8BB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ADMINISTRATOR</a:t>
            </a:r>
          </a:p>
        </p:txBody>
      </p:sp>
      <p:sp>
        <p:nvSpPr>
          <p:cNvPr id="10" name="role-description-1">
            <a:extLst xmlns:a="http://schemas.openxmlformats.org/drawingml/2006/main">
              <a:ext uri="{FF2B5EF4-FFF2-40B4-BE49-F238E27FC236}">
                <a16:creationId xmlns:a16="http://schemas.microsoft.com/office/drawing/2014/main" id="{5233EA02-A34C-4A55-A379-136760A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955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Set sessions and terms; manage users, classes, subjects and teacher assignments; review school reports, analytics and timetables.</a:t>
            </a:r>
          </a:p>
        </p:txBody>
      </p:sp>
      <p:sp>
        <p:nvSpPr>
          <p:cNvPr id="11" name="role-rule-1">
            <a:extLst xmlns:a="http://schemas.openxmlformats.org/drawingml/2006/main">
              <a:ext uri="{FF2B5EF4-FFF2-40B4-BE49-F238E27FC236}">
                <a16:creationId xmlns:a16="http://schemas.microsoft.com/office/drawing/2014/main" id="{E07D6BFE-BCB9-4265-9D49-1674F832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role-2">
            <a:extLst xmlns:a="http://schemas.openxmlformats.org/drawingml/2006/main">
              <a:ext uri="{FF2B5EF4-FFF2-40B4-BE49-F238E27FC236}">
                <a16:creationId xmlns:a16="http://schemas.microsoft.com/office/drawing/2014/main" id="{73411391-EB55-4703-B03E-B8E858A5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CLASS TEACHER</a:t>
            </a:r>
          </a:p>
        </p:txBody>
      </p:sp>
      <p:sp>
        <p:nvSpPr>
          <p:cNvPr id="13" name="role-description-2">
            <a:extLst xmlns:a="http://schemas.openxmlformats.org/drawingml/2006/main">
              <a:ext uri="{FF2B5EF4-FFF2-40B4-BE49-F238E27FC236}">
                <a16:creationId xmlns:a16="http://schemas.microsoft.com/office/drawing/2014/main" id="{769C22D1-0BD6-41B3-9811-0CFD7FA4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Take attendance for the assigned class, view its roster and timetable, and add end-of-term class remarks.</a:t>
            </a:r>
          </a:p>
        </p:txBody>
      </p:sp>
      <p:sp>
        <p:nvSpPr>
          <p:cNvPr id="14" name="role-rule-2">
            <a:extLst xmlns:a="http://schemas.openxmlformats.org/drawingml/2006/main">
              <a:ext uri="{FF2B5EF4-FFF2-40B4-BE49-F238E27FC236}">
                <a16:creationId xmlns:a16="http://schemas.microsoft.com/office/drawing/2014/main" id="{BB9A7D11-06EA-45E3-A0D8-B4FA5C2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role-3">
            <a:extLst xmlns:a="http://schemas.openxmlformats.org/drawingml/2006/main">
              <a:ext uri="{FF2B5EF4-FFF2-40B4-BE49-F238E27FC236}">
                <a16:creationId xmlns:a16="http://schemas.microsoft.com/office/drawing/2014/main" id="{09ACE14B-5D17-44F1-A91F-613C84E8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SUBJECT TEACHER</a:t>
            </a:r>
          </a:p>
        </p:txBody>
      </p:sp>
      <p:sp>
        <p:nvSpPr>
          <p:cNvPr id="16" name="role-description-3">
            <a:extLst xmlns:a="http://schemas.openxmlformats.org/drawingml/2006/main">
              <a:ext uri="{FF2B5EF4-FFF2-40B4-BE49-F238E27FC236}">
                <a16:creationId xmlns:a16="http://schemas.microsoft.com/office/drawing/2014/main" id="{28042DE8-2CD3-45A5-B00C-2E2B809D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Upload CA and exam scores for assigned subject–class pairs; manage assignments, lessons, quizzes and discussions.</a:t>
            </a:r>
          </a:p>
        </p:txBody>
      </p:sp>
      <p:sp>
        <p:nvSpPr>
          <p:cNvPr id="17" name="role-rule-3">
            <a:extLst xmlns:a="http://schemas.openxmlformats.org/drawingml/2006/main">
              <a:ext uri="{FF2B5EF4-FFF2-40B4-BE49-F238E27FC236}">
                <a16:creationId xmlns:a16="http://schemas.microsoft.com/office/drawing/2014/main" id="{016956C6-063B-4B97-8AC5-7551F719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role-4">
            <a:extLst xmlns:a="http://schemas.openxmlformats.org/drawingml/2006/main">
              <a:ext uri="{FF2B5EF4-FFF2-40B4-BE49-F238E27FC236}">
                <a16:creationId xmlns:a16="http://schemas.microsoft.com/office/drawing/2014/main" id="{7EEB3DC4-5D95-4A25-BAD9-5ADF4F3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STUDENT + PARENT</a:t>
            </a:r>
          </a:p>
        </p:txBody>
      </p:sp>
      <p:sp>
        <p:nvSpPr>
          <p:cNvPr id="19" name="role-description-4">
            <a:extLst xmlns:a="http://schemas.openxmlformats.org/drawingml/2006/main">
              <a:ext uri="{FF2B5EF4-FFF2-40B4-BE49-F238E27FC236}">
                <a16:creationId xmlns:a16="http://schemas.microsoft.com/office/drawing/2014/main" id="{BC46CBD3-CDE3-4BB4-9B2C-B3CD0246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387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Students see their own reports, attendance and learning. Parents see those records for linked children.</a:t>
            </a:r>
          </a:p>
        </p:txBody>
      </p:sp>
    </p:spTree>
    <p:extLst>
      <p:ext uri="{BB962C8B-B14F-4D97-AF65-F5344CB8AC3E}">
        <p14:creationId xmlns:p14="http://schemas.microsoft.com/office/powerpoint/2010/main" val="1640829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1ADB46F1-B72D-42EE-8528-C224CD4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4FF4214-17A6-4BEF-823E-66E67CDE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D9442130-94D4-435C-9EFC-97A49F14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D50D5F-05D1-4402-AC28-C51CE16C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82622E-B170-4663-AD01-CA00DB51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Term records connect daily work to reports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AAB21EE-7A4D-47F5-8066-724166CC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Attendance and subject scores stay organized by student, class, subject and term.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356A9E-6CE2-43EE-96A6-DC19EF94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71D5FBB-5488-43C5-A633-7A6D475F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term-step-no-0">
            <a:extLst xmlns:a="http://schemas.openxmlformats.org/drawingml/2006/main">
              <a:ext uri="{FF2B5EF4-FFF2-40B4-BE49-F238E27FC236}">
                <a16:creationId xmlns:a16="http://schemas.microsoft.com/office/drawing/2014/main" id="{4C279349-C478-4D09-8ECD-B9877E5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erm-step-title-0">
            <a:extLst xmlns:a="http://schemas.openxmlformats.org/drawingml/2006/main">
              <a:ext uri="{FF2B5EF4-FFF2-40B4-BE49-F238E27FC236}">
                <a16:creationId xmlns:a16="http://schemas.microsoft.com/office/drawing/2014/main" id="{3A8F5485-A8EE-4152-9864-C5DBAB62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Attendance</a:t>
            </a:r>
          </a:p>
        </p:txBody>
      </p:sp>
      <p:sp>
        <p:nvSpPr>
          <p:cNvPr id="11" name="term-step-body-0">
            <a:extLst xmlns:a="http://schemas.openxmlformats.org/drawingml/2006/main">
              <a:ext uri="{FF2B5EF4-FFF2-40B4-BE49-F238E27FC236}">
                <a16:creationId xmlns:a16="http://schemas.microsoft.com/office/drawing/2014/main" id="{BA696F26-984C-4D7A-82A3-111BDA77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Class teachers record daily attendance for their own class, by date.</a:t>
            </a:r>
          </a:p>
        </p:txBody>
      </p:sp>
      <p:sp>
        <p:nvSpPr>
          <p:cNvPr id="12" name="term-step-no-1">
            <a:extLst xmlns:a="http://schemas.openxmlformats.org/drawingml/2006/main">
              <a:ext uri="{FF2B5EF4-FFF2-40B4-BE49-F238E27FC236}">
                <a16:creationId xmlns:a16="http://schemas.microsoft.com/office/drawing/2014/main" id="{D49E3B2E-6AC6-4722-9AD9-100FF697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rm-step-title-1">
            <a:extLst xmlns:a="http://schemas.openxmlformats.org/drawingml/2006/main">
              <a:ext uri="{FF2B5EF4-FFF2-40B4-BE49-F238E27FC236}">
                <a16:creationId xmlns:a16="http://schemas.microsoft.com/office/drawing/2014/main" id="{5FF7D24D-5C81-4643-A132-045B4254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Assessment</a:t>
            </a:r>
          </a:p>
        </p:txBody>
      </p:sp>
      <p:sp>
        <p:nvSpPr>
          <p:cNvPr id="14" name="term-step-body-1">
            <a:extLst xmlns:a="http://schemas.openxmlformats.org/drawingml/2006/main">
              <a:ext uri="{FF2B5EF4-FFF2-40B4-BE49-F238E27FC236}">
                <a16:creationId xmlns:a16="http://schemas.microsoft.com/office/drawing/2014/main" id="{074382D0-6499-45CE-A0DA-FD10D02F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Each subject grade combines continuous assessment and an exam, up to 100 points.</a:t>
            </a:r>
          </a:p>
        </p:txBody>
      </p:sp>
      <p:sp>
        <p:nvSpPr>
          <p:cNvPr id="15" name="term-step-no-2">
            <a:extLst xmlns:a="http://schemas.openxmlformats.org/drawingml/2006/main">
              <a:ext uri="{FF2B5EF4-FFF2-40B4-BE49-F238E27FC236}">
                <a16:creationId xmlns:a16="http://schemas.microsoft.com/office/drawing/2014/main" id="{C951177E-F64A-4B5A-ACBB-A8F6A26E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term-step-title-2">
            <a:extLst xmlns:a="http://schemas.openxmlformats.org/drawingml/2006/main">
              <a:ext uri="{FF2B5EF4-FFF2-40B4-BE49-F238E27FC236}">
                <a16:creationId xmlns:a16="http://schemas.microsoft.com/office/drawing/2014/main" id="{C069CC09-07EB-4723-99EA-D7831BB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17" name="term-step-body-2">
            <a:extLst xmlns:a="http://schemas.openxmlformats.org/drawingml/2006/main">
              <a:ext uri="{FF2B5EF4-FFF2-40B4-BE49-F238E27FC236}">
                <a16:creationId xmlns:a16="http://schemas.microsoft.com/office/drawing/2014/main" id="{AF6F89CD-897C-4CDE-829A-EBFB727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Term reports bring subject marks and teacher remarks together for review.</a:t>
            </a:r>
          </a:p>
        </p:txBody>
      </p:sp>
      <p:sp>
        <p:nvSpPr>
          <p:cNvPr id="18" name="score-rule">
            <a:extLst xmlns:a="http://schemas.openxmlformats.org/drawingml/2006/main">
              <a:ext uri="{FF2B5EF4-FFF2-40B4-BE49-F238E27FC236}">
                <a16:creationId xmlns:a16="http://schemas.microsoft.com/office/drawing/2014/main" id="{E2A94DDD-E53B-4DD5-BEF0-38F9ADBF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9" name="score-definition">
            <a:extLst xmlns:a="http://schemas.openxmlformats.org/drawingml/2006/main">
              <a:ext uri="{FF2B5EF4-FFF2-40B4-BE49-F238E27FC236}">
                <a16:creationId xmlns:a16="http://schemas.microsoft.com/office/drawing/2014/main" id="{EE2EBFFE-D29A-4D44-B8F5-EA60D0BB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CA (max 40)  +  Exam (max 60)  =  Term score (max 100)</a:t>
            </a:r>
          </a:p>
        </p:txBody>
      </p:sp>
    </p:spTree>
    <p:extLst>
      <p:ext uri="{BB962C8B-B14F-4D97-AF65-F5344CB8AC3E}">
        <p14:creationId xmlns:p14="http://schemas.microsoft.com/office/powerpoint/2010/main" val="1296359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dot">
            <a:extLst xmlns:a="http://schemas.openxmlformats.org/drawingml/2006/main">
              <a:ext uri="{FF2B5EF4-FFF2-40B4-BE49-F238E27FC236}">
                <a16:creationId xmlns:a16="http://schemas.microsoft.com/office/drawing/2014/main" id="{9F72943B-3809-4FA5-A8C6-D2CC6E26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054CE27-BBFA-45CB-AEF4-799A95E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24FC5A2F-FB45-4B69-B3E8-6E892FC5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AFD9AF-268B-4CB0-9A4F-C860B2FF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19032B-38B0-433E-9C1E-8AB59BC3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Promotion follows a defined academic rule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A37D127-2BC1-4CBD-9071-440BD35C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The third-term report uses subject averages across the three-term session.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E2067B5-689B-40F0-82BC-D336A01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72388A1-3C6A-44E9-9D16-A15BDBCA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romotion-label-0">
            <a:extLst xmlns:a="http://schemas.openxmlformats.org/drawingml/2006/main">
              <a:ext uri="{FF2B5EF4-FFF2-40B4-BE49-F238E27FC236}">
                <a16:creationId xmlns:a16="http://schemas.microsoft.com/office/drawing/2014/main" id="{12F6D971-6F42-4A0D-B1FA-899138AC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SESSION AVERAGE</a:t>
            </a:r>
          </a:p>
        </p:txBody>
      </p:sp>
      <p:sp>
        <p:nvSpPr>
          <p:cNvPr id="10" name="promotion-detail-0">
            <a:extLst xmlns:a="http://schemas.openxmlformats.org/drawingml/2006/main">
              <a:ext uri="{FF2B5EF4-FFF2-40B4-BE49-F238E27FC236}">
                <a16:creationId xmlns:a16="http://schemas.microsoft.com/office/drawing/2014/main" id="{A3517D2C-2629-42C3-BBE0-B1E1254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Across all subjects</a:t>
            </a:r>
          </a:p>
        </p:txBody>
      </p:sp>
      <p:sp>
        <p:nvSpPr>
          <p:cNvPr id="11" name="promotion-rule-0">
            <a:extLst xmlns:a="http://schemas.openxmlformats.org/drawingml/2006/main">
              <a:ext uri="{FF2B5EF4-FFF2-40B4-BE49-F238E27FC236}">
                <a16:creationId xmlns:a16="http://schemas.microsoft.com/office/drawing/2014/main" id="{CFD2FD10-C7A7-42A4-90A1-03F9EB98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promotion-label-1">
            <a:extLst xmlns:a="http://schemas.openxmlformats.org/drawingml/2006/main">
              <a:ext uri="{FF2B5EF4-FFF2-40B4-BE49-F238E27FC236}">
                <a16:creationId xmlns:a16="http://schemas.microsoft.com/office/drawing/2014/main" id="{60004861-7EB6-4AEC-9A2A-B53C4AD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PROMOTION THRESHOLD</a:t>
            </a:r>
          </a:p>
        </p:txBody>
      </p:sp>
      <p:sp>
        <p:nvSpPr>
          <p:cNvPr id="13" name="promotion-detail-1">
            <a:extLst xmlns:a="http://schemas.openxmlformats.org/drawingml/2006/main">
              <a:ext uri="{FF2B5EF4-FFF2-40B4-BE49-F238E27FC236}">
                <a16:creationId xmlns:a16="http://schemas.microsoft.com/office/drawing/2014/main" id="{2F339D66-5DA8-4186-BB68-386120B8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623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Overall average ≥ 50%</a:t>
            </a:r>
          </a:p>
        </p:txBody>
      </p:sp>
      <p:sp>
        <p:nvSpPr>
          <p:cNvPr id="14" name="promotion-rule-1">
            <a:extLst xmlns:a="http://schemas.openxmlformats.org/drawingml/2006/main">
              <a:ext uri="{FF2B5EF4-FFF2-40B4-BE49-F238E27FC236}">
                <a16:creationId xmlns:a16="http://schemas.microsoft.com/office/drawing/2014/main" id="{CAE37E2B-87AC-47BD-9C94-F20B63D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promotion-label-2">
            <a:extLst xmlns:a="http://schemas.openxmlformats.org/drawingml/2006/main">
              <a:ext uri="{FF2B5EF4-FFF2-40B4-BE49-F238E27FC236}">
                <a16:creationId xmlns:a16="http://schemas.microsoft.com/office/drawing/2014/main" id="{3BDA4792-67C7-41FF-9E2F-FA685A6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16" name="promotion-detail-2">
            <a:extLst xmlns:a="http://schemas.openxmlformats.org/drawingml/2006/main">
              <a:ext uri="{FF2B5EF4-FFF2-40B4-BE49-F238E27FC236}">
                <a16:creationId xmlns:a16="http://schemas.microsoft.com/office/drawing/2014/main" id="{3B6E00C7-E6B9-4DED-AD97-5D72AE8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Use the subject averages for the session</a:t>
            </a:r>
          </a:p>
        </p:txBody>
      </p:sp>
      <p:sp>
        <p:nvSpPr>
          <p:cNvPr id="17" name="promotion-outcome">
            <a:extLst xmlns:a="http://schemas.openxmlformats.org/drawingml/2006/main">
              <a:ext uri="{FF2B5EF4-FFF2-40B4-BE49-F238E27FC236}">
                <a16:creationId xmlns:a16="http://schemas.microsoft.com/office/drawing/2014/main" id="{9F6A9450-18DE-4650-ABE6-40F51E5F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Average ≥ 50% → promoted</a:t>
            </a:r>
          </a:p>
          <a:p xmlns:a="http://schemas.openxmlformats.org/drawingml/2006/main">
            <a: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Below 50% → verdict includes the reason</a:t>
            </a:r>
          </a:p>
        </p:txBody>
      </p:sp>
    </p:spTree>
    <p:extLst>
      <p:ext uri="{BB962C8B-B14F-4D97-AF65-F5344CB8AC3E}">
        <p14:creationId xmlns:p14="http://schemas.microsoft.com/office/powerpoint/2010/main" val="829885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A5319C81-7B63-4A8C-83E3-DE482833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03DCB26-FDF6-4BF8-99E2-924AA4FD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6F7D40AC-E97E-41FD-87DC-40D00B44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90791D-94C5-4AF0-A7E0-FC0A994F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9E4A971-3CCD-43FD-B6BE-46C2BE9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Learning tools sit alongside school records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F4FBD1B-B210-4227-BDB1-D16DC4C9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Classroom activity remains connected to the same roles, subjects and student context.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4FAA6A0-F545-47CD-9CC1-8CB61CE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B9EE1E6-6DB1-4E72-B618-78876F10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learning-label-0">
            <a:extLst xmlns:a="http://schemas.openxmlformats.org/drawingml/2006/main">
              <a:ext uri="{FF2B5EF4-FFF2-40B4-BE49-F238E27FC236}">
                <a16:creationId xmlns:a16="http://schemas.microsoft.com/office/drawing/2014/main" id="{4C5D432A-46A0-422E-A4EB-1455896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ASSIGNMENTS</a:t>
            </a:r>
          </a:p>
        </p:txBody>
      </p:sp>
      <p:sp>
        <p:nvSpPr>
          <p:cNvPr id="10" name="learning-body-0">
            <a:extLst xmlns:a="http://schemas.openxmlformats.org/drawingml/2006/main">
              <a:ext uri="{FF2B5EF4-FFF2-40B4-BE49-F238E27FC236}">
                <a16:creationId xmlns:a16="http://schemas.microsoft.com/office/drawing/2014/main" id="{B003837F-8163-4A84-9009-0723AB3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Subject teachers create assignments and due dates; students and linked parents can review them.</a:t>
            </a:r>
          </a:p>
        </p:txBody>
      </p:sp>
      <p:sp>
        <p:nvSpPr>
          <p:cNvPr id="11" name="learning-rule-0">
            <a:extLst xmlns:a="http://schemas.openxmlformats.org/drawingml/2006/main">
              <a:ext uri="{FF2B5EF4-FFF2-40B4-BE49-F238E27FC236}">
                <a16:creationId xmlns:a16="http://schemas.microsoft.com/office/drawing/2014/main" id="{A6BEA4AF-B249-4EA2-9A2F-78FD9A3B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learning-label-1">
            <a:extLst xmlns:a="http://schemas.openxmlformats.org/drawingml/2006/main">
              <a:ext uri="{FF2B5EF4-FFF2-40B4-BE49-F238E27FC236}">
                <a16:creationId xmlns:a16="http://schemas.microsoft.com/office/drawing/2014/main" id="{B88A8563-955A-4EB7-8430-2A1C03FC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LESSONS + QUIZZES</a:t>
            </a:r>
          </a:p>
        </p:txBody>
      </p:sp>
      <p:sp>
        <p:nvSpPr>
          <p:cNvPr id="13" name="learning-body-1">
            <a:extLst xmlns:a="http://schemas.openxmlformats.org/drawingml/2006/main">
              <a:ext uri="{FF2B5EF4-FFF2-40B4-BE49-F238E27FC236}">
                <a16:creationId xmlns:a16="http://schemas.microsoft.com/office/drawing/2014/main" id="{43381855-100B-4F3A-AA3C-151D6FB3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Teachers publish learning material and quizzes; quiz attempts are scored on the server.</a:t>
            </a:r>
          </a:p>
        </p:txBody>
      </p:sp>
      <p:sp>
        <p:nvSpPr>
          <p:cNvPr id="14" name="learning-rule-1">
            <a:extLst xmlns:a="http://schemas.openxmlformats.org/drawingml/2006/main">
              <a:ext uri="{FF2B5EF4-FFF2-40B4-BE49-F238E27FC236}">
                <a16:creationId xmlns:a16="http://schemas.microsoft.com/office/drawing/2014/main" id="{A53A7003-DF1C-43B2-A290-99AED3B2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learning-label-2">
            <a:extLst xmlns:a="http://schemas.openxmlformats.org/drawingml/2006/main">
              <a:ext uri="{FF2B5EF4-FFF2-40B4-BE49-F238E27FC236}">
                <a16:creationId xmlns:a16="http://schemas.microsoft.com/office/drawing/2014/main" id="{4F8BBAAF-8FD6-4DFD-BAF3-70C6702A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DISCUSSIONS</a:t>
            </a:r>
          </a:p>
        </p:txBody>
      </p:sp>
      <p:sp>
        <p:nvSpPr>
          <p:cNvPr id="16" name="learning-body-2">
            <a:extLst xmlns:a="http://schemas.openxmlformats.org/drawingml/2006/main">
              <a:ext uri="{FF2B5EF4-FFF2-40B4-BE49-F238E27FC236}">
                <a16:creationId xmlns:a16="http://schemas.microsoft.com/office/drawing/2014/main" id="{59A844A6-54AE-45F3-83C9-FFE95A6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Students can participate in subject discussions alongside lessons and assessments.</a:t>
            </a:r>
          </a:p>
        </p:txBody>
      </p:sp>
      <p:sp>
        <p:nvSpPr>
          <p:cNvPr id="17" name="learning-rule-2">
            <a:extLst xmlns:a="http://schemas.openxmlformats.org/drawingml/2006/main">
              <a:ext uri="{FF2B5EF4-FFF2-40B4-BE49-F238E27FC236}">
                <a16:creationId xmlns:a16="http://schemas.microsoft.com/office/drawing/2014/main" id="{0DA3CC0B-5EFB-482B-B140-6925F52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learning-label-3">
            <a:extLst xmlns:a="http://schemas.openxmlformats.org/drawingml/2006/main">
              <a:ext uri="{FF2B5EF4-FFF2-40B4-BE49-F238E27FC236}">
                <a16:creationId xmlns:a16="http://schemas.microsoft.com/office/drawing/2014/main" id="{E2A7E35C-0101-4270-BA5B-BEECD5E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TIMETABLES</a:t>
            </a:r>
          </a:p>
        </p:txBody>
      </p:sp>
      <p:sp>
        <p:nvSpPr>
          <p:cNvPr id="19" name="learning-body-3">
            <a:extLst xmlns:a="http://schemas.openxmlformats.org/drawingml/2006/main">
              <a:ext uri="{FF2B5EF4-FFF2-40B4-BE49-F238E27FC236}">
                <a16:creationId xmlns:a16="http://schemas.microsoft.com/office/drawing/2014/main" id="{53F6924C-060E-48CA-A4A5-152B46F2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Teachers, students and parents can check schedules for the relevant class or linked child.</a:t>
            </a:r>
          </a:p>
        </p:txBody>
      </p:sp>
    </p:spTree>
    <p:extLst>
      <p:ext uri="{BB962C8B-B14F-4D97-AF65-F5344CB8AC3E}">
        <p14:creationId xmlns:p14="http://schemas.microsoft.com/office/powerpoint/2010/main" val="1533415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FD267060-E1BB-4EEE-832A-1AD5ED79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6F6D584-EEA8-4270-A3F1-D7CCF22B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265C5AE5-18CF-4B0A-8F4A-28D69D1D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E96582-8443-4A40-96D7-B5D0D88A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606562-E29C-40FB-9242-66121FB9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Start with the school’s own rules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232E78C-89A3-478B-B108-93EABC2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Suggested pilot: walk one class through a complete term workflow before expanding.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CBBCAA-E42D-4AED-ABF3-3F2551E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D331605-F1EA-4AEB-8735-63E9787B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ilot-phase-0">
            <a:extLst xmlns:a="http://schemas.openxmlformats.org/drawingml/2006/main">
              <a:ext uri="{FF2B5EF4-FFF2-40B4-BE49-F238E27FC236}">
                <a16:creationId xmlns:a16="http://schemas.microsoft.com/office/drawing/2014/main" id="{7A02D7B8-BA32-4A47-891F-38F606C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  SET UP</a:t>
            </a:r>
          </a:p>
        </p:txBody>
      </p:sp>
      <p:sp>
        <p:nvSpPr>
          <p:cNvPr id="10" name="pilot-description-0">
            <a:extLst xmlns:a="http://schemas.openxmlformats.org/drawingml/2006/main">
              <a:ext uri="{FF2B5EF4-FFF2-40B4-BE49-F238E27FC236}">
                <a16:creationId xmlns:a16="http://schemas.microsoft.com/office/drawing/2014/main" id="{40C4D96D-55BA-4EE9-8C24-F0447DD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Confirm session, term dates, classes, subjects and grading rules.</a:t>
            </a:r>
          </a:p>
        </p:txBody>
      </p:sp>
      <p:sp>
        <p:nvSpPr>
          <p:cNvPr id="11" name="pilot-rule-0">
            <a:extLst xmlns:a="http://schemas.openxmlformats.org/drawingml/2006/main">
              <a:ext uri="{FF2B5EF4-FFF2-40B4-BE49-F238E27FC236}">
                <a16:creationId xmlns:a16="http://schemas.microsoft.com/office/drawing/2014/main" id="{079C7F8D-FFDA-45A3-B29A-FCF9E1DA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pilot-phase-1">
            <a:extLst xmlns:a="http://schemas.openxmlformats.org/drawingml/2006/main">
              <a:ext uri="{FF2B5EF4-FFF2-40B4-BE49-F238E27FC236}">
                <a16:creationId xmlns:a16="http://schemas.microsoft.com/office/drawing/2014/main" id="{642F3E77-F719-42D6-AFED-50D99BDD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  CONNECT</a:t>
            </a:r>
          </a:p>
        </p:txBody>
      </p:sp>
      <p:sp>
        <p:nvSpPr>
          <p:cNvPr id="13" name="pilot-description-1">
            <a:extLst xmlns:a="http://schemas.openxmlformats.org/drawingml/2006/main">
              <a:ext uri="{FF2B5EF4-FFF2-40B4-BE49-F238E27FC236}">
                <a16:creationId xmlns:a16="http://schemas.microsoft.com/office/drawing/2014/main" id="{0383E1BF-AB99-4F49-97DF-E4DEB90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Check student records, teacher assignments and parent–student links.</a:t>
            </a:r>
          </a:p>
        </p:txBody>
      </p:sp>
      <p:sp>
        <p:nvSpPr>
          <p:cNvPr id="14" name="pilot-rule-1">
            <a:extLst xmlns:a="http://schemas.openxmlformats.org/drawingml/2006/main">
              <a:ext uri="{FF2B5EF4-FFF2-40B4-BE49-F238E27FC236}">
                <a16:creationId xmlns:a16="http://schemas.microsoft.com/office/drawing/2014/main" id="{0D3E7139-1B32-483D-BF64-6EA70F6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pilot-phase-2">
            <a:extLst xmlns:a="http://schemas.openxmlformats.org/drawingml/2006/main">
              <a:ext uri="{FF2B5EF4-FFF2-40B4-BE49-F238E27FC236}">
                <a16:creationId xmlns:a16="http://schemas.microsoft.com/office/drawing/2014/main" id="{7FA7CD9F-C329-449F-8D65-0A263268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  RUN</a:t>
            </a:r>
          </a:p>
        </p:txBody>
      </p:sp>
      <p:sp>
        <p:nvSpPr>
          <p:cNvPr id="16" name="pilot-description-2">
            <a:extLst xmlns:a="http://schemas.openxmlformats.org/drawingml/2006/main">
              <a:ext uri="{FF2B5EF4-FFF2-40B4-BE49-F238E27FC236}">
                <a16:creationId xmlns:a16="http://schemas.microsoft.com/office/drawing/2014/main" id="{359F191C-6DAA-40D0-822A-1848080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Use attendance, grade entry, assignments and learning tools with the pilot class.</a:t>
            </a:r>
          </a:p>
        </p:txBody>
      </p:sp>
      <p:sp>
        <p:nvSpPr>
          <p:cNvPr id="17" name="pilot-rule-2">
            <a:extLst xmlns:a="http://schemas.openxmlformats.org/drawingml/2006/main">
              <a:ext uri="{FF2B5EF4-FFF2-40B4-BE49-F238E27FC236}">
                <a16:creationId xmlns:a16="http://schemas.microsoft.com/office/drawing/2014/main" id="{42AD2AAA-4DEC-4971-986E-DE25AC2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pilot-phase-3">
            <a:extLst xmlns:a="http://schemas.openxmlformats.org/drawingml/2006/main">
              <a:ext uri="{FF2B5EF4-FFF2-40B4-BE49-F238E27FC236}">
                <a16:creationId xmlns:a16="http://schemas.microsoft.com/office/drawing/2014/main" id="{9145578E-1B95-45F8-9674-CD82F38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04  REVIEW</a:t>
            </a:r>
          </a:p>
        </p:txBody>
      </p:sp>
      <p:sp>
        <p:nvSpPr>
          <p:cNvPr id="19" name="pilot-description-3">
            <a:extLst xmlns:a="http://schemas.openxmlformats.org/drawingml/2006/main">
              <a:ext uri="{FF2B5EF4-FFF2-40B4-BE49-F238E27FC236}">
                <a16:creationId xmlns:a16="http://schemas.microsoft.com/office/drawing/2014/main" id="{15A6FFFC-4811-4CE2-B660-90852BA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006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Check report cards and year-end promotion outcomes against school policy.</a:t>
            </a:r>
          </a:p>
        </p:txBody>
      </p:sp>
    </p:spTree>
    <p:extLst>
      <p:ext uri="{BB962C8B-B14F-4D97-AF65-F5344CB8AC3E}">
        <p14:creationId xmlns:p14="http://schemas.microsoft.com/office/powerpoint/2010/main" val="1104410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2026-10-13T22:44:19.4750000Z</dcterms:created>
  <dcterms:modified xsi:type="dcterms:W3CDTF">2026-10-13T22:44:19.4750000Z</dcterms:modified>
</coreProperties>
</file>